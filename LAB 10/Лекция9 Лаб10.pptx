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320" r:id="rId3"/>
    <p:sldId id="393" r:id="rId4"/>
    <p:sldId id="392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  <p:sldId id="391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A35B20C-B0A0-437F-906C-2712E879C014}">
          <p14:sldIdLst>
            <p14:sldId id="264"/>
            <p14:sldId id="320"/>
            <p14:sldId id="393"/>
            <p14:sldId id="392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3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43" autoAdjust="0"/>
    <p:restoredTop sz="94066" autoAdjust="0"/>
  </p:normalViewPr>
  <p:slideViewPr>
    <p:cSldViewPr>
      <p:cViewPr varScale="1">
        <p:scale>
          <a:sx n="65" d="100"/>
          <a:sy n="65" d="100"/>
        </p:scale>
        <p:origin x="1396" y="40"/>
      </p:cViewPr>
      <p:guideLst>
        <p:guide orient="horz" pos="2160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77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36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50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22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88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0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5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1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03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07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CE24-9CD1-4E26-AD1D-600F5DCD8325}" type="datetimeFigureOut">
              <a:rPr lang="ru-RU" smtClean="0"/>
              <a:t>28.03.2025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68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288" y="1859340"/>
            <a:ext cx="82001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4000" b="1" dirty="0" smtClean="0">
                <a:solidFill>
                  <a:schemeClr val="tx2"/>
                </a:solidFill>
              </a:rPr>
              <a:t>ORM </a:t>
            </a:r>
            <a:r>
              <a:rPr lang="ru-RU" sz="4000" b="1" dirty="0" smtClean="0">
                <a:solidFill>
                  <a:schemeClr val="tx2"/>
                </a:solidFill>
              </a:rPr>
              <a:t>в </a:t>
            </a:r>
            <a:r>
              <a:rPr lang="en-US" sz="4000" b="1" dirty="0" smtClean="0">
                <a:solidFill>
                  <a:schemeClr val="tx2"/>
                </a:solidFill>
              </a:rPr>
              <a:t>.NET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48288" y="2924944"/>
            <a:ext cx="81281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ru-RU" sz="2800" dirty="0" smtClean="0"/>
              <a:t>Основные понятия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ru-RU" sz="2800" dirty="0" smtClean="0"/>
              <a:t>Подходы разработки с </a:t>
            </a:r>
            <a:r>
              <a:rPr lang="en-US" sz="2800" dirty="0" smtClean="0"/>
              <a:t>EF</a:t>
            </a:r>
            <a:endParaRPr lang="ru-RU" sz="2800" dirty="0" smtClean="0"/>
          </a:p>
          <a:p>
            <a:pPr marL="571500" indent="-571500">
              <a:buFont typeface="Arial" pitchFamily="34" charset="0"/>
              <a:buChar char="•"/>
            </a:pPr>
            <a:r>
              <a:rPr lang="ru-RU" sz="2800" dirty="0" smtClean="0"/>
              <a:t>Создание и чтение </a:t>
            </a:r>
            <a:r>
              <a:rPr lang="en-US" sz="2800" dirty="0" smtClean="0"/>
              <a:t>JSON</a:t>
            </a:r>
            <a:r>
              <a:rPr lang="ru-RU" sz="2800" dirty="0" smtClean="0"/>
              <a:t> файлов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11560" y="2725164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35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88640"/>
            <a:ext cx="35637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Основные понятия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807282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62744" y="1199649"/>
            <a:ext cx="867375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Object Relational Mapping </a:t>
            </a:r>
            <a:r>
              <a:rPr lang="en-US" sz="2400" dirty="0"/>
              <a:t>(</a:t>
            </a:r>
            <a:r>
              <a:rPr lang="en-US" sz="2400" b="1" dirty="0"/>
              <a:t>ORM</a:t>
            </a:r>
            <a:r>
              <a:rPr lang="ru-RU" sz="2400" dirty="0"/>
              <a:t>,</a:t>
            </a:r>
            <a:r>
              <a:rPr lang="en-US" sz="2400" dirty="0"/>
              <a:t> </a:t>
            </a:r>
            <a:r>
              <a:rPr lang="ru-RU" sz="2400" dirty="0"/>
              <a:t>объектно-реляционное представление) – технология программирования, позволяющая взаимодействие между реляционными БД и объектно-ориентированными языками программирования без использования SQL-запросов (в </a:t>
            </a:r>
            <a:r>
              <a:rPr lang="en-US" sz="2400" dirty="0"/>
              <a:t>.NET </a:t>
            </a:r>
            <a:r>
              <a:rPr lang="ru-RU" sz="2400" dirty="0"/>
              <a:t>применяются </a:t>
            </a:r>
            <a:r>
              <a:rPr lang="en-US" sz="2400" dirty="0"/>
              <a:t>LINQ-</a:t>
            </a:r>
            <a:r>
              <a:rPr lang="ru-RU" sz="2400" dirty="0"/>
              <a:t>запросы).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Entity Framework (EF) </a:t>
            </a:r>
            <a:r>
              <a:rPr lang="en-US" sz="2400" dirty="0" smtClean="0"/>
              <a:t>–</a:t>
            </a:r>
            <a:r>
              <a:rPr lang="ru-RU" sz="2400" dirty="0" smtClean="0"/>
              <a:t> это </a:t>
            </a:r>
            <a:r>
              <a:rPr lang="ru-RU" sz="2400" dirty="0"/>
              <a:t>набор технологий в ADO.NET, которые поддерживают разработку </a:t>
            </a:r>
            <a:r>
              <a:rPr lang="ru-RU" sz="2400" dirty="0" smtClean="0"/>
              <a:t>приложений, </a:t>
            </a:r>
            <a:r>
              <a:rPr lang="ru-RU" sz="2400" dirty="0"/>
              <a:t>ориентированных на </a:t>
            </a:r>
            <a:r>
              <a:rPr lang="ru-RU" sz="2400" dirty="0" smtClean="0"/>
              <a:t>данные.</a:t>
            </a:r>
          </a:p>
          <a:p>
            <a:endParaRPr lang="ru-RU" sz="2400" dirty="0" smtClean="0"/>
          </a:p>
          <a:p>
            <a:r>
              <a:rPr lang="ru-RU" sz="2400" b="1" dirty="0" err="1" smtClean="0"/>
              <a:t>Entity</a:t>
            </a:r>
            <a:r>
              <a:rPr lang="ru-RU" sz="2400" b="1" dirty="0" smtClean="0"/>
              <a:t> </a:t>
            </a:r>
            <a:r>
              <a:rPr lang="ru-RU" sz="2400" b="1" dirty="0" err="1"/>
              <a:t>Framework</a:t>
            </a:r>
            <a:r>
              <a:rPr lang="ru-RU" sz="2400" dirty="0"/>
              <a:t> </a:t>
            </a:r>
            <a:r>
              <a:rPr lang="ru-RU" sz="2400" dirty="0" smtClean="0"/>
              <a:t>обеспечивает в </a:t>
            </a:r>
            <a:r>
              <a:rPr lang="en-US" sz="2400" dirty="0" smtClean="0"/>
              <a:t>ORM</a:t>
            </a:r>
            <a:r>
              <a:rPr lang="ru-RU" sz="2400" dirty="0" smtClean="0"/>
              <a:t> технологию,</a:t>
            </a:r>
            <a:r>
              <a:rPr lang="en-US" sz="2400" dirty="0" smtClean="0"/>
              <a:t> </a:t>
            </a:r>
            <a:r>
              <a:rPr lang="ru-RU" sz="2400" dirty="0" smtClean="0"/>
              <a:t>сопоставляя </a:t>
            </a:r>
            <a:r>
              <a:rPr lang="ru-RU" sz="2400" dirty="0"/>
              <a:t>программные объекты </a:t>
            </a:r>
            <a:r>
              <a:rPr lang="ru-RU" sz="2400" dirty="0" smtClean="0"/>
              <a:t>реляционным источникам </a:t>
            </a:r>
            <a:r>
              <a:rPr lang="ru-RU" sz="2400" dirty="0"/>
              <a:t>данных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9684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88640"/>
            <a:ext cx="35637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Основные понятия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807282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15" name="Группа 14"/>
          <p:cNvGrpSpPr/>
          <p:nvPr/>
        </p:nvGrpSpPr>
        <p:grpSpPr>
          <a:xfrm>
            <a:off x="323528" y="1700808"/>
            <a:ext cx="8496944" cy="3456384"/>
            <a:chOff x="179512" y="1124744"/>
            <a:chExt cx="8568952" cy="3384376"/>
          </a:xfrm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179512" y="1124744"/>
              <a:ext cx="8568952" cy="3384376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" name="Скругленный прямоугольник 2"/>
            <p:cNvSpPr/>
            <p:nvPr/>
          </p:nvSpPr>
          <p:spPr>
            <a:xfrm>
              <a:off x="683568" y="1628800"/>
              <a:ext cx="1512168" cy="68621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Object 1 (properties)</a:t>
              </a:r>
              <a:endParaRPr lang="ru-RU" b="1" dirty="0"/>
            </a:p>
          </p:txBody>
        </p:sp>
        <p:sp>
          <p:nvSpPr>
            <p:cNvPr id="6" name="Скругленный прямоугольник 5"/>
            <p:cNvSpPr/>
            <p:nvPr/>
          </p:nvSpPr>
          <p:spPr>
            <a:xfrm>
              <a:off x="683568" y="2492896"/>
              <a:ext cx="1512168" cy="72008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Object 2 (properties)</a:t>
              </a:r>
              <a:endParaRPr lang="ru-RU" b="1" dirty="0"/>
            </a:p>
          </p:txBody>
        </p:sp>
        <p:sp>
          <p:nvSpPr>
            <p:cNvPr id="7" name="Скругленный прямоугольник 6"/>
            <p:cNvSpPr/>
            <p:nvPr/>
          </p:nvSpPr>
          <p:spPr>
            <a:xfrm>
              <a:off x="683568" y="3401988"/>
              <a:ext cx="1512168" cy="747092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Object 3 (properties)</a:t>
              </a:r>
              <a:endParaRPr lang="ru-RU" b="1" dirty="0"/>
            </a:p>
          </p:txBody>
        </p:sp>
        <p:cxnSp>
          <p:nvCxnSpPr>
            <p:cNvPr id="9" name="Прямая со стрелкой 8"/>
            <p:cNvCxnSpPr/>
            <p:nvPr/>
          </p:nvCxnSpPr>
          <p:spPr>
            <a:xfrm>
              <a:off x="2483768" y="2852936"/>
              <a:ext cx="792088" cy="0"/>
            </a:xfrm>
            <a:prstGeom prst="straightConnector1">
              <a:avLst/>
            </a:prstGeom>
            <a:ln w="57150" cap="flat" cmpd="sng" algn="ctr">
              <a:solidFill>
                <a:schemeClr val="accent1"/>
              </a:solidFill>
              <a:prstDash val="solid"/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Скругленный прямоугольник 9"/>
            <p:cNvSpPr/>
            <p:nvPr/>
          </p:nvSpPr>
          <p:spPr>
            <a:xfrm>
              <a:off x="3491880" y="2420888"/>
              <a:ext cx="2232248" cy="86409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Entity Framework</a:t>
              </a:r>
              <a:endParaRPr lang="ru-RU" b="1" dirty="0"/>
            </a:p>
          </p:txBody>
        </p:sp>
        <p:sp>
          <p:nvSpPr>
            <p:cNvPr id="11" name="Цилиндр 10"/>
            <p:cNvSpPr/>
            <p:nvPr/>
          </p:nvSpPr>
          <p:spPr>
            <a:xfrm>
              <a:off x="7092280" y="1844824"/>
              <a:ext cx="1152128" cy="1800200"/>
            </a:xfrm>
            <a:prstGeom prst="ca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err="1" smtClean="0"/>
                <a:t>DataBase</a:t>
              </a:r>
              <a:endParaRPr lang="ru-RU" b="1" dirty="0"/>
            </a:p>
          </p:txBody>
        </p:sp>
        <p:cxnSp>
          <p:nvCxnSpPr>
            <p:cNvPr id="12" name="Прямая со стрелкой 11"/>
            <p:cNvCxnSpPr/>
            <p:nvPr/>
          </p:nvCxnSpPr>
          <p:spPr>
            <a:xfrm>
              <a:off x="6012160" y="2852936"/>
              <a:ext cx="792088" cy="0"/>
            </a:xfrm>
            <a:prstGeom prst="straightConnector1">
              <a:avLst/>
            </a:prstGeom>
            <a:ln w="57150" cap="flat" cmpd="sng" algn="ctr">
              <a:solidFill>
                <a:schemeClr val="accent1"/>
              </a:solidFill>
              <a:prstDash val="solid"/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4" name="Прямоугольник 13"/>
            <p:cNvSpPr/>
            <p:nvPr/>
          </p:nvSpPr>
          <p:spPr>
            <a:xfrm>
              <a:off x="3558405" y="1268760"/>
              <a:ext cx="202170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.NET  ORM</a:t>
              </a:r>
              <a:endParaRPr lang="ru-RU" sz="32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130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62744" y="1484784"/>
            <a:ext cx="85297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Подходы к разработке с </a:t>
            </a:r>
            <a:r>
              <a:rPr lang="ru-RU" sz="2800" b="1" dirty="0" err="1" smtClean="0"/>
              <a:t>Entity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Framework</a:t>
            </a:r>
            <a:endParaRPr lang="ru-RU" sz="2800" b="1" dirty="0" smtClean="0"/>
          </a:p>
          <a:p>
            <a:endParaRPr lang="ru-RU" sz="28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 smtClean="0"/>
              <a:t>Database First</a:t>
            </a:r>
            <a:endParaRPr lang="ru-RU" sz="28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 smtClean="0"/>
              <a:t>Model First</a:t>
            </a:r>
            <a:endParaRPr lang="ru-RU" sz="28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 smtClean="0"/>
              <a:t>Code First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188640"/>
            <a:ext cx="35637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Основные понятия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3568" y="807282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71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25989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Database First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62744" y="1328569"/>
            <a:ext cx="852973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Database </a:t>
            </a:r>
            <a:r>
              <a:rPr lang="en-US" sz="2800" b="1" dirty="0" smtClean="0"/>
              <a:t>First</a:t>
            </a:r>
            <a:r>
              <a:rPr lang="en-US" sz="2800" dirty="0" smtClean="0"/>
              <a:t> – </a:t>
            </a:r>
            <a:r>
              <a:rPr lang="ru-RU" sz="2800" dirty="0" smtClean="0"/>
              <a:t>если БД уже существует, то </a:t>
            </a:r>
            <a:r>
              <a:rPr lang="en-US" sz="2800" dirty="0" smtClean="0"/>
              <a:t>EF </a:t>
            </a:r>
            <a:r>
              <a:rPr lang="ru-RU" sz="2800" dirty="0" smtClean="0"/>
              <a:t>создает модель данных (классы, свойства) в программе</a:t>
            </a:r>
            <a:r>
              <a:rPr lang="en-US" sz="2800" dirty="0" smtClean="0"/>
              <a:t> </a:t>
            </a:r>
            <a:r>
              <a:rPr lang="ru-RU" sz="2800" dirty="0" smtClean="0"/>
              <a:t>на основе существующих таблиц.</a:t>
            </a:r>
          </a:p>
          <a:p>
            <a:endParaRPr lang="en-US" sz="2800" dirty="0" smtClean="0"/>
          </a:p>
          <a:p>
            <a:r>
              <a:rPr lang="ru-RU" sz="2800" dirty="0" smtClean="0"/>
              <a:t>Работа с БД ведется на основе созданных классов – проекций таблиц БД.</a:t>
            </a:r>
            <a:endParaRPr lang="en-US" sz="2800" dirty="0" smtClean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8137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25989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Database First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62744" y="1113706"/>
            <a:ext cx="852973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Этапы работы</a:t>
            </a:r>
          </a:p>
          <a:p>
            <a:endParaRPr lang="ru-RU" sz="2800" b="1" dirty="0" smtClean="0"/>
          </a:p>
          <a:p>
            <a:pPr marL="514350" indent="-514350">
              <a:buAutoNum type="arabicPeriod"/>
            </a:pPr>
            <a:r>
              <a:rPr lang="ru-RU" sz="2800" dirty="0" smtClean="0"/>
              <a:t>Установите с помощью менеджера пакетов </a:t>
            </a:r>
            <a:r>
              <a:rPr lang="en-US" sz="2800" dirty="0" err="1" smtClean="0"/>
              <a:t>nuget</a:t>
            </a:r>
            <a:r>
              <a:rPr lang="ru-RU" sz="2800" dirty="0" smtClean="0"/>
              <a:t> библиотеку </a:t>
            </a:r>
            <a:r>
              <a:rPr lang="en-US" sz="2800" dirty="0" err="1" smtClean="0"/>
              <a:t>Npgsql.EntityFrameworkCore.PostgreSQL</a:t>
            </a:r>
            <a:r>
              <a:rPr lang="en-US" sz="2800" dirty="0" smtClean="0"/>
              <a:t> (</a:t>
            </a:r>
            <a:r>
              <a:rPr lang="ru-RU" sz="2800" dirty="0" smtClean="0"/>
              <a:t>для работы с </a:t>
            </a:r>
            <a:r>
              <a:rPr lang="en-US" sz="2800" dirty="0" err="1" smtClean="0"/>
              <a:t>postgres</a:t>
            </a:r>
            <a:r>
              <a:rPr lang="en-US" sz="2800" dirty="0" smtClean="0"/>
              <a:t>).</a:t>
            </a:r>
            <a:endParaRPr lang="ru-RU" sz="2800" dirty="0" smtClean="0"/>
          </a:p>
          <a:p>
            <a:pPr marL="514350" indent="-514350">
              <a:buAutoNum type="arabicPeriod"/>
            </a:pPr>
            <a:r>
              <a:rPr lang="ru-RU" sz="2800" dirty="0" smtClean="0"/>
              <a:t>Создайте соответствующие классы – проекции таблиц БД.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Создайте класс – контекст данных, наследующий функциональность класса </a:t>
            </a:r>
            <a:r>
              <a:rPr lang="en-US" sz="2800" dirty="0" err="1" smtClean="0"/>
              <a:t>DbContext</a:t>
            </a:r>
            <a:r>
              <a:rPr lang="ru-RU" sz="2800" dirty="0" smtClean="0"/>
              <a:t>.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Работы с БД осуществляются через объект контекста.</a:t>
            </a:r>
          </a:p>
        </p:txBody>
      </p:sp>
    </p:spTree>
    <p:extLst>
      <p:ext uri="{BB962C8B-B14F-4D97-AF65-F5344CB8AC3E}">
        <p14:creationId xmlns:p14="http://schemas.microsoft.com/office/powerpoint/2010/main" val="113860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25989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Database First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848901"/>
            <a:ext cx="85297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//</a:t>
            </a:r>
            <a:r>
              <a:rPr lang="ru-RU" sz="2400" b="1" dirty="0" smtClean="0"/>
              <a:t>Классы-проекции таблиц БД</a:t>
            </a:r>
            <a:endParaRPr lang="en-US" sz="2400" b="1" dirty="0" smtClean="0"/>
          </a:p>
          <a:p>
            <a:endParaRPr lang="en-US" sz="2400" dirty="0" smtClean="0"/>
          </a:p>
          <a:p>
            <a:r>
              <a:rPr lang="en-US" sz="2400" dirty="0" smtClean="0"/>
              <a:t>class </a:t>
            </a:r>
            <a:r>
              <a:rPr lang="en-US" sz="2400" dirty="0"/>
              <a:t>Movie</a:t>
            </a:r>
          </a:p>
          <a:p>
            <a:r>
              <a:rPr lang="en-US" sz="2400" dirty="0" smtClean="0"/>
              <a:t>{</a:t>
            </a:r>
            <a:endParaRPr lang="en-US" sz="2400" dirty="0"/>
          </a:p>
          <a:p>
            <a:r>
              <a:rPr lang="en-US" sz="2400" dirty="0" smtClean="0"/>
              <a:t>    </a:t>
            </a:r>
            <a:r>
              <a:rPr lang="en-US" sz="2400" dirty="0"/>
              <a:t>public int id { get; set; }</a:t>
            </a:r>
          </a:p>
          <a:p>
            <a:r>
              <a:rPr lang="en-US" sz="2400" dirty="0" smtClean="0"/>
              <a:t>    </a:t>
            </a:r>
            <a:r>
              <a:rPr lang="en-US" sz="2400" dirty="0"/>
              <a:t>public string title { get; set; }</a:t>
            </a:r>
          </a:p>
          <a:p>
            <a:r>
              <a:rPr lang="en-US" sz="2400" dirty="0" smtClean="0"/>
              <a:t>    </a:t>
            </a:r>
            <a:r>
              <a:rPr lang="en-US" sz="2400" dirty="0"/>
              <a:t>public string description { get; set; }</a:t>
            </a:r>
          </a:p>
          <a:p>
            <a:r>
              <a:rPr lang="en-US" sz="2400" dirty="0" smtClean="0"/>
              <a:t>}</a:t>
            </a:r>
          </a:p>
          <a:p>
            <a:endParaRPr lang="en-US" sz="2400" dirty="0"/>
          </a:p>
          <a:p>
            <a:r>
              <a:rPr lang="en-US" sz="2400" dirty="0"/>
              <a:t>class Actor</a:t>
            </a:r>
          </a:p>
          <a:p>
            <a:r>
              <a:rPr lang="en-US" sz="2400" dirty="0" smtClean="0"/>
              <a:t>{</a:t>
            </a:r>
            <a:endParaRPr lang="en-US" sz="2400" dirty="0"/>
          </a:p>
          <a:p>
            <a:r>
              <a:rPr lang="en-US" sz="2400" dirty="0" smtClean="0"/>
              <a:t>    </a:t>
            </a:r>
            <a:r>
              <a:rPr lang="en-US" sz="2400" dirty="0"/>
              <a:t>public int id { get; set; }</a:t>
            </a:r>
          </a:p>
          <a:p>
            <a:r>
              <a:rPr lang="en-US" sz="2400" dirty="0" smtClean="0"/>
              <a:t>    </a:t>
            </a:r>
            <a:r>
              <a:rPr lang="en-US" sz="2400" dirty="0"/>
              <a:t>public string name { get; set; }</a:t>
            </a:r>
          </a:p>
          <a:p>
            <a:r>
              <a:rPr lang="en-US" sz="2400" dirty="0" smtClean="0"/>
              <a:t>}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181836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25989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Database First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848901"/>
            <a:ext cx="852973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//</a:t>
            </a:r>
            <a:r>
              <a:rPr lang="ru-RU" sz="2000" b="1" dirty="0" smtClean="0"/>
              <a:t>Класс – контекст данных</a:t>
            </a:r>
          </a:p>
          <a:p>
            <a:endParaRPr lang="ru-RU" sz="2000" dirty="0" smtClean="0"/>
          </a:p>
          <a:p>
            <a:r>
              <a:rPr lang="en-US" sz="2000" dirty="0" smtClean="0"/>
              <a:t>class </a:t>
            </a:r>
            <a:r>
              <a:rPr lang="en-US" sz="2000" dirty="0"/>
              <a:t>AppContext : </a:t>
            </a:r>
            <a:r>
              <a:rPr lang="en-US" sz="2000" b="1" dirty="0" err="1"/>
              <a:t>DbContext</a:t>
            </a:r>
            <a:endParaRPr lang="en-US" sz="2000" b="1" dirty="0"/>
          </a:p>
          <a:p>
            <a:r>
              <a:rPr lang="en-US" sz="2000" dirty="0" smtClean="0"/>
              <a:t>{</a:t>
            </a:r>
            <a:endParaRPr lang="en-US" sz="2000" dirty="0"/>
          </a:p>
          <a:p>
            <a:r>
              <a:rPr lang="en-US" sz="2000" dirty="0" smtClean="0"/>
              <a:t>    </a:t>
            </a:r>
            <a:r>
              <a:rPr lang="en-US" sz="2000" dirty="0"/>
              <a:t>public </a:t>
            </a:r>
            <a:r>
              <a:rPr lang="en-US" sz="2000" dirty="0" err="1"/>
              <a:t>DbSet</a:t>
            </a:r>
            <a:r>
              <a:rPr lang="en-US" sz="2000" dirty="0"/>
              <a:t>&lt;Movie&gt; movies { get; set; }</a:t>
            </a:r>
          </a:p>
          <a:p>
            <a:r>
              <a:rPr lang="en-US" sz="2000" dirty="0" smtClean="0"/>
              <a:t>    </a:t>
            </a:r>
            <a:r>
              <a:rPr lang="en-US" sz="2000" dirty="0"/>
              <a:t>public </a:t>
            </a:r>
            <a:r>
              <a:rPr lang="en-US" sz="2000" dirty="0" err="1"/>
              <a:t>DbSet</a:t>
            </a:r>
            <a:r>
              <a:rPr lang="en-US" sz="2000" dirty="0"/>
              <a:t>&lt;Actor&gt; actors { get; set; </a:t>
            </a:r>
            <a:r>
              <a:rPr lang="en-US" sz="2000" dirty="0" smtClean="0"/>
              <a:t>}</a:t>
            </a:r>
            <a:endParaRPr lang="ru-RU" sz="2000" dirty="0" smtClean="0"/>
          </a:p>
          <a:p>
            <a:endParaRPr lang="ru-RU" sz="2000" dirty="0" smtClean="0"/>
          </a:p>
          <a:p>
            <a:r>
              <a:rPr lang="ru-RU" sz="2000" dirty="0" smtClean="0"/>
              <a:t>    </a:t>
            </a:r>
            <a:r>
              <a:rPr lang="en-US" sz="2000" dirty="0" smtClean="0"/>
              <a:t>public </a:t>
            </a:r>
            <a:r>
              <a:rPr lang="en-US" sz="2000" b="1" dirty="0"/>
              <a:t>AppContext</a:t>
            </a:r>
            <a:r>
              <a:rPr lang="en-US" sz="2000" b="1" dirty="0" smtClean="0"/>
              <a:t>()</a:t>
            </a:r>
            <a:r>
              <a:rPr lang="ru-RU" sz="2000" dirty="0" smtClean="0"/>
              <a:t>  </a:t>
            </a:r>
            <a:r>
              <a:rPr lang="en-US" sz="2000" dirty="0" smtClean="0"/>
              <a:t>//</a:t>
            </a:r>
            <a:r>
              <a:rPr lang="ru-RU" sz="2000" dirty="0" smtClean="0"/>
              <a:t>конструктор класса</a:t>
            </a:r>
            <a:endParaRPr lang="en-US" sz="2000" dirty="0"/>
          </a:p>
          <a:p>
            <a:r>
              <a:rPr lang="en-US" sz="2000" dirty="0"/>
              <a:t>    </a:t>
            </a:r>
            <a:r>
              <a:rPr lang="en-US" sz="2000" dirty="0" smtClean="0"/>
              <a:t>{</a:t>
            </a:r>
            <a:endParaRPr lang="en-US" sz="2000" dirty="0"/>
          </a:p>
          <a:p>
            <a:r>
              <a:rPr lang="en-US" sz="2000" dirty="0"/>
              <a:t>    </a:t>
            </a:r>
            <a:r>
              <a:rPr lang="en-US" sz="2000" dirty="0" smtClean="0"/>
              <a:t>    </a:t>
            </a:r>
            <a:r>
              <a:rPr lang="en-US" sz="2000" dirty="0" err="1"/>
              <a:t>Database.EnsureCreated</a:t>
            </a:r>
            <a:r>
              <a:rPr lang="en-US" sz="2000" dirty="0" smtClean="0"/>
              <a:t>();</a:t>
            </a:r>
            <a:r>
              <a:rPr lang="ru-RU" sz="2000" dirty="0" smtClean="0"/>
              <a:t> </a:t>
            </a:r>
            <a:r>
              <a:rPr lang="en-US" sz="2000" dirty="0" smtClean="0"/>
              <a:t>//</a:t>
            </a:r>
            <a:r>
              <a:rPr lang="ru-RU" sz="2000" dirty="0" smtClean="0"/>
              <a:t>гарантия, что БД существует</a:t>
            </a:r>
            <a:endParaRPr lang="en-US" sz="2000" dirty="0"/>
          </a:p>
          <a:p>
            <a:r>
              <a:rPr lang="en-US" sz="2000" dirty="0"/>
              <a:t>    </a:t>
            </a:r>
            <a:r>
              <a:rPr lang="en-US" sz="2000" dirty="0" smtClean="0"/>
              <a:t>}</a:t>
            </a:r>
            <a:endParaRPr lang="ru-RU" sz="2000" dirty="0" smtClean="0"/>
          </a:p>
          <a:p>
            <a:r>
              <a:rPr lang="ru-RU" sz="2000" dirty="0"/>
              <a:t> </a:t>
            </a:r>
            <a:r>
              <a:rPr lang="ru-RU" sz="2000" dirty="0" smtClean="0"/>
              <a:t>   </a:t>
            </a:r>
            <a:r>
              <a:rPr lang="en-US" sz="2000" dirty="0" smtClean="0"/>
              <a:t>//</a:t>
            </a:r>
            <a:r>
              <a:rPr lang="ru-RU" sz="2000" dirty="0" smtClean="0"/>
              <a:t>определяем подключение к БД</a:t>
            </a:r>
            <a:endParaRPr lang="en-US" sz="2000" dirty="0"/>
          </a:p>
          <a:p>
            <a:r>
              <a:rPr lang="en-US" sz="2000" dirty="0"/>
              <a:t>    </a:t>
            </a:r>
            <a:r>
              <a:rPr lang="en-US" sz="2000" dirty="0" smtClean="0"/>
              <a:t>protected </a:t>
            </a:r>
            <a:r>
              <a:rPr lang="en-US" sz="2000" dirty="0"/>
              <a:t>override void </a:t>
            </a:r>
            <a:r>
              <a:rPr lang="en-US" sz="2000" dirty="0" err="1"/>
              <a:t>OnConfiguring</a:t>
            </a:r>
            <a:r>
              <a:rPr lang="en-US" sz="2000" dirty="0"/>
              <a:t>(</a:t>
            </a:r>
            <a:r>
              <a:rPr lang="en-US" sz="2000" dirty="0" err="1"/>
              <a:t>DbContextOptionsBuilder</a:t>
            </a:r>
            <a:r>
              <a:rPr lang="en-US" sz="2000" dirty="0"/>
              <a:t> </a:t>
            </a:r>
            <a:r>
              <a:rPr lang="en-US" sz="2000" dirty="0" err="1"/>
              <a:t>optionsBuilder</a:t>
            </a:r>
            <a:r>
              <a:rPr lang="en-US" sz="2000" dirty="0"/>
              <a:t>)</a:t>
            </a:r>
          </a:p>
          <a:p>
            <a:r>
              <a:rPr lang="en-US" sz="2000" dirty="0"/>
              <a:t>    </a:t>
            </a:r>
            <a:r>
              <a:rPr lang="en-US" sz="2000" dirty="0" smtClean="0"/>
              <a:t>{</a:t>
            </a:r>
            <a:endParaRPr lang="en-US" sz="2000" dirty="0"/>
          </a:p>
          <a:p>
            <a:r>
              <a:rPr lang="en-US" sz="2000" dirty="0"/>
              <a:t>    </a:t>
            </a:r>
            <a:r>
              <a:rPr lang="en-US" sz="2000" dirty="0" smtClean="0"/>
              <a:t>    </a:t>
            </a:r>
            <a:r>
              <a:rPr lang="en-US" sz="2000" dirty="0" err="1"/>
              <a:t>optionsBuilder.UseNpgsql</a:t>
            </a:r>
            <a:r>
              <a:rPr lang="en-US" sz="2000" dirty="0"/>
              <a:t>("Host=localhost; Port=5433; Database=movies; Username=</a:t>
            </a:r>
            <a:r>
              <a:rPr lang="en-US" sz="2000" dirty="0" err="1"/>
              <a:t>postgres</a:t>
            </a:r>
            <a:r>
              <a:rPr lang="en-US" sz="2000" dirty="0"/>
              <a:t>; Password=1");</a:t>
            </a:r>
          </a:p>
          <a:p>
            <a:r>
              <a:rPr lang="en-US" sz="2000" dirty="0" smtClean="0"/>
              <a:t>    </a:t>
            </a:r>
            <a:r>
              <a:rPr lang="en-US" sz="2000" dirty="0"/>
              <a:t>}</a:t>
            </a:r>
          </a:p>
          <a:p>
            <a:r>
              <a:rPr lang="en-US" sz="2000" dirty="0" smtClean="0"/>
              <a:t>}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411873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25989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Database First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848901"/>
            <a:ext cx="8529736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//</a:t>
            </a:r>
            <a:r>
              <a:rPr lang="ru-RU" sz="2000" dirty="0" smtClean="0"/>
              <a:t>Пример добавления и отображения данных</a:t>
            </a:r>
          </a:p>
          <a:p>
            <a:r>
              <a:rPr lang="en-US" sz="2000" dirty="0" smtClean="0"/>
              <a:t>AppContext </a:t>
            </a:r>
            <a:r>
              <a:rPr lang="en-US" sz="2000" dirty="0" err="1"/>
              <a:t>db</a:t>
            </a:r>
            <a:r>
              <a:rPr lang="en-US" sz="2000" dirty="0"/>
              <a:t> = new AppContext</a:t>
            </a:r>
            <a:r>
              <a:rPr lang="en-US" sz="2000" dirty="0" smtClean="0"/>
              <a:t>();</a:t>
            </a:r>
            <a:r>
              <a:rPr lang="ru-RU" sz="2000" dirty="0" smtClean="0"/>
              <a:t> </a:t>
            </a:r>
            <a:r>
              <a:rPr lang="en-US" sz="2000" dirty="0" smtClean="0"/>
              <a:t> //</a:t>
            </a:r>
            <a:r>
              <a:rPr lang="ru-RU" sz="2000" dirty="0" smtClean="0"/>
              <a:t>создаем объект контекста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Movie mov1 = new Movie</a:t>
            </a:r>
            <a:r>
              <a:rPr lang="en-US" sz="2000" dirty="0" smtClean="0"/>
              <a:t>();</a:t>
            </a:r>
            <a:endParaRPr lang="en-US" sz="2000" dirty="0"/>
          </a:p>
          <a:p>
            <a:r>
              <a:rPr lang="en-US" sz="2000" dirty="0"/>
              <a:t>mov1.title = "</a:t>
            </a:r>
            <a:r>
              <a:rPr lang="ru-RU" sz="2000" dirty="0"/>
              <a:t>Король Лев";</a:t>
            </a:r>
          </a:p>
          <a:p>
            <a:r>
              <a:rPr lang="en-US" sz="2000" dirty="0"/>
              <a:t>mov1.description = "</a:t>
            </a:r>
            <a:r>
              <a:rPr lang="ru-RU" sz="2000" dirty="0"/>
              <a:t>описание";</a:t>
            </a:r>
          </a:p>
          <a:p>
            <a:r>
              <a:rPr lang="en-US" sz="2000" dirty="0" err="1"/>
              <a:t>db.movies.Add</a:t>
            </a:r>
            <a:r>
              <a:rPr lang="en-US" sz="2000" dirty="0"/>
              <a:t>(mov1);</a:t>
            </a:r>
          </a:p>
          <a:p>
            <a:endParaRPr lang="en-US" sz="2000" dirty="0"/>
          </a:p>
          <a:p>
            <a:r>
              <a:rPr lang="en-US" sz="2000" dirty="0"/>
              <a:t>Movie mov2 = new Movie { title = "</a:t>
            </a:r>
            <a:r>
              <a:rPr lang="ru-RU" sz="2000" dirty="0"/>
              <a:t>Золушка", </a:t>
            </a:r>
            <a:r>
              <a:rPr lang="en-US" sz="2000" dirty="0"/>
              <a:t>description = "</a:t>
            </a:r>
            <a:r>
              <a:rPr lang="ru-RU" sz="2000" dirty="0"/>
              <a:t>описание" };</a:t>
            </a:r>
          </a:p>
          <a:p>
            <a:r>
              <a:rPr lang="en-US" sz="2000" dirty="0"/>
              <a:t>Movie mov3 = new Movie { title = "123", description = "456" };</a:t>
            </a:r>
          </a:p>
          <a:p>
            <a:r>
              <a:rPr lang="en-US" sz="2000" dirty="0" err="1"/>
              <a:t>db.movies.AddRange</a:t>
            </a:r>
            <a:r>
              <a:rPr lang="en-US" sz="2000" dirty="0"/>
              <a:t>(mov2, mov3);</a:t>
            </a:r>
          </a:p>
          <a:p>
            <a:endParaRPr lang="en-US" sz="2000" dirty="0"/>
          </a:p>
          <a:p>
            <a:r>
              <a:rPr lang="en-US" sz="2000" dirty="0"/>
              <a:t>Actor actor1 = new Actor { name = "</a:t>
            </a:r>
            <a:r>
              <a:rPr lang="ru-RU" sz="2000" dirty="0"/>
              <a:t>Том </a:t>
            </a:r>
            <a:r>
              <a:rPr lang="ru-RU" sz="2000" dirty="0" err="1"/>
              <a:t>Круз</a:t>
            </a:r>
            <a:r>
              <a:rPr lang="ru-RU" sz="2000" dirty="0"/>
              <a:t>" };</a:t>
            </a:r>
          </a:p>
          <a:p>
            <a:r>
              <a:rPr lang="en-US" sz="2000" dirty="0" err="1"/>
              <a:t>db.actors.Add</a:t>
            </a:r>
            <a:r>
              <a:rPr lang="en-US" sz="2000" dirty="0"/>
              <a:t>(actor1);</a:t>
            </a:r>
          </a:p>
          <a:p>
            <a:endParaRPr lang="en-US" sz="2000" dirty="0"/>
          </a:p>
          <a:p>
            <a:r>
              <a:rPr lang="en-US" sz="2000" dirty="0" err="1"/>
              <a:t>db.SaveChanges</a:t>
            </a:r>
            <a:r>
              <a:rPr lang="en-US" sz="2000" dirty="0" smtClean="0"/>
              <a:t>();</a:t>
            </a:r>
            <a:r>
              <a:rPr lang="ru-RU" sz="2000" dirty="0" smtClean="0"/>
              <a:t>  </a:t>
            </a:r>
            <a:r>
              <a:rPr lang="en-US" sz="2000" dirty="0" smtClean="0"/>
              <a:t>//</a:t>
            </a:r>
            <a:r>
              <a:rPr lang="ru-RU" sz="2000" dirty="0" smtClean="0"/>
              <a:t>сохраняем все изменения в БД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List&lt;Actor&gt; </a:t>
            </a:r>
            <a:r>
              <a:rPr lang="en-US" sz="2000" dirty="0" err="1"/>
              <a:t>ch</a:t>
            </a:r>
            <a:r>
              <a:rPr lang="en-US" sz="2000" dirty="0"/>
              <a:t> = </a:t>
            </a:r>
            <a:r>
              <a:rPr lang="en-US" sz="2000" dirty="0" err="1"/>
              <a:t>db.actors.ToList</a:t>
            </a:r>
            <a:r>
              <a:rPr lang="en-US" sz="2000" dirty="0"/>
              <a:t>();</a:t>
            </a:r>
          </a:p>
          <a:p>
            <a:r>
              <a:rPr lang="en-US" sz="2000" dirty="0" smtClean="0"/>
              <a:t>dataGridView1.DataSource </a:t>
            </a:r>
            <a:r>
              <a:rPr lang="en-US" sz="2000" dirty="0"/>
              <a:t>= </a:t>
            </a:r>
            <a:r>
              <a:rPr lang="en-US" sz="2000" dirty="0" err="1"/>
              <a:t>ch</a:t>
            </a:r>
            <a:r>
              <a:rPr lang="en-US" sz="2000" dirty="0" smtClean="0"/>
              <a:t>;</a:t>
            </a:r>
            <a:r>
              <a:rPr lang="ru-RU" sz="2000" dirty="0" smtClean="0"/>
              <a:t> </a:t>
            </a:r>
            <a:r>
              <a:rPr lang="en-US" sz="2000" dirty="0" smtClean="0"/>
              <a:t>   //</a:t>
            </a:r>
            <a:r>
              <a:rPr lang="ru-RU" sz="2000" dirty="0" smtClean="0"/>
              <a:t>отображаем в таблице на форме</a:t>
            </a:r>
          </a:p>
        </p:txBody>
      </p:sp>
    </p:spTree>
    <p:extLst>
      <p:ext uri="{BB962C8B-B14F-4D97-AF65-F5344CB8AC3E}">
        <p14:creationId xmlns:p14="http://schemas.microsoft.com/office/powerpoint/2010/main" val="144952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21178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tx2"/>
                </a:solidFill>
              </a:rPr>
              <a:t>Model </a:t>
            </a:r>
            <a:r>
              <a:rPr lang="en-US" sz="3200" b="1" dirty="0">
                <a:solidFill>
                  <a:schemeClr val="tx2"/>
                </a:solidFill>
              </a:rPr>
              <a:t>First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188035"/>
            <a:ext cx="852973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/>
              <a:t>Model-First</a:t>
            </a:r>
            <a:r>
              <a:rPr lang="ru-RU" sz="2800" dirty="0"/>
              <a:t> </a:t>
            </a:r>
            <a:r>
              <a:rPr lang="ru-RU" sz="2800" dirty="0" smtClean="0"/>
              <a:t>– при таком подходе </a:t>
            </a:r>
            <a:r>
              <a:rPr lang="en-US" sz="2800" dirty="0" smtClean="0"/>
              <a:t>EF</a:t>
            </a:r>
            <a:r>
              <a:rPr lang="ru-RU" sz="2800" dirty="0" smtClean="0"/>
              <a:t> </a:t>
            </a:r>
            <a:r>
              <a:rPr lang="ru-RU" sz="2800" dirty="0"/>
              <a:t>позволяет </a:t>
            </a:r>
            <a:r>
              <a:rPr lang="ru-RU" sz="2800" dirty="0" smtClean="0"/>
              <a:t>создавать </a:t>
            </a:r>
            <a:r>
              <a:rPr lang="ru-RU" sz="2800" dirty="0" err="1"/>
              <a:t>Entity</a:t>
            </a:r>
            <a:r>
              <a:rPr lang="ru-RU" sz="2800" dirty="0"/>
              <a:t> </a:t>
            </a:r>
            <a:r>
              <a:rPr lang="ru-RU" sz="2800" dirty="0" err="1"/>
              <a:t>Data</a:t>
            </a:r>
            <a:r>
              <a:rPr lang="ru-RU" sz="2800" dirty="0"/>
              <a:t> </a:t>
            </a:r>
            <a:r>
              <a:rPr lang="ru-RU" sz="2800" dirty="0" err="1"/>
              <a:t>Model</a:t>
            </a:r>
            <a:r>
              <a:rPr lang="ru-RU" sz="2800" dirty="0"/>
              <a:t> (EDM) визуально с помощью </a:t>
            </a:r>
            <a:r>
              <a:rPr lang="ru-RU" sz="2800" dirty="0" err="1"/>
              <a:t>Entity</a:t>
            </a:r>
            <a:r>
              <a:rPr lang="ru-RU" sz="2800" dirty="0"/>
              <a:t> </a:t>
            </a:r>
            <a:r>
              <a:rPr lang="ru-RU" sz="2800" dirty="0" err="1"/>
              <a:t>Framework</a:t>
            </a:r>
            <a:r>
              <a:rPr lang="ru-RU" sz="2800" dirty="0"/>
              <a:t> </a:t>
            </a:r>
            <a:r>
              <a:rPr lang="ru-RU" sz="2800" dirty="0" err="1"/>
              <a:t>Designer</a:t>
            </a:r>
            <a:r>
              <a:rPr lang="ru-RU" sz="2800" dirty="0"/>
              <a:t> в </a:t>
            </a:r>
            <a:r>
              <a:rPr lang="ru-RU" sz="2800" dirty="0" err="1"/>
              <a:t>Visual</a:t>
            </a:r>
            <a:r>
              <a:rPr lang="ru-RU" sz="2800" dirty="0"/>
              <a:t> </a:t>
            </a:r>
            <a:r>
              <a:rPr lang="ru-RU" sz="2800" dirty="0" err="1"/>
              <a:t>Studio</a:t>
            </a:r>
            <a:r>
              <a:rPr lang="ru-RU" sz="2800" dirty="0" smtClean="0"/>
              <a:t>.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 smtClean="0"/>
              <a:t>Эта </a:t>
            </a:r>
            <a:r>
              <a:rPr lang="ru-RU" sz="2800" dirty="0"/>
              <a:t>модель представляет собой схему базы данных и автоматически генерирует классы.</a:t>
            </a:r>
          </a:p>
          <a:p>
            <a:endParaRPr lang="ru-RU" sz="2800" dirty="0"/>
          </a:p>
          <a:p>
            <a:r>
              <a:rPr lang="ru-RU" sz="2800" i="1" dirty="0" smtClean="0"/>
              <a:t>Основное преимущество</a:t>
            </a:r>
            <a:r>
              <a:rPr lang="ru-RU" sz="2800" dirty="0" smtClean="0"/>
              <a:t> – легкое обновление дизайна </a:t>
            </a:r>
            <a:r>
              <a:rPr lang="ru-RU" sz="2800" dirty="0"/>
              <a:t>данных в соответствии с изменениями в базе данных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9133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18758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tx2"/>
                </a:solidFill>
              </a:rPr>
              <a:t>Code </a:t>
            </a:r>
            <a:r>
              <a:rPr lang="en-US" sz="3200" b="1" dirty="0">
                <a:solidFill>
                  <a:schemeClr val="tx2"/>
                </a:solidFill>
              </a:rPr>
              <a:t>First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188035"/>
            <a:ext cx="85297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Code</a:t>
            </a:r>
            <a:r>
              <a:rPr lang="ru-RU" sz="2800" b="1" dirty="0" smtClean="0"/>
              <a:t>-</a:t>
            </a:r>
            <a:r>
              <a:rPr lang="ru-RU" sz="2800" b="1" dirty="0" err="1" smtClean="0"/>
              <a:t>First</a:t>
            </a:r>
            <a:r>
              <a:rPr lang="ru-RU" sz="2800" dirty="0" smtClean="0"/>
              <a:t> –</a:t>
            </a:r>
            <a:r>
              <a:rPr lang="en-US" sz="2800" dirty="0" smtClean="0"/>
              <a:t> </a:t>
            </a:r>
            <a:r>
              <a:rPr lang="ru-RU" sz="2800" dirty="0" smtClean="0"/>
              <a:t>подход </a:t>
            </a:r>
            <a:r>
              <a:rPr lang="en-US" sz="2800" dirty="0" smtClean="0"/>
              <a:t>EF</a:t>
            </a:r>
            <a:r>
              <a:rPr lang="ru-RU" sz="2800" dirty="0" smtClean="0"/>
              <a:t> при котором объекты БД создаются и редактируются вручную на основе программных моделей.</a:t>
            </a:r>
            <a:endParaRPr lang="ru-RU" sz="2800" dirty="0"/>
          </a:p>
          <a:p>
            <a:endParaRPr lang="ru-RU" sz="2800" dirty="0"/>
          </a:p>
          <a:p>
            <a:r>
              <a:rPr lang="ru-RU" sz="2800" i="1" dirty="0" smtClean="0"/>
              <a:t>Основное преимущество</a:t>
            </a:r>
            <a:r>
              <a:rPr lang="ru-RU" sz="2800" dirty="0" smtClean="0"/>
              <a:t> – процесс работы с БД контролируется полностью программно.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28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46969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JSON объектами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188035"/>
            <a:ext cx="852973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JSON </a:t>
            </a:r>
            <a:r>
              <a:rPr lang="ru-RU" sz="2800" dirty="0" smtClean="0"/>
              <a:t>(</a:t>
            </a:r>
            <a:r>
              <a:rPr lang="ru-RU" sz="2800" i="1" dirty="0" err="1" smtClean="0"/>
              <a:t>JavaScript</a:t>
            </a:r>
            <a:r>
              <a:rPr lang="ru-RU" sz="2800" i="1" dirty="0" smtClean="0"/>
              <a:t> </a:t>
            </a:r>
            <a:r>
              <a:rPr lang="ru-RU" sz="2800" i="1" dirty="0" err="1"/>
              <a:t>Object</a:t>
            </a:r>
            <a:r>
              <a:rPr lang="ru-RU" sz="2800" i="1" dirty="0"/>
              <a:t> </a:t>
            </a:r>
            <a:r>
              <a:rPr lang="ru-RU" sz="2800" i="1" dirty="0" err="1"/>
              <a:t>Notation</a:t>
            </a:r>
            <a:r>
              <a:rPr lang="ru-RU" sz="2800" dirty="0"/>
              <a:t>) </a:t>
            </a:r>
            <a:r>
              <a:rPr lang="ru-RU" sz="2800" dirty="0" smtClean="0"/>
              <a:t>– текстовый формат </a:t>
            </a:r>
            <a:r>
              <a:rPr lang="ru-RU" sz="2800" dirty="0"/>
              <a:t>обмена данными, основанный на </a:t>
            </a:r>
            <a:r>
              <a:rPr lang="ru-RU" sz="2800" i="1" dirty="0" err="1"/>
              <a:t>JavaScript</a:t>
            </a:r>
            <a:r>
              <a:rPr lang="ru-RU" sz="2800" dirty="0" smtClean="0"/>
              <a:t>.</a:t>
            </a:r>
          </a:p>
          <a:p>
            <a:endParaRPr lang="ru-RU" sz="2800" dirty="0"/>
          </a:p>
          <a:p>
            <a:r>
              <a:rPr lang="ru-RU" sz="2800" b="1" dirty="0" smtClean="0"/>
              <a:t>Может хранить:</a:t>
            </a:r>
            <a:endParaRPr lang="ru-RU" sz="2800" dirty="0"/>
          </a:p>
          <a:p>
            <a:endParaRPr lang="ru-R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Числа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Строки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Булевы значения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Массивы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JSON-объекты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0296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46969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JSON объектами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188035"/>
            <a:ext cx="852973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using </a:t>
            </a:r>
            <a:r>
              <a:rPr lang="en-US" sz="2800" dirty="0" err="1" smtClean="0"/>
              <a:t>System.Text.Json</a:t>
            </a:r>
            <a:r>
              <a:rPr lang="en-US" sz="2800" dirty="0" smtClean="0"/>
              <a:t>;</a:t>
            </a:r>
            <a:endParaRPr lang="ru-RU" sz="2800" dirty="0" smtClean="0"/>
          </a:p>
          <a:p>
            <a:endParaRPr lang="en-US" sz="2800" dirty="0" smtClean="0"/>
          </a:p>
          <a:p>
            <a:r>
              <a:rPr lang="en-US" sz="2800" b="1" dirty="0" err="1" smtClean="0"/>
              <a:t>System.Text.Json</a:t>
            </a:r>
            <a:r>
              <a:rPr lang="ru-RU" sz="2800" dirty="0" smtClean="0"/>
              <a:t> предоставляет функции для обработки </a:t>
            </a:r>
            <a:r>
              <a:rPr lang="en-US" sz="2800" dirty="0" smtClean="0"/>
              <a:t>JSON</a:t>
            </a:r>
            <a:r>
              <a:rPr lang="ru-RU" sz="2800" dirty="0" smtClean="0"/>
              <a:t>: </a:t>
            </a:r>
            <a:r>
              <a:rPr lang="ru-RU" sz="2800" dirty="0" err="1" smtClean="0"/>
              <a:t>сериализацию</a:t>
            </a:r>
            <a:r>
              <a:rPr lang="ru-RU" sz="2800" dirty="0" smtClean="0"/>
              <a:t> объектов в </a:t>
            </a:r>
            <a:r>
              <a:rPr lang="en-US" sz="2800" dirty="0" smtClean="0"/>
              <a:t>JSON</a:t>
            </a:r>
            <a:r>
              <a:rPr lang="ru-RU" sz="2800" dirty="0" smtClean="0"/>
              <a:t>, и обратно (</a:t>
            </a:r>
            <a:r>
              <a:rPr lang="ru-RU" sz="2800" dirty="0" err="1" smtClean="0"/>
              <a:t>десериализацию</a:t>
            </a:r>
            <a:r>
              <a:rPr lang="ru-RU" sz="2800" dirty="0" smtClean="0"/>
              <a:t>).</a:t>
            </a:r>
          </a:p>
          <a:p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6376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46969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JSON объектами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821605"/>
            <a:ext cx="852973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 smtClean="0"/>
              <a:t>class </a:t>
            </a:r>
            <a:r>
              <a:rPr lang="en-US" sz="2100" dirty="0"/>
              <a:t>Movie</a:t>
            </a:r>
          </a:p>
          <a:p>
            <a:r>
              <a:rPr lang="en-US" sz="2100" dirty="0" smtClean="0"/>
              <a:t>{</a:t>
            </a:r>
            <a:endParaRPr lang="ru-RU" sz="2100" dirty="0" smtClean="0"/>
          </a:p>
          <a:p>
            <a:r>
              <a:rPr lang="ru-RU" sz="2100" dirty="0"/>
              <a:t> </a:t>
            </a:r>
            <a:r>
              <a:rPr lang="ru-RU" sz="2100" dirty="0" smtClean="0"/>
              <a:t>   </a:t>
            </a:r>
            <a:r>
              <a:rPr lang="en-US" sz="2100" dirty="0" smtClean="0"/>
              <a:t>public </a:t>
            </a:r>
            <a:r>
              <a:rPr lang="en-US" sz="2100" dirty="0"/>
              <a:t>string title { get; set; }</a:t>
            </a:r>
          </a:p>
          <a:p>
            <a:r>
              <a:rPr lang="en-US" sz="2100" dirty="0" smtClean="0"/>
              <a:t>    </a:t>
            </a:r>
            <a:r>
              <a:rPr lang="en-US" sz="2100" dirty="0"/>
              <a:t>public string description { get; set; }</a:t>
            </a:r>
          </a:p>
          <a:p>
            <a:r>
              <a:rPr lang="en-US" sz="2100" dirty="0" smtClean="0"/>
              <a:t>}</a:t>
            </a:r>
          </a:p>
          <a:p>
            <a:endParaRPr lang="ru-RU" sz="2100" dirty="0" smtClean="0"/>
          </a:p>
          <a:p>
            <a:r>
              <a:rPr lang="en-US" sz="2100" dirty="0" smtClean="0"/>
              <a:t>//</a:t>
            </a:r>
            <a:r>
              <a:rPr lang="ru-RU" sz="2100" dirty="0" err="1" smtClean="0"/>
              <a:t>сериализуем</a:t>
            </a:r>
            <a:r>
              <a:rPr lang="ru-RU" sz="2100" dirty="0" smtClean="0"/>
              <a:t> – упаковываем в </a:t>
            </a:r>
            <a:r>
              <a:rPr lang="en-US" sz="2100" dirty="0" err="1" smtClean="0"/>
              <a:t>json</a:t>
            </a:r>
            <a:r>
              <a:rPr lang="ru-RU" sz="2100" dirty="0" smtClean="0"/>
              <a:t>-объект</a:t>
            </a:r>
            <a:endParaRPr lang="en-US" sz="2100" dirty="0" smtClean="0"/>
          </a:p>
          <a:p>
            <a:r>
              <a:rPr lang="en-US" sz="2100" dirty="0" smtClean="0"/>
              <a:t>Movie </a:t>
            </a:r>
            <a:r>
              <a:rPr lang="en-US" sz="2100" dirty="0"/>
              <a:t>movie1 = new Movie </a:t>
            </a:r>
            <a:endParaRPr lang="ru-RU" sz="2100" dirty="0" smtClean="0"/>
          </a:p>
          <a:p>
            <a:r>
              <a:rPr lang="en-US" sz="2100" dirty="0" smtClean="0"/>
              <a:t>{ </a:t>
            </a:r>
            <a:endParaRPr lang="ru-RU" sz="2100" dirty="0" smtClean="0"/>
          </a:p>
          <a:p>
            <a:r>
              <a:rPr lang="ru-RU" sz="2100" dirty="0"/>
              <a:t> </a:t>
            </a:r>
            <a:r>
              <a:rPr lang="ru-RU" sz="2100" dirty="0" smtClean="0"/>
              <a:t>   </a:t>
            </a:r>
            <a:r>
              <a:rPr lang="en-US" sz="2100" dirty="0" smtClean="0"/>
              <a:t>title </a:t>
            </a:r>
            <a:r>
              <a:rPr lang="en-US" sz="2100" dirty="0"/>
              <a:t>= "</a:t>
            </a:r>
            <a:r>
              <a:rPr lang="ru-RU" sz="2100" dirty="0" err="1"/>
              <a:t>Шрек</a:t>
            </a:r>
            <a:r>
              <a:rPr lang="ru-RU" sz="2100" dirty="0"/>
              <a:t>", </a:t>
            </a:r>
            <a:endParaRPr lang="ru-RU" sz="2100" dirty="0" smtClean="0"/>
          </a:p>
          <a:p>
            <a:r>
              <a:rPr lang="ru-RU" sz="2100" dirty="0" smtClean="0"/>
              <a:t>    </a:t>
            </a:r>
            <a:r>
              <a:rPr lang="en-US" sz="2100" dirty="0" smtClean="0"/>
              <a:t>description </a:t>
            </a:r>
            <a:r>
              <a:rPr lang="en-US" sz="2100" dirty="0"/>
              <a:t>= "</a:t>
            </a:r>
            <a:r>
              <a:rPr lang="ru-RU" sz="2100" dirty="0"/>
              <a:t>Приключения </a:t>
            </a:r>
            <a:r>
              <a:rPr lang="ru-RU" sz="2100" dirty="0" err="1" smtClean="0"/>
              <a:t>огра</a:t>
            </a:r>
            <a:r>
              <a:rPr lang="ru-RU" sz="2100" dirty="0" smtClean="0"/>
              <a:t>" </a:t>
            </a:r>
          </a:p>
          <a:p>
            <a:r>
              <a:rPr lang="ru-RU" sz="2100" dirty="0" smtClean="0"/>
              <a:t>};</a:t>
            </a:r>
            <a:endParaRPr lang="ru-RU" sz="2100" dirty="0"/>
          </a:p>
          <a:p>
            <a:r>
              <a:rPr lang="en-US" sz="2100" dirty="0" smtClean="0"/>
              <a:t>string </a:t>
            </a:r>
            <a:r>
              <a:rPr lang="en-US" sz="2100" dirty="0" err="1"/>
              <a:t>json</a:t>
            </a:r>
            <a:r>
              <a:rPr lang="en-US" sz="2100" dirty="0"/>
              <a:t> = </a:t>
            </a:r>
            <a:r>
              <a:rPr lang="en-US" sz="2100" dirty="0" err="1"/>
              <a:t>JsonSerializer.</a:t>
            </a:r>
            <a:r>
              <a:rPr lang="en-US" sz="2100" b="1" dirty="0" err="1"/>
              <a:t>Serialize</a:t>
            </a:r>
            <a:r>
              <a:rPr lang="en-US" sz="2100" dirty="0"/>
              <a:t>(movie1</a:t>
            </a:r>
            <a:r>
              <a:rPr lang="en-US" sz="2100" dirty="0" smtClean="0"/>
              <a:t>);</a:t>
            </a:r>
            <a:endParaRPr lang="ru-RU" sz="2100" dirty="0" smtClean="0"/>
          </a:p>
          <a:p>
            <a:r>
              <a:rPr lang="en-US" sz="2100" dirty="0" smtClean="0"/>
              <a:t>//</a:t>
            </a:r>
            <a:r>
              <a:rPr lang="en-US" sz="2100" dirty="0" err="1" smtClean="0"/>
              <a:t>File.WriteAllText</a:t>
            </a:r>
            <a:r>
              <a:rPr lang="en-US" sz="2100" dirty="0" smtClean="0"/>
              <a:t>("c:\my_file.json</a:t>
            </a:r>
            <a:r>
              <a:rPr lang="en-US" sz="2100" dirty="0"/>
              <a:t>", </a:t>
            </a:r>
            <a:r>
              <a:rPr lang="en-US" sz="2100" dirty="0" err="1"/>
              <a:t>json</a:t>
            </a:r>
            <a:r>
              <a:rPr lang="en-US" sz="2100" dirty="0"/>
              <a:t>);</a:t>
            </a:r>
            <a:endParaRPr lang="ru-RU" sz="2100" dirty="0" smtClean="0"/>
          </a:p>
          <a:p>
            <a:endParaRPr lang="en-US" sz="2100" dirty="0" smtClean="0"/>
          </a:p>
          <a:p>
            <a:r>
              <a:rPr lang="en-US" sz="2100" dirty="0"/>
              <a:t>//string </a:t>
            </a:r>
            <a:r>
              <a:rPr lang="en-US" sz="2100" dirty="0" err="1" smtClean="0"/>
              <a:t>json_file</a:t>
            </a:r>
            <a:r>
              <a:rPr lang="en-US" sz="2100" dirty="0" smtClean="0"/>
              <a:t> </a:t>
            </a:r>
            <a:r>
              <a:rPr lang="en-US" sz="2100" dirty="0"/>
              <a:t>= </a:t>
            </a:r>
            <a:r>
              <a:rPr lang="en-US" sz="2100" dirty="0" err="1"/>
              <a:t>File.ReadAllText</a:t>
            </a:r>
            <a:r>
              <a:rPr lang="en-US" sz="2100" dirty="0"/>
              <a:t>("c</a:t>
            </a:r>
            <a:r>
              <a:rPr lang="en-US" sz="2100" dirty="0" smtClean="0"/>
              <a:t>:\\</a:t>
            </a:r>
            <a:r>
              <a:rPr lang="en-US" sz="2100" dirty="0"/>
              <a:t> </a:t>
            </a:r>
            <a:r>
              <a:rPr lang="en-US" sz="2100" dirty="0" err="1"/>
              <a:t>my_file.json</a:t>
            </a:r>
            <a:r>
              <a:rPr lang="en-US" sz="2100" dirty="0"/>
              <a:t> </a:t>
            </a:r>
            <a:r>
              <a:rPr lang="en-US" sz="2100" dirty="0" smtClean="0"/>
              <a:t>"</a:t>
            </a:r>
            <a:endParaRPr lang="ru-RU" sz="2100" dirty="0" smtClean="0"/>
          </a:p>
          <a:p>
            <a:r>
              <a:rPr lang="en-US" sz="2100" dirty="0" smtClean="0"/>
              <a:t>//</a:t>
            </a:r>
            <a:r>
              <a:rPr lang="ru-RU" sz="2100" dirty="0" err="1" smtClean="0"/>
              <a:t>десериализуем</a:t>
            </a:r>
            <a:r>
              <a:rPr lang="ru-RU" sz="2100" dirty="0" smtClean="0"/>
              <a:t> – распаковываем из </a:t>
            </a:r>
            <a:r>
              <a:rPr lang="en-US" sz="2100" dirty="0" err="1" smtClean="0"/>
              <a:t>json</a:t>
            </a:r>
            <a:endParaRPr lang="ru-RU" sz="2100" dirty="0"/>
          </a:p>
          <a:p>
            <a:r>
              <a:rPr lang="en-US" sz="2100" dirty="0" smtClean="0"/>
              <a:t>Movie </a:t>
            </a:r>
            <a:r>
              <a:rPr lang="en-US" sz="2100" dirty="0" err="1"/>
              <a:t>movie</a:t>
            </a:r>
            <a:r>
              <a:rPr lang="en-US" sz="2100" dirty="0"/>
              <a:t> = </a:t>
            </a:r>
            <a:r>
              <a:rPr lang="en-US" sz="2100" dirty="0" err="1"/>
              <a:t>JsonSerializer.</a:t>
            </a:r>
            <a:r>
              <a:rPr lang="en-US" sz="2100" b="1" dirty="0" err="1"/>
              <a:t>Deserialize</a:t>
            </a:r>
            <a:r>
              <a:rPr lang="en-US" sz="2100" dirty="0"/>
              <a:t>&lt;Movie&gt;(</a:t>
            </a:r>
            <a:r>
              <a:rPr lang="en-US" sz="2100" dirty="0" err="1"/>
              <a:t>json_file</a:t>
            </a:r>
            <a:r>
              <a:rPr lang="en-US" sz="2100" dirty="0" smtClean="0"/>
              <a:t>);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403319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16632"/>
            <a:ext cx="46969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JSON объектами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01407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939492"/>
            <a:ext cx="85297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Настройка </a:t>
            </a:r>
            <a:r>
              <a:rPr lang="ru-RU" sz="2400" b="1" dirty="0" err="1" smtClean="0"/>
              <a:t>сериализации</a:t>
            </a:r>
            <a:r>
              <a:rPr lang="ru-RU" sz="2400" b="1" dirty="0" smtClean="0"/>
              <a:t> (</a:t>
            </a:r>
            <a:r>
              <a:rPr lang="en-US" sz="2400" b="1" dirty="0" err="1" smtClean="0"/>
              <a:t>JsonSerializerOptions</a:t>
            </a:r>
            <a:r>
              <a:rPr lang="ru-RU" sz="2400" b="1" dirty="0"/>
              <a:t>)</a:t>
            </a:r>
            <a:endParaRPr lang="ru-RU" sz="2400" b="1" dirty="0" smtClean="0"/>
          </a:p>
          <a:p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 smtClean="0"/>
              <a:t>AllowTrailingCommas</a:t>
            </a:r>
            <a:r>
              <a:rPr lang="ru-RU" sz="2400" dirty="0" smtClean="0"/>
              <a:t> – надо </a:t>
            </a:r>
            <a:r>
              <a:rPr lang="ru-RU" sz="2400" dirty="0"/>
              <a:t>ли добавлять после последнего элемента в </a:t>
            </a:r>
            <a:r>
              <a:rPr lang="ru-RU" sz="2400" dirty="0" err="1"/>
              <a:t>json</a:t>
            </a:r>
            <a:r>
              <a:rPr lang="ru-RU" sz="2400" dirty="0"/>
              <a:t> </a:t>
            </a:r>
            <a:r>
              <a:rPr lang="ru-RU" sz="2400" dirty="0" smtClean="0"/>
              <a:t>запятую (</a:t>
            </a:r>
            <a:r>
              <a:rPr lang="ru-RU" sz="2400" dirty="0" err="1" smtClean="0"/>
              <a:t>true</a:t>
            </a:r>
            <a:r>
              <a:rPr lang="en-US" sz="2400" dirty="0" smtClean="0"/>
              <a:t>/false).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 smtClean="0"/>
              <a:t>DefaultIgnoreCondition</a:t>
            </a:r>
            <a:r>
              <a:rPr lang="en-US" sz="2400" dirty="0" smtClean="0"/>
              <a:t> – </a:t>
            </a:r>
            <a:r>
              <a:rPr lang="ru-RU" sz="2400" dirty="0" smtClean="0"/>
              <a:t>будут </a:t>
            </a:r>
            <a:r>
              <a:rPr lang="ru-RU" sz="2400" dirty="0"/>
              <a:t>ли </a:t>
            </a:r>
            <a:r>
              <a:rPr lang="ru-RU" sz="2400" dirty="0" err="1"/>
              <a:t>сериализоваться</a:t>
            </a:r>
            <a:r>
              <a:rPr lang="ru-RU" sz="2400" dirty="0" smtClean="0"/>
              <a:t>/</a:t>
            </a:r>
            <a:r>
              <a:rPr lang="en-US" sz="2400" dirty="0" smtClean="0"/>
              <a:t> </a:t>
            </a:r>
            <a:r>
              <a:rPr lang="ru-RU" sz="2400" dirty="0" err="1" smtClean="0"/>
              <a:t>десериализоваться</a:t>
            </a:r>
            <a:r>
              <a:rPr lang="ru-RU" sz="2400" dirty="0" smtClean="0"/>
              <a:t> свойства </a:t>
            </a:r>
            <a:r>
              <a:rPr lang="ru-RU" sz="2400" dirty="0"/>
              <a:t>со значениями по </a:t>
            </a:r>
            <a:r>
              <a:rPr lang="ru-RU" sz="2400" dirty="0" smtClean="0"/>
              <a:t>умолчанию</a:t>
            </a:r>
            <a:r>
              <a:rPr lang="en-US" sz="2400" dirty="0"/>
              <a:t>.</a:t>
            </a:r>
            <a:endParaRPr lang="ru-R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 smtClean="0"/>
              <a:t>WriteIndented</a:t>
            </a:r>
            <a:r>
              <a:rPr lang="en-US" sz="2400" dirty="0"/>
              <a:t> </a:t>
            </a:r>
            <a:r>
              <a:rPr lang="en-US" sz="2400" dirty="0" smtClean="0"/>
              <a:t>– </a:t>
            </a:r>
            <a:r>
              <a:rPr lang="ru-RU" sz="2400" dirty="0" smtClean="0"/>
              <a:t>будут </a:t>
            </a:r>
            <a:r>
              <a:rPr lang="ru-RU" sz="2400" dirty="0"/>
              <a:t>ли добавляться в </a:t>
            </a:r>
            <a:r>
              <a:rPr lang="ru-RU" sz="2400" dirty="0" err="1"/>
              <a:t>json</a:t>
            </a:r>
            <a:r>
              <a:rPr lang="ru-RU" sz="2400" dirty="0"/>
              <a:t> </a:t>
            </a:r>
            <a:r>
              <a:rPr lang="ru-RU" sz="2400" dirty="0" smtClean="0"/>
              <a:t>пробелы</a:t>
            </a:r>
            <a:r>
              <a:rPr lang="en-US" sz="2400" dirty="0" smtClean="0"/>
              <a:t> </a:t>
            </a:r>
            <a:r>
              <a:rPr lang="ru-RU" sz="2400" dirty="0"/>
              <a:t>(</a:t>
            </a:r>
            <a:r>
              <a:rPr lang="ru-RU" sz="2400" dirty="0" err="1"/>
              <a:t>true</a:t>
            </a:r>
            <a:r>
              <a:rPr lang="en-US" sz="2400" dirty="0" smtClean="0"/>
              <a:t>/false)</a:t>
            </a:r>
            <a:r>
              <a:rPr lang="ru-RU" sz="2400" dirty="0"/>
              <a:t>.</a:t>
            </a:r>
            <a:endParaRPr lang="ru-R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Encoder</a:t>
            </a:r>
            <a:r>
              <a:rPr lang="ru-RU" sz="2400" b="1" dirty="0" smtClean="0"/>
              <a:t> </a:t>
            </a:r>
            <a:r>
              <a:rPr lang="ru-RU" sz="2400" dirty="0" smtClean="0"/>
              <a:t>– настройка кодировки.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/>
              <a:t>string </a:t>
            </a:r>
            <a:r>
              <a:rPr lang="en-US" sz="2400" dirty="0" err="1"/>
              <a:t>json</a:t>
            </a:r>
            <a:r>
              <a:rPr lang="en-US" sz="2400" dirty="0"/>
              <a:t> = </a:t>
            </a:r>
            <a:r>
              <a:rPr lang="en-US" sz="2400" dirty="0" err="1"/>
              <a:t>JsonSerializer.Serialize</a:t>
            </a:r>
            <a:r>
              <a:rPr lang="en-US" sz="2400" dirty="0"/>
              <a:t>(movie1, 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new </a:t>
            </a:r>
            <a:r>
              <a:rPr lang="en-US" sz="2400" dirty="0" err="1"/>
              <a:t>JsonSerializerOptions</a:t>
            </a:r>
            <a:r>
              <a:rPr lang="en-US" sz="2400" dirty="0"/>
              <a:t>() { </a:t>
            </a:r>
            <a:endParaRPr lang="en-US" sz="2400" dirty="0" smtClean="0"/>
          </a:p>
          <a:p>
            <a:r>
              <a:rPr lang="en-US" sz="2400" dirty="0" smtClean="0"/>
              <a:t>	</a:t>
            </a:r>
            <a:r>
              <a:rPr lang="en-US" sz="2400" b="1" dirty="0" err="1" smtClean="0"/>
              <a:t>WriteIndented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smtClean="0"/>
              <a:t>true,</a:t>
            </a:r>
          </a:p>
          <a:p>
            <a:r>
              <a:rPr lang="en-US" sz="2400" dirty="0"/>
              <a:t> 	</a:t>
            </a:r>
            <a:r>
              <a:rPr lang="en-US" sz="2400" b="1" dirty="0" smtClean="0"/>
              <a:t>Encoder </a:t>
            </a:r>
            <a:r>
              <a:rPr lang="en-US" sz="2400" dirty="0" smtClean="0"/>
              <a:t>= </a:t>
            </a:r>
            <a:r>
              <a:rPr lang="en-US" sz="2400" dirty="0" err="1"/>
              <a:t>JavaScriptEncoder.UnsafeRelaxedJsonEscaping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});</a:t>
            </a:r>
          </a:p>
        </p:txBody>
      </p:sp>
    </p:spTree>
    <p:extLst>
      <p:ext uri="{BB962C8B-B14F-4D97-AF65-F5344CB8AC3E}">
        <p14:creationId xmlns:p14="http://schemas.microsoft.com/office/powerpoint/2010/main" val="393218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4624"/>
            <a:ext cx="45574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Лабораторная работа 10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62068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07504" y="944136"/>
            <a:ext cx="903649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200" dirty="0" smtClean="0"/>
              <a:t>Реализуйте </a:t>
            </a:r>
            <a:r>
              <a:rPr lang="ru-RU" sz="2200" b="1" dirty="0" smtClean="0"/>
              <a:t>проект1</a:t>
            </a:r>
            <a:r>
              <a:rPr lang="ru-RU" sz="2200" dirty="0" smtClean="0"/>
              <a:t>, в котором создается</a:t>
            </a:r>
            <a:r>
              <a:rPr lang="en-US" sz="2200" dirty="0" smtClean="0"/>
              <a:t> </a:t>
            </a:r>
            <a:r>
              <a:rPr lang="ru-RU" sz="2200" dirty="0" smtClean="0"/>
              <a:t>единственный </a:t>
            </a:r>
            <a:r>
              <a:rPr lang="en-US" sz="2200" i="1" dirty="0" err="1" smtClean="0"/>
              <a:t>json</a:t>
            </a:r>
            <a:r>
              <a:rPr lang="ru-RU" sz="2200" i="1" dirty="0" smtClean="0"/>
              <a:t>-файл</a:t>
            </a:r>
            <a:r>
              <a:rPr lang="ru-RU" sz="2200" dirty="0" smtClean="0"/>
              <a:t>, содержащий</a:t>
            </a:r>
            <a:r>
              <a:rPr lang="en-US" sz="2200" dirty="0" smtClean="0"/>
              <a:t> </a:t>
            </a:r>
            <a:r>
              <a:rPr lang="ru-RU" sz="2200" dirty="0" smtClean="0"/>
              <a:t>сведения об актерах и фильмах.</a:t>
            </a: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 smtClean="0"/>
              <a:t>Информацию для </a:t>
            </a:r>
            <a:r>
              <a:rPr lang="en-US" sz="2200" i="1" dirty="0" err="1" smtClean="0"/>
              <a:t>json</a:t>
            </a:r>
            <a:r>
              <a:rPr lang="ru-RU" sz="2200" dirty="0" smtClean="0"/>
              <a:t> необходимо брать из соответствующих коллекций, например:</a:t>
            </a:r>
          </a:p>
          <a:p>
            <a:r>
              <a:rPr lang="en-US" sz="2200" dirty="0" smtClean="0"/>
              <a:t>	List&lt;string</a:t>
            </a:r>
            <a:r>
              <a:rPr lang="en-US" sz="2200" dirty="0"/>
              <a:t>&gt; person = new List&lt;string&gt; </a:t>
            </a:r>
            <a:r>
              <a:rPr lang="en-US" sz="2200" dirty="0" smtClean="0"/>
              <a:t>{</a:t>
            </a:r>
            <a:r>
              <a:rPr lang="ru-RU" sz="2200" dirty="0" smtClean="0"/>
              <a:t> "</a:t>
            </a:r>
            <a:r>
              <a:rPr lang="ru-RU" sz="2200" dirty="0" err="1"/>
              <a:t>Харрисон</a:t>
            </a:r>
            <a:r>
              <a:rPr lang="ru-RU" sz="2200" dirty="0"/>
              <a:t> </a:t>
            </a:r>
            <a:r>
              <a:rPr lang="ru-RU" sz="2200" dirty="0" smtClean="0"/>
              <a:t>Форд"</a:t>
            </a:r>
            <a:r>
              <a:rPr lang="en-US" sz="2200" dirty="0" smtClean="0"/>
              <a:t>,</a:t>
            </a:r>
            <a:r>
              <a:rPr lang="ru-RU" sz="2200" dirty="0" smtClean="0"/>
              <a:t> </a:t>
            </a:r>
            <a:br>
              <a:rPr lang="ru-RU" sz="2200" dirty="0" smtClean="0"/>
            </a:br>
            <a:r>
              <a:rPr lang="ru-RU" sz="2200" dirty="0" smtClean="0"/>
              <a:t>	</a:t>
            </a:r>
            <a:r>
              <a:rPr lang="en-US" sz="2200" dirty="0" smtClean="0"/>
              <a:t>"</a:t>
            </a:r>
            <a:r>
              <a:rPr lang="ru-RU" sz="2200" dirty="0" smtClean="0"/>
              <a:t>Эмма</a:t>
            </a:r>
            <a:r>
              <a:rPr lang="ru-RU" sz="2200" dirty="0"/>
              <a:t> </a:t>
            </a:r>
            <a:r>
              <a:rPr lang="ru-RU" sz="2200" dirty="0" smtClean="0"/>
              <a:t>Уотсон</a:t>
            </a:r>
            <a:r>
              <a:rPr lang="en-US" sz="2200" dirty="0" smtClean="0"/>
              <a:t>"</a:t>
            </a:r>
            <a:r>
              <a:rPr lang="ru-RU" sz="2200" dirty="0"/>
              <a:t>, "</a:t>
            </a:r>
            <a:r>
              <a:rPr lang="ru-RU" sz="2200" dirty="0" err="1"/>
              <a:t>Иэн</a:t>
            </a:r>
            <a:r>
              <a:rPr lang="ru-RU" sz="2200" dirty="0"/>
              <a:t> </a:t>
            </a:r>
            <a:r>
              <a:rPr lang="ru-RU" sz="2200" dirty="0" err="1"/>
              <a:t>Маккеллен</a:t>
            </a:r>
            <a:r>
              <a:rPr lang="ru-RU" sz="2200" dirty="0"/>
              <a:t>" </a:t>
            </a:r>
            <a:r>
              <a:rPr lang="ru-RU" sz="2200" dirty="0" smtClean="0"/>
              <a:t>};</a:t>
            </a:r>
          </a:p>
          <a:p>
            <a:r>
              <a:rPr lang="ru-RU" sz="2200" dirty="0" smtClean="0"/>
              <a:t>	</a:t>
            </a:r>
            <a:r>
              <a:rPr lang="en-US" sz="2200" dirty="0" smtClean="0"/>
              <a:t>List&lt;List&lt;string</a:t>
            </a:r>
            <a:r>
              <a:rPr lang="en-US" sz="2200" dirty="0"/>
              <a:t>&gt;&gt; cinema = new List&lt;List&lt;string&gt;&gt; {</a:t>
            </a:r>
          </a:p>
          <a:p>
            <a:r>
              <a:rPr lang="en-US" sz="2200" dirty="0" smtClean="0"/>
              <a:t>	</a:t>
            </a:r>
            <a:r>
              <a:rPr lang="ru-RU" sz="2200" dirty="0" err="1" smtClean="0"/>
              <a:t>new</a:t>
            </a:r>
            <a:r>
              <a:rPr lang="ru-RU" sz="2200" dirty="0" smtClean="0"/>
              <a:t> </a:t>
            </a:r>
            <a:r>
              <a:rPr lang="ru-RU" sz="2200" dirty="0" err="1"/>
              <a:t>List</a:t>
            </a:r>
            <a:r>
              <a:rPr lang="ru-RU" sz="2200" dirty="0"/>
              <a:t>&lt;</a:t>
            </a:r>
            <a:r>
              <a:rPr lang="ru-RU" sz="2200" dirty="0" err="1"/>
              <a:t>string</a:t>
            </a:r>
            <a:r>
              <a:rPr lang="ru-RU" sz="2200" dirty="0"/>
              <a:t>&gt; { "Индиана Джонс", "кратко о фильме1" },</a:t>
            </a:r>
          </a:p>
          <a:p>
            <a:r>
              <a:rPr lang="en-US" sz="2200" dirty="0" smtClean="0"/>
              <a:t>	new List&lt;string</a:t>
            </a:r>
            <a:r>
              <a:rPr lang="en-US" sz="2200" dirty="0"/>
              <a:t>&gt; { </a:t>
            </a:r>
            <a:r>
              <a:rPr lang="en-US" sz="2200" dirty="0" smtClean="0"/>
              <a:t>"</a:t>
            </a:r>
            <a:r>
              <a:rPr lang="ru-RU" sz="2200" dirty="0" smtClean="0"/>
              <a:t>Сумерки", </a:t>
            </a:r>
            <a:r>
              <a:rPr lang="ru-RU" sz="2200" dirty="0"/>
              <a:t>"кратко о фильме2" } };</a:t>
            </a:r>
            <a:endParaRPr lang="en-US" sz="2200" dirty="0" smtClean="0"/>
          </a:p>
          <a:p>
            <a:endParaRPr lang="en-US" sz="2200" dirty="0" smtClean="0"/>
          </a:p>
          <a:p>
            <a:r>
              <a:rPr lang="ru-RU" sz="2200" dirty="0" smtClean="0"/>
              <a:t>       Созданный </a:t>
            </a:r>
            <a:r>
              <a:rPr lang="en-US" sz="2200" i="1" dirty="0" err="1" smtClean="0"/>
              <a:t>json</a:t>
            </a:r>
            <a:r>
              <a:rPr lang="ru-RU" sz="2200" dirty="0" smtClean="0"/>
              <a:t> необходимо сохранить в файл.</a:t>
            </a:r>
          </a:p>
          <a:p>
            <a:endParaRPr lang="en-US" sz="2200" dirty="0"/>
          </a:p>
          <a:p>
            <a:pPr marL="457200" indent="-457200">
              <a:buFont typeface="+mj-lt"/>
              <a:buAutoNum type="arabicPeriod" startAt="2"/>
            </a:pPr>
            <a:r>
              <a:rPr lang="ru-RU" sz="2200" dirty="0" smtClean="0"/>
              <a:t>Создайте </a:t>
            </a:r>
            <a:r>
              <a:rPr lang="ru-RU" sz="2200" b="1" dirty="0" smtClean="0"/>
              <a:t>проект2</a:t>
            </a:r>
            <a:r>
              <a:rPr lang="ru-RU" sz="2200" dirty="0" smtClean="0"/>
              <a:t>. Считайте информацию из файла </a:t>
            </a:r>
            <a:r>
              <a:rPr lang="en-US" sz="2200" i="1" dirty="0" err="1" smtClean="0"/>
              <a:t>json</a:t>
            </a:r>
            <a:r>
              <a:rPr lang="ru-RU" sz="2200" dirty="0" smtClean="0"/>
              <a:t>, созданного в проекте1. Используя</a:t>
            </a:r>
            <a:r>
              <a:rPr lang="en-US" sz="2200" dirty="0" smtClean="0"/>
              <a:t> </a:t>
            </a:r>
            <a:r>
              <a:rPr lang="ru-RU" sz="2200" dirty="0" smtClean="0"/>
              <a:t>возможности </a:t>
            </a:r>
            <a:r>
              <a:rPr lang="en-US" sz="2200" i="1" dirty="0" smtClean="0"/>
              <a:t>Entity Framework</a:t>
            </a:r>
            <a:r>
              <a:rPr lang="ru-RU" sz="2200" dirty="0" smtClean="0"/>
              <a:t> </a:t>
            </a:r>
            <a:r>
              <a:rPr lang="en-US" sz="2200" dirty="0"/>
              <a:t>c</a:t>
            </a:r>
            <a:r>
              <a:rPr lang="ru-RU" sz="2200" dirty="0" smtClean="0"/>
              <a:t>охраните информацию об актерах и фильмах в существующую базу данных. База данных должна содержать таблицы: </a:t>
            </a:r>
            <a:r>
              <a:rPr lang="en-US" sz="2200" i="1" dirty="0" smtClean="0"/>
              <a:t>movies</a:t>
            </a:r>
            <a:r>
              <a:rPr lang="ru-RU" sz="2200" i="1" dirty="0"/>
              <a:t>,</a:t>
            </a:r>
            <a:r>
              <a:rPr lang="ru-RU" sz="2200" dirty="0" smtClean="0"/>
              <a:t> </a:t>
            </a:r>
            <a:r>
              <a:rPr lang="en-US" sz="2200" i="1" dirty="0" smtClean="0"/>
              <a:t>actors </a:t>
            </a:r>
            <a:r>
              <a:rPr lang="en-US" sz="2200" dirty="0" smtClean="0"/>
              <a:t>(</a:t>
            </a:r>
            <a:r>
              <a:rPr lang="ru-RU" sz="2200" dirty="0" smtClean="0"/>
              <a:t>слайд 17</a:t>
            </a:r>
            <a:r>
              <a:rPr lang="en-US" sz="2200" dirty="0" smtClean="0"/>
              <a:t>)</a:t>
            </a:r>
            <a:r>
              <a:rPr lang="ru-RU" sz="2200" i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790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916832"/>
            <a:ext cx="2362200" cy="16859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916832"/>
            <a:ext cx="2752725" cy="216217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624497" y="692696"/>
            <a:ext cx="3099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/>
              <a:t>База данных «</a:t>
            </a:r>
            <a:r>
              <a:rPr lang="en-US" sz="2400" dirty="0" smtClean="0"/>
              <a:t>Movie</a:t>
            </a:r>
            <a:r>
              <a:rPr lang="ru-RU" sz="2400" dirty="0" smtClean="0"/>
              <a:t>»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5066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69458</TotalTime>
  <Words>778</Words>
  <Application>Microsoft Office PowerPoint</Application>
  <PresentationFormat>Экран (4:3)</PresentationFormat>
  <Paragraphs>154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Задания 1: (Операторы условия)</dc:title>
  <dc:creator>Студент</dc:creator>
  <cp:lastModifiedBy>Евгения</cp:lastModifiedBy>
  <cp:revision>1352</cp:revision>
  <dcterms:created xsi:type="dcterms:W3CDTF">2013-01-22T14:12:12Z</dcterms:created>
  <dcterms:modified xsi:type="dcterms:W3CDTF">2025-03-28T04:55:39Z</dcterms:modified>
</cp:coreProperties>
</file>