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305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33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90" autoAdjust="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E715-88E3-4601-8FC7-51F808BA8E6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5CAB-4471-42D9-B6C0-0DD13E883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2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2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3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1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4D37-A7D6-4DCD-B167-F53C2AACB884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9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accord-framework.net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accord-framework.net/docs/html/N_Accord_Imaging_Filters.htm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1340768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/>
              <a:t>Использование библиотек </a:t>
            </a:r>
            <a:r>
              <a:rPr lang="en-US" sz="3600" b="1" dirty="0"/>
              <a:t>.NET 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ru-RU" sz="3600" b="1" dirty="0" smtClean="0"/>
              <a:t>для </a:t>
            </a:r>
            <a:r>
              <a:rPr lang="ru-RU" sz="3600" b="1" dirty="0"/>
              <a:t>работы с </a:t>
            </a:r>
            <a:r>
              <a:rPr lang="ru-RU" sz="3600" b="1" dirty="0" smtClean="0"/>
              <a:t>изображениями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20296" y="264387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48288" y="2908101"/>
            <a:ext cx="81281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Платформа </a:t>
            </a:r>
            <a:r>
              <a:rPr lang="en-US" sz="2800" b="1" dirty="0" smtClean="0">
                <a:solidFill>
                  <a:schemeClr val="tx2"/>
                </a:solidFill>
              </a:rPr>
              <a:t>Accord.NET</a:t>
            </a:r>
            <a:endParaRPr lang="ru-RU" sz="2800" b="1" dirty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Фильтры обработк</a:t>
            </a:r>
            <a:r>
              <a:rPr lang="ru-RU" sz="2800" b="1" dirty="0">
                <a:solidFill>
                  <a:schemeClr val="tx2"/>
                </a:solidFill>
              </a:rPr>
              <a:t>и</a:t>
            </a:r>
            <a:r>
              <a:rPr lang="ru-RU" sz="2800" b="1" dirty="0" smtClean="0">
                <a:solidFill>
                  <a:schemeClr val="tx2"/>
                </a:solidFill>
              </a:rPr>
              <a:t> изображений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Примеры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Матричные фильтры</a:t>
            </a:r>
          </a:p>
        </p:txBody>
      </p:sp>
    </p:spTree>
    <p:extLst>
      <p:ext uri="{BB962C8B-B14F-4D97-AF65-F5344CB8AC3E}">
        <p14:creationId xmlns:p14="http://schemas.microsoft.com/office/powerpoint/2010/main" val="10697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42785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Платформ</a:t>
            </a:r>
            <a:r>
              <a:rPr lang="ru-RU" sz="3200" b="1" dirty="0">
                <a:solidFill>
                  <a:schemeClr val="tx2"/>
                </a:solidFill>
              </a:rPr>
              <a:t>а</a:t>
            </a:r>
            <a:r>
              <a:rPr lang="en-US" sz="3200" b="1" dirty="0" smtClean="0">
                <a:solidFill>
                  <a:schemeClr val="tx2"/>
                </a:solidFill>
              </a:rPr>
              <a:t> 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539552" y="3068960"/>
            <a:ext cx="82809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Accord.NET </a:t>
            </a:r>
            <a:r>
              <a:rPr lang="ru-RU" sz="2800" dirty="0"/>
              <a:t>— это платформа для научных вычислений в .NET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Сайт: </a:t>
            </a:r>
            <a:r>
              <a:rPr lang="en-US" sz="2800" dirty="0">
                <a:hlinkClick r:id="rId2"/>
              </a:rPr>
              <a:t>http://accord-framework.net</a:t>
            </a:r>
            <a:r>
              <a:rPr lang="en-US" sz="2800" dirty="0" smtClean="0">
                <a:hlinkClick r:id="rId2"/>
              </a:rPr>
              <a:t>/</a:t>
            </a:r>
            <a:endParaRPr lang="ru-RU" sz="2800" dirty="0" smtClean="0"/>
          </a:p>
          <a:p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</a:t>
            </a:r>
            <a:r>
              <a:rPr lang="ru-RU" sz="2800" dirty="0" smtClean="0"/>
              <a:t>татистическая </a:t>
            </a:r>
            <a:r>
              <a:rPr lang="ru-RU" sz="2800" dirty="0"/>
              <a:t>обработка </a:t>
            </a:r>
            <a:r>
              <a:rPr lang="ru-RU" sz="2800" dirty="0" smtClean="0"/>
              <a:t>данных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машинное обучение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распознавание образов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1196752"/>
            <a:ext cx="1682442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0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42785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Платформ</a:t>
            </a:r>
            <a:r>
              <a:rPr lang="ru-RU" sz="3200" b="1" dirty="0">
                <a:solidFill>
                  <a:schemeClr val="tx2"/>
                </a:solidFill>
              </a:rPr>
              <a:t>а</a:t>
            </a:r>
            <a:r>
              <a:rPr lang="en-US" sz="3200" b="1" dirty="0" smtClean="0">
                <a:solidFill>
                  <a:schemeClr val="tx2"/>
                </a:solidFill>
              </a:rPr>
              <a:t> 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539552" y="1378511"/>
            <a:ext cx="828092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Accord.Imaging</a:t>
            </a:r>
            <a:endParaRPr lang="ru-RU" sz="2800" b="1" dirty="0" smtClean="0"/>
          </a:p>
          <a:p>
            <a:endParaRPr lang="ru-RU" sz="2800" dirty="0" smtClean="0"/>
          </a:p>
          <a:p>
            <a:r>
              <a:rPr lang="ru-RU" sz="2800" dirty="0" smtClean="0"/>
              <a:t>Фреймворк </a:t>
            </a:r>
            <a:r>
              <a:rPr lang="ru-RU" sz="2800" dirty="0"/>
              <a:t>предлагает около 171 различных фильтров </a:t>
            </a:r>
            <a:r>
              <a:rPr lang="ru-RU" sz="2800" dirty="0" smtClean="0"/>
              <a:t>обработки изображений.</a:t>
            </a:r>
          </a:p>
          <a:p>
            <a:endParaRPr lang="ru-RU" sz="2800" dirty="0" smtClean="0"/>
          </a:p>
          <a:p>
            <a:r>
              <a:rPr lang="ru-RU" sz="2800" dirty="0" smtClean="0"/>
              <a:t>Документация:</a:t>
            </a:r>
          </a:p>
          <a:p>
            <a:r>
              <a:rPr lang="en-US" sz="2000" dirty="0" smtClean="0">
                <a:hlinkClick r:id="rId2"/>
              </a:rPr>
              <a:t>http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accord-framework.net/docs/html/N_Accord_Imaging_Filters.htm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11440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66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Accord.Imaging.Filters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26876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AdaptiveSmoothing</a:t>
            </a:r>
            <a:r>
              <a:rPr lang="ru-RU" sz="2800" b="1" dirty="0" smtClean="0"/>
              <a:t> </a:t>
            </a:r>
            <a:r>
              <a:rPr lang="ru-RU" sz="2800" dirty="0" smtClean="0"/>
              <a:t>– адаптивное сглаживание </a:t>
            </a:r>
            <a:r>
              <a:rPr lang="ru-RU" sz="2800" dirty="0"/>
              <a:t>- удаление шума с сохранением </a:t>
            </a:r>
            <a:r>
              <a:rPr lang="ru-RU" sz="2800" dirty="0" smtClean="0"/>
              <a:t>краев.</a:t>
            </a:r>
          </a:p>
          <a:p>
            <a:r>
              <a:rPr lang="en-US" sz="2800" b="1" dirty="0" err="1" smtClean="0"/>
              <a:t>BaseResizeFilter</a:t>
            </a:r>
            <a:r>
              <a:rPr lang="ru-RU" sz="2800" b="1" dirty="0"/>
              <a:t> </a:t>
            </a:r>
            <a:r>
              <a:rPr lang="ru-RU" sz="2800" dirty="0"/>
              <a:t>– изменения размера </a:t>
            </a:r>
            <a:r>
              <a:rPr lang="ru-RU" sz="2800" dirty="0" smtClean="0"/>
              <a:t>изображения.</a:t>
            </a:r>
          </a:p>
          <a:p>
            <a:r>
              <a:rPr lang="en-US" sz="2800" b="1" dirty="0" err="1" smtClean="0"/>
              <a:t>BilateralSmoothing</a:t>
            </a:r>
            <a:r>
              <a:rPr lang="ru-RU" sz="2800" b="1" dirty="0" smtClean="0"/>
              <a:t> </a:t>
            </a:r>
            <a:r>
              <a:rPr lang="ru-RU" sz="2800" dirty="0" smtClean="0"/>
              <a:t>– сглаживание с </a:t>
            </a:r>
            <a:r>
              <a:rPr lang="ru-RU" sz="2800" dirty="0"/>
              <a:t>сохранением границ и шумоподавление с использованием хроматических и пространственных </a:t>
            </a:r>
            <a:r>
              <a:rPr lang="ru-RU" sz="2800" dirty="0" smtClean="0"/>
              <a:t>факторов.</a:t>
            </a:r>
          </a:p>
          <a:p>
            <a:r>
              <a:rPr lang="en-US" sz="2800" b="1" dirty="0" smtClean="0"/>
              <a:t>Blur</a:t>
            </a:r>
            <a:r>
              <a:rPr lang="ru-RU" sz="2800" b="1" dirty="0" smtClean="0"/>
              <a:t> </a:t>
            </a:r>
            <a:r>
              <a:rPr lang="ru-RU" sz="2800" dirty="0" smtClean="0"/>
              <a:t>– размытие.</a:t>
            </a:r>
          </a:p>
          <a:p>
            <a:r>
              <a:rPr lang="en-US" sz="2800" b="1" dirty="0" err="1" smtClean="0"/>
              <a:t>BrightnessCorrection</a:t>
            </a:r>
            <a:r>
              <a:rPr lang="ru-RU" sz="2800" b="1" dirty="0" smtClean="0"/>
              <a:t> </a:t>
            </a:r>
            <a:r>
              <a:rPr lang="ru-RU" sz="2800" dirty="0" smtClean="0"/>
              <a:t>– регулировка яркости </a:t>
            </a:r>
            <a:r>
              <a:rPr lang="ru-RU" sz="2800" dirty="0"/>
              <a:t>в цветовом пространстве </a:t>
            </a:r>
            <a:r>
              <a:rPr lang="ru-RU" sz="2800" dirty="0" smtClean="0"/>
              <a:t>RGB.</a:t>
            </a:r>
          </a:p>
          <a:p>
            <a:r>
              <a:rPr lang="en-US" sz="2800" b="1" dirty="0" err="1" smtClean="0"/>
              <a:t>CannyEdgeDetector</a:t>
            </a:r>
            <a:r>
              <a:rPr lang="ru-RU" sz="2800" b="1" dirty="0" smtClean="0"/>
              <a:t> </a:t>
            </a:r>
            <a:r>
              <a:rPr lang="ru-RU" sz="2800" dirty="0" smtClean="0"/>
              <a:t>– детектор </a:t>
            </a:r>
            <a:r>
              <a:rPr lang="ru-RU" sz="2800" dirty="0" err="1" smtClean="0"/>
              <a:t>Канни</a:t>
            </a:r>
            <a:r>
              <a:rPr lang="ru-RU" sz="2800" dirty="0" smtClean="0"/>
              <a:t>.</a:t>
            </a:r>
          </a:p>
          <a:p>
            <a:r>
              <a:rPr lang="en-US" sz="2800" b="1" dirty="0" smtClean="0"/>
              <a:t>Crop</a:t>
            </a:r>
            <a:r>
              <a:rPr lang="ru-RU" sz="2800" b="1" dirty="0"/>
              <a:t> </a:t>
            </a:r>
            <a:r>
              <a:rPr lang="ru-RU" sz="2800" dirty="0" smtClean="0"/>
              <a:t>– обрезать изображение.</a:t>
            </a:r>
          </a:p>
          <a:p>
            <a:r>
              <a:rPr lang="en-US" sz="2800" b="1" dirty="0" err="1" smtClean="0"/>
              <a:t>GaussianBlur</a:t>
            </a:r>
            <a:r>
              <a:rPr lang="ru-RU" sz="2800" b="1" dirty="0" smtClean="0"/>
              <a:t> </a:t>
            </a:r>
            <a:r>
              <a:rPr lang="ru-RU" sz="2800" dirty="0" smtClean="0"/>
              <a:t>– фильтр размытия </a:t>
            </a:r>
            <a:r>
              <a:rPr lang="ru-RU" sz="2800" dirty="0"/>
              <a:t>по Гауссу.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285885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66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Accord.Imaging.Filters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26876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GaussianSharpen</a:t>
            </a:r>
            <a:r>
              <a:rPr lang="ru-RU" sz="2800" b="1" dirty="0" smtClean="0"/>
              <a:t> </a:t>
            </a:r>
            <a:r>
              <a:rPr lang="ru-RU" sz="2800" dirty="0"/>
              <a:t>– </a:t>
            </a:r>
            <a:r>
              <a:rPr lang="ru-RU" sz="2800" dirty="0" err="1"/>
              <a:t>г</a:t>
            </a:r>
            <a:r>
              <a:rPr lang="ru-RU" sz="2800" dirty="0" err="1" smtClean="0"/>
              <a:t>ауссовский</a:t>
            </a:r>
            <a:r>
              <a:rPr lang="ru-RU" sz="2800" dirty="0" smtClean="0"/>
              <a:t> </a:t>
            </a:r>
            <a:r>
              <a:rPr lang="ru-RU" sz="2800" dirty="0"/>
              <a:t>фильтр повышения резкости</a:t>
            </a:r>
            <a:r>
              <a:rPr lang="ru-RU" sz="2800" dirty="0" smtClean="0"/>
              <a:t>.</a:t>
            </a:r>
            <a:endParaRPr lang="ru-RU" sz="2800" dirty="0"/>
          </a:p>
          <a:p>
            <a:r>
              <a:rPr lang="en-US" sz="2800" b="1" dirty="0" smtClean="0"/>
              <a:t>Grayscale</a:t>
            </a:r>
            <a:r>
              <a:rPr lang="ru-RU" sz="2800" b="1" dirty="0" smtClean="0"/>
              <a:t> </a:t>
            </a:r>
            <a:r>
              <a:rPr lang="ru-RU" sz="2800" dirty="0" smtClean="0"/>
              <a:t>– базовый класс </a:t>
            </a:r>
            <a:r>
              <a:rPr lang="ru-RU" sz="2800" dirty="0"/>
              <a:t>для изображения в оттенках серого</a:t>
            </a:r>
            <a:r>
              <a:rPr lang="ru-RU" sz="2800" dirty="0" smtClean="0"/>
              <a:t>.</a:t>
            </a:r>
          </a:p>
          <a:p>
            <a:r>
              <a:rPr lang="en-US" sz="2800" b="1" dirty="0" err="1" smtClean="0"/>
              <a:t>GrayscaleToRGB</a:t>
            </a:r>
            <a:r>
              <a:rPr lang="ru-RU" sz="2800" b="1" dirty="0" smtClean="0"/>
              <a:t> </a:t>
            </a:r>
            <a:r>
              <a:rPr lang="ru-RU" sz="2800" dirty="0"/>
              <a:t>– </a:t>
            </a:r>
            <a:r>
              <a:rPr lang="ru-RU" sz="2800" dirty="0" smtClean="0"/>
              <a:t>преобразование изображения в градациях серого в </a:t>
            </a:r>
            <a:r>
              <a:rPr lang="ru-RU" sz="2800" dirty="0"/>
              <a:t>RGB</a:t>
            </a:r>
            <a:r>
              <a:rPr lang="ru-RU" sz="2800" dirty="0" smtClean="0"/>
              <a:t>.</a:t>
            </a:r>
          </a:p>
          <a:p>
            <a:r>
              <a:rPr lang="en-US" sz="2800" b="1" dirty="0" smtClean="0"/>
              <a:t>Invert</a:t>
            </a:r>
            <a:r>
              <a:rPr lang="ru-RU" sz="2800" b="1" dirty="0" smtClean="0"/>
              <a:t> </a:t>
            </a:r>
            <a:r>
              <a:rPr lang="ru-RU" sz="2800" dirty="0"/>
              <a:t>– </a:t>
            </a:r>
            <a:r>
              <a:rPr lang="ru-RU" sz="2800" dirty="0" smtClean="0"/>
              <a:t>инвертировать </a:t>
            </a:r>
            <a:r>
              <a:rPr lang="ru-RU" sz="2800" dirty="0"/>
              <a:t>изображение.</a:t>
            </a:r>
            <a:endParaRPr lang="ru-RU" sz="2800" dirty="0" smtClean="0"/>
          </a:p>
          <a:p>
            <a:r>
              <a:rPr lang="en-US" sz="2800" b="1" dirty="0" smtClean="0"/>
              <a:t>Median</a:t>
            </a:r>
            <a:r>
              <a:rPr lang="ru-RU" sz="2800" b="1" dirty="0" smtClean="0"/>
              <a:t> </a:t>
            </a:r>
            <a:r>
              <a:rPr lang="ru-RU" sz="2800" dirty="0" smtClean="0"/>
              <a:t>– медианный фильтр.</a:t>
            </a:r>
          </a:p>
          <a:p>
            <a:r>
              <a:rPr lang="en-US" sz="2800" b="1" dirty="0" err="1" smtClean="0"/>
              <a:t>OilPainting</a:t>
            </a:r>
            <a:r>
              <a:rPr lang="ru-RU" sz="2800" b="1" dirty="0" smtClean="0"/>
              <a:t> </a:t>
            </a:r>
            <a:r>
              <a:rPr lang="ru-RU" sz="2800" dirty="0" smtClean="0"/>
              <a:t>– имитация масляной живописи.</a:t>
            </a:r>
          </a:p>
          <a:p>
            <a:r>
              <a:rPr lang="en-US" sz="2800" b="1" dirty="0" err="1" smtClean="0"/>
              <a:t>SaltAndPepperNoise</a:t>
            </a:r>
            <a:r>
              <a:rPr lang="ru-RU" sz="2800" b="1" dirty="0" smtClean="0"/>
              <a:t> </a:t>
            </a:r>
            <a:r>
              <a:rPr lang="ru-RU" sz="2800" dirty="0"/>
              <a:t>– </a:t>
            </a:r>
            <a:r>
              <a:rPr lang="ru-RU" sz="2800" dirty="0" smtClean="0"/>
              <a:t>шум «соль </a:t>
            </a:r>
            <a:r>
              <a:rPr lang="ru-RU" sz="2800" dirty="0"/>
              <a:t>и </a:t>
            </a:r>
            <a:r>
              <a:rPr lang="ru-RU" sz="2800" dirty="0" smtClean="0"/>
              <a:t>перец».</a:t>
            </a:r>
          </a:p>
          <a:p>
            <a:r>
              <a:rPr lang="en-US" sz="2800" b="1" dirty="0" err="1" smtClean="0"/>
              <a:t>SaturationCorrection</a:t>
            </a:r>
            <a:r>
              <a:rPr lang="ru-RU" sz="2800" b="1" dirty="0"/>
              <a:t> </a:t>
            </a:r>
            <a:r>
              <a:rPr lang="ru-RU" sz="2800" dirty="0" smtClean="0"/>
              <a:t>– настройка насыщенности </a:t>
            </a:r>
            <a:r>
              <a:rPr lang="ru-RU" sz="2800" dirty="0"/>
              <a:t>в цветовом пространстве HSL.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35469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6196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Примеры работы с </a:t>
            </a:r>
            <a:r>
              <a:rPr lang="en-US" sz="3200" b="1" dirty="0">
                <a:solidFill>
                  <a:schemeClr val="tx2"/>
                </a:solidFill>
              </a:rPr>
              <a:t>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751325"/>
            <a:ext cx="82809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Размытие </a:t>
            </a:r>
            <a:r>
              <a:rPr lang="ru-RU" sz="2800" b="1" dirty="0"/>
              <a:t>по </a:t>
            </a:r>
            <a:r>
              <a:rPr lang="ru-RU" sz="2800" b="1" dirty="0" smtClean="0"/>
              <a:t>Гауссу</a:t>
            </a:r>
            <a:r>
              <a:rPr lang="en-US" sz="2800" b="1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Bitmap bmp = (Bitmap)pictureBox1.Image;</a:t>
            </a:r>
          </a:p>
          <a:p>
            <a:endParaRPr lang="ru-RU" sz="2400" dirty="0" smtClean="0"/>
          </a:p>
          <a:p>
            <a:r>
              <a:rPr lang="fr-FR" sz="2400" dirty="0" smtClean="0"/>
              <a:t>double </a:t>
            </a:r>
            <a:r>
              <a:rPr lang="fr-FR" sz="2400" dirty="0"/>
              <a:t>sigma = 5</a:t>
            </a:r>
            <a:r>
              <a:rPr lang="fr-FR" sz="2400" dirty="0" smtClean="0"/>
              <a:t>;  //</a:t>
            </a:r>
            <a:r>
              <a:rPr lang="ru-RU" sz="2400" dirty="0" smtClean="0"/>
              <a:t> порог размытия</a:t>
            </a:r>
            <a:endParaRPr lang="fr-FR" sz="2400" dirty="0" smtClean="0"/>
          </a:p>
          <a:p>
            <a:r>
              <a:rPr lang="fr-FR" sz="2400" dirty="0" smtClean="0"/>
              <a:t>int </a:t>
            </a:r>
            <a:r>
              <a:rPr lang="fr-FR" sz="2400" dirty="0"/>
              <a:t>kernel = 7</a:t>
            </a:r>
            <a:r>
              <a:rPr lang="fr-FR" sz="2400" dirty="0" smtClean="0"/>
              <a:t>;</a:t>
            </a:r>
            <a:r>
              <a:rPr lang="ru-RU" sz="2400" dirty="0" smtClean="0"/>
              <a:t> </a:t>
            </a:r>
            <a:r>
              <a:rPr lang="en-US" sz="2400" dirty="0" smtClean="0"/>
              <a:t> //</a:t>
            </a:r>
            <a:r>
              <a:rPr lang="ru-RU" sz="2400" dirty="0" smtClean="0"/>
              <a:t>область размытия</a:t>
            </a:r>
          </a:p>
          <a:p>
            <a:endParaRPr lang="en-US" sz="2400" dirty="0" smtClean="0"/>
          </a:p>
          <a:p>
            <a:r>
              <a:rPr lang="en-US" sz="2400" dirty="0" smtClean="0"/>
              <a:t>IFilter </a:t>
            </a:r>
            <a:r>
              <a:rPr lang="en-US" sz="2400" dirty="0" err="1"/>
              <a:t>gaussian</a:t>
            </a:r>
            <a:r>
              <a:rPr lang="en-US" sz="2400" dirty="0"/>
              <a:t> = new </a:t>
            </a:r>
            <a:r>
              <a:rPr lang="en-US" sz="2400" b="1" dirty="0" err="1" smtClean="0"/>
              <a:t>GaussianBlur</a:t>
            </a:r>
            <a:r>
              <a:rPr lang="en-US" sz="2400" dirty="0" smtClean="0"/>
              <a:t>(sigma, kernel);</a:t>
            </a:r>
            <a:endParaRPr lang="en-US" sz="2400" dirty="0"/>
          </a:p>
          <a:p>
            <a:r>
              <a:rPr lang="en-US" sz="2400" dirty="0" smtClean="0"/>
              <a:t>pictureBox2.Image =</a:t>
            </a:r>
            <a:r>
              <a:rPr lang="ru-RU" sz="2400" dirty="0" smtClean="0"/>
              <a:t> </a:t>
            </a:r>
            <a:r>
              <a:rPr lang="en-US" sz="2400" dirty="0" err="1" smtClean="0"/>
              <a:t>gaussian.Apply</a:t>
            </a:r>
            <a:r>
              <a:rPr lang="en-US" sz="2400" dirty="0" smtClean="0"/>
              <a:t>(bmp);</a:t>
            </a:r>
          </a:p>
        </p:txBody>
      </p:sp>
    </p:spTree>
    <p:extLst>
      <p:ext uri="{BB962C8B-B14F-4D97-AF65-F5344CB8AC3E}">
        <p14:creationId xmlns:p14="http://schemas.microsoft.com/office/powerpoint/2010/main" val="38257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6196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Примеры работы с </a:t>
            </a:r>
            <a:r>
              <a:rPr lang="en-US" sz="3200" b="1" dirty="0">
                <a:solidFill>
                  <a:schemeClr val="tx2"/>
                </a:solidFill>
              </a:rPr>
              <a:t>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751325"/>
            <a:ext cx="82809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Изменение яркости, контрастности</a:t>
            </a:r>
            <a:r>
              <a:rPr lang="en-US" sz="2800" b="1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/>
              <a:t>Bitmap bmp = (Bitmap)pictureBox1.Image</a:t>
            </a:r>
            <a:r>
              <a:rPr lang="en-US" sz="2400" dirty="0" smtClean="0"/>
              <a:t>;</a:t>
            </a:r>
          </a:p>
          <a:p>
            <a:endParaRPr lang="en-US" sz="2400" dirty="0" smtClean="0"/>
          </a:p>
          <a:p>
            <a:r>
              <a:rPr lang="en-US" sz="2400" dirty="0" smtClean="0"/>
              <a:t>IFilter </a:t>
            </a:r>
            <a:r>
              <a:rPr lang="en-US" sz="2400" dirty="0"/>
              <a:t>brightness = new </a:t>
            </a:r>
            <a:r>
              <a:rPr lang="en-US" sz="2400" b="1" dirty="0" err="1" smtClean="0"/>
              <a:t>BrightnessCorrection</a:t>
            </a:r>
            <a:r>
              <a:rPr lang="en-US" sz="2400" dirty="0" smtClean="0"/>
              <a:t>(50);</a:t>
            </a:r>
          </a:p>
          <a:p>
            <a:r>
              <a:rPr lang="en-US" sz="2400" dirty="0"/>
              <a:t>IFilter contrast = new </a:t>
            </a:r>
            <a:r>
              <a:rPr lang="en-US" sz="2400" b="1" dirty="0"/>
              <a:t>ContrastCorrection</a:t>
            </a:r>
            <a:r>
              <a:rPr lang="en-US" sz="2400" dirty="0" smtClean="0"/>
              <a:t>(</a:t>
            </a:r>
            <a:r>
              <a:rPr lang="ru-RU" sz="2400" dirty="0" smtClean="0"/>
              <a:t>-</a:t>
            </a:r>
            <a:r>
              <a:rPr lang="en-US" sz="2400" dirty="0" smtClean="0"/>
              <a:t>15</a:t>
            </a:r>
            <a:r>
              <a:rPr lang="en-US" sz="2400" dirty="0"/>
              <a:t>);</a:t>
            </a:r>
          </a:p>
          <a:p>
            <a:endParaRPr lang="en-US" sz="2400" dirty="0"/>
          </a:p>
          <a:p>
            <a:r>
              <a:rPr lang="en-US" sz="2400" dirty="0" smtClean="0"/>
              <a:t>pictureBox2.Image </a:t>
            </a:r>
            <a:r>
              <a:rPr lang="en-US" sz="2400" dirty="0"/>
              <a:t>= </a:t>
            </a:r>
            <a:r>
              <a:rPr lang="en-US" sz="2400" dirty="0" err="1" smtClean="0"/>
              <a:t>contrast.Apply</a:t>
            </a:r>
            <a:r>
              <a:rPr lang="en-US" sz="2400" dirty="0" smtClean="0"/>
              <a:t>(bmp);</a:t>
            </a:r>
          </a:p>
          <a:p>
            <a:r>
              <a:rPr lang="en-US" sz="2400" dirty="0"/>
              <a:t>pictureBox2.Image = </a:t>
            </a:r>
            <a:r>
              <a:rPr lang="en-US" sz="2400" dirty="0" err="1" smtClean="0"/>
              <a:t>brightness.Apply</a:t>
            </a:r>
            <a:r>
              <a:rPr lang="en-US" sz="2400" dirty="0" smtClean="0"/>
              <a:t>(bmp);</a:t>
            </a:r>
          </a:p>
        </p:txBody>
      </p:sp>
    </p:spTree>
    <p:extLst>
      <p:ext uri="{BB962C8B-B14F-4D97-AF65-F5344CB8AC3E}">
        <p14:creationId xmlns:p14="http://schemas.microsoft.com/office/powerpoint/2010/main" val="7044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6196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Примеры работы с </a:t>
            </a:r>
            <a:r>
              <a:rPr lang="en-US" sz="3200" b="1" dirty="0">
                <a:solidFill>
                  <a:schemeClr val="tx2"/>
                </a:solidFill>
              </a:rPr>
              <a:t>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751325"/>
            <a:ext cx="828092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Сепия (эффект старой фотографии)</a:t>
            </a:r>
            <a:r>
              <a:rPr lang="en-US" sz="2800" b="1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/>
              <a:t>Bitmap bmp = (Bitmap)pictureBox1.Image</a:t>
            </a:r>
            <a:r>
              <a:rPr lang="en-US" sz="2400" dirty="0" smtClean="0"/>
              <a:t>;</a:t>
            </a:r>
          </a:p>
          <a:p>
            <a:endParaRPr lang="en-US" sz="2400" dirty="0" smtClean="0"/>
          </a:p>
          <a:p>
            <a:r>
              <a:rPr lang="en-US" sz="2400" dirty="0"/>
              <a:t>IFilter sepia = new </a:t>
            </a:r>
            <a:r>
              <a:rPr lang="en-US" sz="2400" b="1" dirty="0"/>
              <a:t>Sepia</a:t>
            </a:r>
            <a:r>
              <a:rPr lang="en-US" sz="2400" dirty="0"/>
              <a:t>();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pictureBox2.Image </a:t>
            </a:r>
            <a:r>
              <a:rPr lang="en-US" sz="2400" dirty="0"/>
              <a:t>= sepia.Apply(bmp</a:t>
            </a:r>
            <a:r>
              <a:rPr lang="en-US" sz="24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9327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6196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Примеры работы с </a:t>
            </a:r>
            <a:r>
              <a:rPr lang="en-US" sz="3200" b="1" dirty="0">
                <a:solidFill>
                  <a:schemeClr val="tx2"/>
                </a:solidFill>
              </a:rPr>
              <a:t>Accord.NET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751325"/>
            <a:ext cx="828092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Повышение резкости</a:t>
            </a:r>
            <a:r>
              <a:rPr lang="en-US" sz="2800" b="1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/>
              <a:t>Bitmap bmp = (Bitmap)pictureBox1.Image</a:t>
            </a:r>
            <a:r>
              <a:rPr lang="en-US" sz="2400" dirty="0" smtClean="0"/>
              <a:t>;</a:t>
            </a:r>
          </a:p>
          <a:p>
            <a:endParaRPr lang="en-US" sz="2400" dirty="0" smtClean="0"/>
          </a:p>
          <a:p>
            <a:r>
              <a:rPr lang="en-US" sz="2400" dirty="0"/>
              <a:t>IFilter sharpen = new </a:t>
            </a:r>
            <a:r>
              <a:rPr lang="en-US" sz="2400" b="1" dirty="0" smtClean="0"/>
              <a:t>Sharpen</a:t>
            </a:r>
            <a:r>
              <a:rPr lang="en-US" sz="2400" dirty="0" smtClean="0"/>
              <a:t>();</a:t>
            </a:r>
          </a:p>
          <a:p>
            <a:endParaRPr lang="en-US" sz="2400" dirty="0"/>
          </a:p>
          <a:p>
            <a:r>
              <a:rPr lang="en-US" sz="2400" dirty="0" smtClean="0"/>
              <a:t>pictureBox2.Image </a:t>
            </a:r>
            <a:r>
              <a:rPr lang="en-US" sz="2400" dirty="0"/>
              <a:t>= </a:t>
            </a:r>
            <a:r>
              <a:rPr lang="en-US" sz="2400" dirty="0" err="1"/>
              <a:t>sharpen.Apply</a:t>
            </a:r>
            <a:r>
              <a:rPr lang="en-US" sz="2400" dirty="0"/>
              <a:t>(bmp</a:t>
            </a:r>
            <a:r>
              <a:rPr lang="en-US" sz="24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5843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116632"/>
            <a:ext cx="395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Матричные фильтры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836712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Матрица свёртки (</a:t>
            </a:r>
            <a:r>
              <a:rPr lang="en-US" sz="2400" b="1" dirty="0" smtClean="0"/>
              <a:t>convolution</a:t>
            </a:r>
            <a:r>
              <a:rPr lang="ru-RU" sz="2400" b="1" dirty="0" smtClean="0"/>
              <a:t>)</a:t>
            </a:r>
            <a:r>
              <a:rPr lang="ru-RU" sz="2400" dirty="0" smtClean="0"/>
              <a:t> </a:t>
            </a:r>
            <a:r>
              <a:rPr lang="ru-RU" sz="2400" dirty="0"/>
              <a:t>– это матрица коэффициентов, которая «умножается» на значение пикселей изображения для получения требуемого </a:t>
            </a:r>
            <a:r>
              <a:rPr lang="ru-RU" sz="2400" dirty="0" smtClean="0"/>
              <a:t>результата: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9552" y="5613047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Размер фильтра должен быть нечетным</a:t>
            </a:r>
            <a:r>
              <a:rPr lang="en-US" dirty="0"/>
              <a:t>.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Сумма всех элементов матрицы фильтра должна быть равна 1, чтобы гарантировать, что яркость изображения до и после фильтрации остается неизменной.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06" y="2132856"/>
            <a:ext cx="7513092" cy="34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5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Матричные фильтры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504448"/>
            <a:ext cx="828092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Повышение резкости:</a:t>
            </a:r>
            <a:endParaRPr lang="en-US" sz="2800" b="1" dirty="0" smtClean="0"/>
          </a:p>
          <a:p>
            <a:endParaRPr lang="en-US" sz="2400" dirty="0" smtClean="0"/>
          </a:p>
          <a:p>
            <a:r>
              <a:rPr lang="en-US" sz="2400" dirty="0" smtClean="0"/>
              <a:t>Bitmap </a:t>
            </a:r>
            <a:r>
              <a:rPr lang="en-US" sz="2400" dirty="0"/>
              <a:t>bmp = (</a:t>
            </a:r>
            <a:r>
              <a:rPr lang="en-US" sz="2400" dirty="0" smtClean="0"/>
              <a:t>Bitmap)</a:t>
            </a:r>
            <a:r>
              <a:rPr lang="en-US" sz="2400" dirty="0" err="1" smtClean="0"/>
              <a:t>pictureBox</a:t>
            </a:r>
            <a:r>
              <a:rPr lang="ru-RU" sz="2400" dirty="0" smtClean="0"/>
              <a:t>1</a:t>
            </a:r>
            <a:r>
              <a:rPr lang="en-US" sz="2400" dirty="0" smtClean="0"/>
              <a:t>.Image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 err="1" smtClean="0"/>
              <a:t>int</a:t>
            </a:r>
            <a:r>
              <a:rPr lang="en-US" sz="2400" dirty="0"/>
              <a:t>[,] </a:t>
            </a:r>
            <a:r>
              <a:rPr lang="en-US" sz="2400" b="1" dirty="0" smtClean="0"/>
              <a:t>kernel </a:t>
            </a:r>
            <a:r>
              <a:rPr lang="en-US" sz="2400" dirty="0"/>
              <a:t>= {</a:t>
            </a:r>
          </a:p>
          <a:p>
            <a:r>
              <a:rPr lang="en-US" sz="2400" dirty="0" smtClean="0"/>
              <a:t>{ </a:t>
            </a:r>
            <a:r>
              <a:rPr lang="en-US" sz="2400" dirty="0"/>
              <a:t>0, </a:t>
            </a:r>
            <a:r>
              <a:rPr lang="ru-RU" sz="2400" dirty="0" smtClean="0"/>
              <a:t>  </a:t>
            </a:r>
            <a:r>
              <a:rPr lang="en-US" sz="2400" smtClean="0"/>
              <a:t>-</a:t>
            </a:r>
            <a:r>
              <a:rPr lang="en-US" sz="2400" dirty="0"/>
              <a:t>1</a:t>
            </a:r>
            <a:r>
              <a:rPr lang="en-US" sz="2400" smtClean="0"/>
              <a:t>,  </a:t>
            </a:r>
            <a:r>
              <a:rPr lang="ru-RU" sz="2400" dirty="0" smtClean="0"/>
              <a:t> </a:t>
            </a:r>
            <a:r>
              <a:rPr lang="en-US" sz="2400" dirty="0" smtClean="0"/>
              <a:t>0 </a:t>
            </a:r>
            <a:r>
              <a:rPr lang="en-US" sz="2400" dirty="0"/>
              <a:t>},</a:t>
            </a:r>
          </a:p>
          <a:p>
            <a:r>
              <a:rPr lang="en-US" sz="2400" dirty="0" smtClean="0"/>
              <a:t>{ </a:t>
            </a:r>
            <a:r>
              <a:rPr lang="en-US" sz="2400" dirty="0"/>
              <a:t>-1,  </a:t>
            </a:r>
            <a:r>
              <a:rPr lang="ru-RU" sz="2400" dirty="0" smtClean="0"/>
              <a:t> </a:t>
            </a:r>
            <a:r>
              <a:rPr lang="en-US" sz="2400" dirty="0" smtClean="0"/>
              <a:t>5</a:t>
            </a:r>
            <a:r>
              <a:rPr lang="en-US" sz="2400" dirty="0"/>
              <a:t>,  </a:t>
            </a:r>
            <a:r>
              <a:rPr lang="en-US" sz="2400" dirty="0" smtClean="0"/>
              <a:t>-1 </a:t>
            </a:r>
            <a:r>
              <a:rPr lang="en-US" sz="2400" dirty="0"/>
              <a:t>},</a:t>
            </a:r>
          </a:p>
          <a:p>
            <a:r>
              <a:rPr lang="en-US" sz="2400" dirty="0" smtClean="0"/>
              <a:t>{  </a:t>
            </a:r>
            <a:r>
              <a:rPr lang="en-US" sz="2400" dirty="0"/>
              <a:t>0, </a:t>
            </a:r>
            <a:r>
              <a:rPr lang="ru-RU" sz="2400" dirty="0" smtClean="0"/>
              <a:t> </a:t>
            </a:r>
            <a:r>
              <a:rPr lang="en-US" sz="2400" dirty="0" smtClean="0"/>
              <a:t>-</a:t>
            </a:r>
            <a:r>
              <a:rPr lang="en-US" sz="2400" dirty="0"/>
              <a:t>1,  </a:t>
            </a:r>
            <a:r>
              <a:rPr lang="ru-RU" sz="2400" dirty="0" smtClean="0"/>
              <a:t> </a:t>
            </a:r>
            <a:r>
              <a:rPr lang="en-US" sz="2400" dirty="0" smtClean="0"/>
              <a:t>0 </a:t>
            </a:r>
            <a:r>
              <a:rPr lang="en-US" sz="2400" dirty="0"/>
              <a:t>} };</a:t>
            </a:r>
          </a:p>
          <a:p>
            <a:endParaRPr lang="en-US" sz="2400" dirty="0"/>
          </a:p>
          <a:p>
            <a:r>
              <a:rPr lang="en-US" sz="2400" dirty="0" smtClean="0"/>
              <a:t>IFilter </a:t>
            </a:r>
            <a:r>
              <a:rPr lang="en-US" sz="2400" dirty="0"/>
              <a:t>filter = new </a:t>
            </a:r>
            <a:r>
              <a:rPr lang="en-US" sz="2400" b="1" dirty="0" smtClean="0"/>
              <a:t>Convolution</a:t>
            </a:r>
            <a:r>
              <a:rPr lang="en-US" sz="2400" dirty="0" smtClean="0"/>
              <a:t>(kernel);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 smtClean="0"/>
              <a:t>pictureBox</a:t>
            </a:r>
            <a:r>
              <a:rPr lang="ru-RU" sz="2400" dirty="0"/>
              <a:t>2</a:t>
            </a:r>
            <a:r>
              <a:rPr lang="en-US" sz="2400" dirty="0" smtClean="0"/>
              <a:t>.Image </a:t>
            </a:r>
            <a:r>
              <a:rPr lang="en-US" sz="2400" dirty="0"/>
              <a:t>= </a:t>
            </a:r>
            <a:r>
              <a:rPr lang="en-US" sz="2400" dirty="0" err="1"/>
              <a:t>filter.Apply</a:t>
            </a:r>
            <a:r>
              <a:rPr lang="en-US" sz="2400" dirty="0"/>
              <a:t>(bmp);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10438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5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Матричные фильтры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504448"/>
            <a:ext cx="82809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Повышение резкости (увеличивает разницу значений на </a:t>
            </a:r>
            <a:r>
              <a:rPr lang="ru-RU" sz="2800" b="1" dirty="0" smtClean="0"/>
              <a:t>границах):</a:t>
            </a:r>
            <a:endParaRPr lang="en-US" sz="2800" b="1" dirty="0" smtClean="0"/>
          </a:p>
          <a:p>
            <a:endParaRPr lang="en-US" sz="2400" dirty="0" smtClean="0"/>
          </a:p>
          <a:p>
            <a:r>
              <a:rPr lang="en-US" sz="2400" dirty="0" smtClean="0"/>
              <a:t>Bitmap </a:t>
            </a:r>
            <a:r>
              <a:rPr lang="en-US" sz="2400" dirty="0"/>
              <a:t>bmp = (</a:t>
            </a:r>
            <a:r>
              <a:rPr lang="en-US" sz="2400" dirty="0" smtClean="0"/>
              <a:t>Bitmap)</a:t>
            </a:r>
            <a:r>
              <a:rPr lang="en-US" sz="2400" dirty="0" err="1" smtClean="0"/>
              <a:t>pictureBox</a:t>
            </a:r>
            <a:r>
              <a:rPr lang="ru-RU" sz="2400" dirty="0" smtClean="0"/>
              <a:t>1</a:t>
            </a:r>
            <a:r>
              <a:rPr lang="en-US" sz="2400" dirty="0" smtClean="0"/>
              <a:t>.Image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 err="1" smtClean="0"/>
              <a:t>int</a:t>
            </a:r>
            <a:r>
              <a:rPr lang="en-US" sz="2400" dirty="0"/>
              <a:t>[,] </a:t>
            </a:r>
            <a:r>
              <a:rPr lang="en-US" sz="2400" dirty="0" smtClean="0"/>
              <a:t>kernel </a:t>
            </a:r>
            <a:r>
              <a:rPr lang="en-US" sz="2400" dirty="0"/>
              <a:t>= {</a:t>
            </a:r>
          </a:p>
          <a:p>
            <a:r>
              <a:rPr lang="en-US" sz="2400" dirty="0" smtClean="0"/>
              <a:t>{ </a:t>
            </a:r>
            <a:r>
              <a:rPr lang="ru-RU" sz="2400" dirty="0" smtClean="0"/>
              <a:t>-1</a:t>
            </a:r>
            <a:r>
              <a:rPr lang="en-US" sz="2400" dirty="0" smtClean="0"/>
              <a:t>, </a:t>
            </a:r>
            <a:r>
              <a:rPr lang="ru-RU" sz="2400" dirty="0" smtClean="0"/>
              <a:t> </a:t>
            </a:r>
            <a:r>
              <a:rPr lang="en-US" sz="2400" dirty="0" smtClean="0"/>
              <a:t>-</a:t>
            </a:r>
            <a:r>
              <a:rPr lang="en-US" sz="2400" dirty="0"/>
              <a:t>1,  </a:t>
            </a:r>
            <a:r>
              <a:rPr lang="ru-RU" sz="2400" dirty="0" smtClean="0"/>
              <a:t>-1</a:t>
            </a:r>
            <a:r>
              <a:rPr lang="en-US" sz="2400" dirty="0" smtClean="0"/>
              <a:t> </a:t>
            </a:r>
            <a:r>
              <a:rPr lang="en-US" sz="2400" dirty="0"/>
              <a:t>},</a:t>
            </a:r>
          </a:p>
          <a:p>
            <a:r>
              <a:rPr lang="en-US" sz="2400" dirty="0" smtClean="0"/>
              <a:t>{ </a:t>
            </a:r>
            <a:r>
              <a:rPr lang="en-US" sz="2400" dirty="0"/>
              <a:t>-1,  </a:t>
            </a:r>
            <a:r>
              <a:rPr lang="ru-RU" sz="2400" dirty="0" smtClean="0"/>
              <a:t> 9</a:t>
            </a:r>
            <a:r>
              <a:rPr lang="en-US" sz="2400" dirty="0" smtClean="0"/>
              <a:t>,  </a:t>
            </a:r>
            <a:r>
              <a:rPr lang="en-US" sz="2400" dirty="0"/>
              <a:t>-1 },</a:t>
            </a:r>
          </a:p>
          <a:p>
            <a:r>
              <a:rPr lang="en-US" sz="2400" dirty="0" smtClean="0"/>
              <a:t>{ </a:t>
            </a:r>
            <a:r>
              <a:rPr lang="ru-RU" sz="2400" dirty="0" smtClean="0"/>
              <a:t>-1</a:t>
            </a:r>
            <a:r>
              <a:rPr lang="en-US" sz="2400" dirty="0" smtClean="0"/>
              <a:t>,  </a:t>
            </a:r>
            <a:r>
              <a:rPr lang="en-US" sz="2400" dirty="0"/>
              <a:t>-1,  </a:t>
            </a:r>
            <a:r>
              <a:rPr lang="ru-RU" sz="2400" dirty="0" smtClean="0"/>
              <a:t>-1</a:t>
            </a:r>
            <a:r>
              <a:rPr lang="en-US" sz="2400" dirty="0" smtClean="0"/>
              <a:t> </a:t>
            </a:r>
            <a:r>
              <a:rPr lang="en-US" sz="2400" dirty="0"/>
              <a:t>} };</a:t>
            </a:r>
          </a:p>
          <a:p>
            <a:endParaRPr lang="en-US" sz="2400" dirty="0"/>
          </a:p>
          <a:p>
            <a:r>
              <a:rPr lang="en-US" sz="2400" dirty="0" smtClean="0"/>
              <a:t>IFilter </a:t>
            </a:r>
            <a:r>
              <a:rPr lang="en-US" sz="2400" dirty="0"/>
              <a:t>filter = new </a:t>
            </a:r>
            <a:r>
              <a:rPr lang="en-US" sz="2400" dirty="0" smtClean="0"/>
              <a:t>Convolution(kernel);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smtClean="0"/>
              <a:t>pictureBox2.Image </a:t>
            </a:r>
            <a:r>
              <a:rPr lang="en-US" sz="2400" dirty="0"/>
              <a:t>= </a:t>
            </a:r>
            <a:r>
              <a:rPr lang="en-US" sz="2400" dirty="0" err="1"/>
              <a:t>filter.Apply</a:t>
            </a:r>
            <a:r>
              <a:rPr lang="en-US" sz="2400" dirty="0"/>
              <a:t>(bmp);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4971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5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Матричные фильтры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124744"/>
            <a:ext cx="828092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Эффект тиснения:</a:t>
            </a:r>
            <a:endParaRPr lang="en-US" sz="2800" b="1" dirty="0" smtClean="0"/>
          </a:p>
          <a:p>
            <a:r>
              <a:rPr lang="en-US" sz="2000" dirty="0" smtClean="0"/>
              <a:t>//</a:t>
            </a:r>
            <a:r>
              <a:rPr lang="ru-RU" sz="2000" dirty="0" smtClean="0"/>
              <a:t>фильтр перевода в оттенки серого</a:t>
            </a:r>
            <a:endParaRPr lang="en-US" sz="2000" dirty="0" smtClean="0"/>
          </a:p>
          <a:p>
            <a:r>
              <a:rPr lang="en-US" dirty="0"/>
              <a:t>IFilter filter1 = new </a:t>
            </a:r>
            <a:r>
              <a:rPr lang="en-US" b="1" dirty="0"/>
              <a:t>Grayscale</a:t>
            </a:r>
            <a:r>
              <a:rPr lang="en-US" dirty="0" smtClean="0"/>
              <a:t>(.</a:t>
            </a:r>
            <a:r>
              <a:rPr lang="en-US" dirty="0"/>
              <a:t>3, .59, .11);</a:t>
            </a:r>
          </a:p>
          <a:p>
            <a:endParaRPr lang="ru-RU" dirty="0" smtClean="0"/>
          </a:p>
          <a:p>
            <a:r>
              <a:rPr lang="en-US" dirty="0" smtClean="0"/>
              <a:t>//</a:t>
            </a:r>
            <a:r>
              <a:rPr lang="ru-RU" dirty="0" err="1" smtClean="0"/>
              <a:t>сверточный</a:t>
            </a:r>
            <a:r>
              <a:rPr lang="ru-RU" dirty="0" smtClean="0"/>
              <a:t> фильтр тиснения</a:t>
            </a:r>
            <a:endParaRPr lang="ru-RU" dirty="0"/>
          </a:p>
          <a:p>
            <a:r>
              <a:rPr lang="en-US" dirty="0" err="1" smtClean="0"/>
              <a:t>int</a:t>
            </a:r>
            <a:r>
              <a:rPr lang="en-US" dirty="0"/>
              <a:t>[,] kernel = {</a:t>
            </a:r>
          </a:p>
          <a:p>
            <a:r>
              <a:rPr lang="ru-RU" dirty="0" smtClean="0"/>
              <a:t>{ </a:t>
            </a:r>
            <a:r>
              <a:rPr lang="ru-RU" dirty="0"/>
              <a:t>4,  0,  0 },</a:t>
            </a:r>
          </a:p>
          <a:p>
            <a:r>
              <a:rPr lang="ru-RU" dirty="0" smtClean="0"/>
              <a:t>{ </a:t>
            </a:r>
            <a:r>
              <a:rPr lang="ru-RU" dirty="0"/>
              <a:t>0, -2,  0 },</a:t>
            </a:r>
          </a:p>
          <a:p>
            <a:r>
              <a:rPr lang="ru-RU" dirty="0" smtClean="0"/>
              <a:t>{ </a:t>
            </a:r>
            <a:r>
              <a:rPr lang="ru-RU" dirty="0"/>
              <a:t>0,  0, -2 } };</a:t>
            </a:r>
          </a:p>
          <a:p>
            <a:r>
              <a:rPr lang="en-US" dirty="0" smtClean="0"/>
              <a:t>IFilter </a:t>
            </a:r>
            <a:r>
              <a:rPr lang="en-US" dirty="0"/>
              <a:t>filter2 = new </a:t>
            </a:r>
            <a:r>
              <a:rPr lang="en-US" b="1" dirty="0"/>
              <a:t>Convolution</a:t>
            </a:r>
            <a:r>
              <a:rPr lang="en-US" dirty="0"/>
              <a:t>(kernel);</a:t>
            </a:r>
          </a:p>
          <a:p>
            <a:endParaRPr lang="ru-RU" dirty="0" smtClean="0"/>
          </a:p>
          <a:p>
            <a:r>
              <a:rPr lang="en-US" dirty="0"/>
              <a:t>//</a:t>
            </a:r>
            <a:r>
              <a:rPr lang="ru-RU" dirty="0"/>
              <a:t>фильтр </a:t>
            </a:r>
            <a:r>
              <a:rPr lang="ru-RU" dirty="0" smtClean="0"/>
              <a:t>инвертирования</a:t>
            </a:r>
            <a:endParaRPr lang="ru-RU" dirty="0"/>
          </a:p>
          <a:p>
            <a:r>
              <a:rPr lang="en-US" dirty="0" smtClean="0"/>
              <a:t>IFilter </a:t>
            </a:r>
            <a:r>
              <a:rPr lang="en-US" dirty="0"/>
              <a:t>filter3 = new Invert();</a:t>
            </a:r>
          </a:p>
          <a:p>
            <a:endParaRPr lang="ru-RU" dirty="0" smtClean="0"/>
          </a:p>
          <a:p>
            <a:r>
              <a:rPr lang="en-US" dirty="0" smtClean="0"/>
              <a:t>IFilter </a:t>
            </a:r>
            <a:r>
              <a:rPr lang="en-US" dirty="0"/>
              <a:t>filters = new </a:t>
            </a:r>
            <a:r>
              <a:rPr lang="en-US" b="1" dirty="0" err="1"/>
              <a:t>FiltersSequence</a:t>
            </a:r>
            <a:r>
              <a:rPr lang="en-US" dirty="0"/>
              <a:t>(new IFilter[]{ filter1, filter2, filter3 </a:t>
            </a:r>
            <a:r>
              <a:rPr lang="en-US" dirty="0" smtClean="0"/>
              <a:t>});</a:t>
            </a:r>
            <a:endParaRPr lang="ru-RU" dirty="0"/>
          </a:p>
          <a:p>
            <a:endParaRPr lang="ru-RU" dirty="0" smtClean="0"/>
          </a:p>
          <a:p>
            <a:r>
              <a:rPr lang="en-US" dirty="0" smtClean="0"/>
              <a:t>//</a:t>
            </a:r>
            <a:r>
              <a:rPr lang="ru-RU" dirty="0"/>
              <a:t>запускаем обработку изображения</a:t>
            </a:r>
            <a:endParaRPr lang="ru-RU" dirty="0" smtClean="0"/>
          </a:p>
          <a:p>
            <a:r>
              <a:rPr lang="en-US" dirty="0" smtClean="0"/>
              <a:t>Bitmap </a:t>
            </a:r>
            <a:r>
              <a:rPr lang="en-US" dirty="0"/>
              <a:t>bmp = (</a:t>
            </a:r>
            <a:r>
              <a:rPr lang="en-US" dirty="0" smtClean="0"/>
              <a:t>Bitmap)</a:t>
            </a:r>
            <a:r>
              <a:rPr lang="en-US" dirty="0" err="1" smtClean="0"/>
              <a:t>pictureBox</a:t>
            </a:r>
            <a:r>
              <a:rPr lang="ru-RU" dirty="0" smtClean="0"/>
              <a:t>1</a:t>
            </a:r>
            <a:r>
              <a:rPr lang="en-US" dirty="0" smtClean="0"/>
              <a:t>.Image</a:t>
            </a:r>
            <a:r>
              <a:rPr lang="en-US" dirty="0"/>
              <a:t>;</a:t>
            </a:r>
          </a:p>
          <a:p>
            <a:r>
              <a:rPr lang="en-US" dirty="0" smtClean="0"/>
              <a:t>pictureBox2.Image </a:t>
            </a:r>
            <a:r>
              <a:rPr lang="en-US" dirty="0"/>
              <a:t>= </a:t>
            </a:r>
            <a:r>
              <a:rPr lang="en-US" dirty="0" err="1"/>
              <a:t>filters.</a:t>
            </a:r>
            <a:r>
              <a:rPr lang="en-US" b="1" dirty="0" err="1"/>
              <a:t>Apply</a:t>
            </a:r>
            <a:r>
              <a:rPr lang="en-US" dirty="0"/>
              <a:t>(bmp);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12964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372701"/>
            <a:ext cx="82809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Загрузка и преобразование изображения:</a:t>
            </a:r>
            <a:endParaRPr lang="en-US" sz="2800" b="1" dirty="0" smtClean="0"/>
          </a:p>
          <a:p>
            <a:endParaRPr lang="ru-RU" sz="2000" dirty="0" smtClean="0"/>
          </a:p>
          <a:p>
            <a:r>
              <a:rPr lang="en-US" sz="2400" dirty="0" smtClean="0"/>
              <a:t>using </a:t>
            </a:r>
            <a:r>
              <a:rPr lang="en-US" sz="2400" dirty="0" err="1"/>
              <a:t>AForge.Imaging.Filters</a:t>
            </a:r>
            <a:r>
              <a:rPr lang="en-US" sz="2400" dirty="0"/>
              <a:t>;</a:t>
            </a:r>
          </a:p>
          <a:p>
            <a:r>
              <a:rPr lang="en-US" sz="2400" dirty="0"/>
              <a:t>using </a:t>
            </a:r>
            <a:r>
              <a:rPr lang="en-US" sz="2400" dirty="0" err="1"/>
              <a:t>System.Drawing</a:t>
            </a:r>
            <a:r>
              <a:rPr lang="en-US" sz="2400" dirty="0"/>
              <a:t>;</a:t>
            </a:r>
          </a:p>
          <a:p>
            <a:endParaRPr lang="ru-RU" sz="2400" dirty="0" smtClean="0"/>
          </a:p>
          <a:p>
            <a:r>
              <a:rPr lang="en-US" sz="2400" dirty="0" smtClean="0"/>
              <a:t>Bitmap </a:t>
            </a:r>
            <a:r>
              <a:rPr lang="en-US" sz="2400" dirty="0"/>
              <a:t>image = (Bitmap)</a:t>
            </a:r>
            <a:r>
              <a:rPr lang="en-US" sz="2400" dirty="0" err="1"/>
              <a:t>Bitmap.FromFile</a:t>
            </a:r>
            <a:r>
              <a:rPr lang="en-US" sz="2400" dirty="0"/>
              <a:t>("input.jpg"); // </a:t>
            </a:r>
            <a:r>
              <a:rPr lang="ru-RU" sz="2400" dirty="0"/>
              <a:t>загрузка изображения</a:t>
            </a:r>
          </a:p>
          <a:p>
            <a:endParaRPr lang="ru-RU" sz="2400" dirty="0" smtClean="0"/>
          </a:p>
          <a:p>
            <a:r>
              <a:rPr lang="en-US" sz="2400" dirty="0" smtClean="0"/>
              <a:t>Grayscale </a:t>
            </a:r>
            <a:r>
              <a:rPr lang="en-US" sz="2400" dirty="0"/>
              <a:t>filter = new Grayscale(0.2125, 0.7154, 0.0721); // </a:t>
            </a:r>
            <a:r>
              <a:rPr lang="ru-RU" sz="2400" dirty="0"/>
              <a:t>применение фильтра (градации серого)</a:t>
            </a:r>
          </a:p>
          <a:p>
            <a:endParaRPr lang="ru-RU" sz="2400" dirty="0" smtClean="0"/>
          </a:p>
          <a:p>
            <a:r>
              <a:rPr lang="en-US" sz="2400" dirty="0" smtClean="0"/>
              <a:t>Bitmap </a:t>
            </a:r>
            <a:r>
              <a:rPr lang="en-US" sz="2400" dirty="0" err="1"/>
              <a:t>grayImage</a:t>
            </a:r>
            <a:r>
              <a:rPr lang="en-US" sz="2400" dirty="0"/>
              <a:t> = </a:t>
            </a:r>
            <a:r>
              <a:rPr lang="en-US" sz="2400" dirty="0" err="1"/>
              <a:t>filter.Apply</a:t>
            </a:r>
            <a:r>
              <a:rPr lang="en-US" sz="2400" dirty="0"/>
              <a:t>(image);</a:t>
            </a:r>
          </a:p>
          <a:p>
            <a:r>
              <a:rPr lang="en-US" sz="2400" dirty="0" err="1"/>
              <a:t>grayImage.Save</a:t>
            </a:r>
            <a:r>
              <a:rPr lang="en-US" sz="2400" dirty="0"/>
              <a:t>("gray.jpg");  // </a:t>
            </a:r>
            <a:r>
              <a:rPr lang="ru-RU" sz="2400" dirty="0"/>
              <a:t>сохранение</a:t>
            </a:r>
          </a:p>
        </p:txBody>
      </p:sp>
    </p:spTree>
    <p:extLst>
      <p:ext uri="{BB962C8B-B14F-4D97-AF65-F5344CB8AC3E}">
        <p14:creationId xmlns:p14="http://schemas.microsoft.com/office/powerpoint/2010/main" val="55307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372701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Бинаризация изображения:</a:t>
            </a:r>
            <a:endParaRPr lang="en-US" sz="2800" b="1" dirty="0" smtClean="0"/>
          </a:p>
          <a:p>
            <a:endParaRPr lang="ru-RU" sz="2000" dirty="0" smtClean="0"/>
          </a:p>
          <a:p>
            <a:r>
              <a:rPr lang="en-US" sz="2400" dirty="0"/>
              <a:t>using </a:t>
            </a:r>
            <a:r>
              <a:rPr lang="en-US" sz="2400" dirty="0" err="1"/>
              <a:t>AForge.Imaging.Filters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endParaRPr lang="en-US" sz="2400" dirty="0"/>
          </a:p>
          <a:p>
            <a:r>
              <a:rPr lang="en-US" sz="2400" dirty="0"/>
              <a:t>Threshold </a:t>
            </a:r>
            <a:r>
              <a:rPr lang="en-US" sz="2400" dirty="0" err="1"/>
              <a:t>threshold</a:t>
            </a:r>
            <a:r>
              <a:rPr lang="en-US" sz="2400" dirty="0"/>
              <a:t> = new Threshold(100</a:t>
            </a:r>
            <a:r>
              <a:rPr lang="en-US" sz="2400" dirty="0" smtClean="0"/>
              <a:t>);</a:t>
            </a:r>
            <a:r>
              <a:rPr lang="ru-RU" sz="2400" dirty="0" smtClean="0"/>
              <a:t>   </a:t>
            </a:r>
            <a:r>
              <a:rPr lang="en-US" sz="2400" dirty="0" smtClean="0"/>
              <a:t>//</a:t>
            </a:r>
            <a:r>
              <a:rPr lang="ru-RU" sz="2400" dirty="0" smtClean="0"/>
              <a:t>устанавливаем порог яркости</a:t>
            </a:r>
            <a:endParaRPr lang="en-US" sz="2400" dirty="0"/>
          </a:p>
          <a:p>
            <a:endParaRPr lang="ru-RU" sz="2400" dirty="0" smtClean="0"/>
          </a:p>
          <a:p>
            <a:r>
              <a:rPr lang="en-US" sz="2400" dirty="0" smtClean="0"/>
              <a:t>Bitmap </a:t>
            </a:r>
            <a:r>
              <a:rPr lang="en-US" sz="2400" dirty="0" err="1"/>
              <a:t>binaryImage</a:t>
            </a:r>
            <a:r>
              <a:rPr lang="en-US" sz="2400" dirty="0"/>
              <a:t> = </a:t>
            </a:r>
            <a:r>
              <a:rPr lang="en-US" sz="2400" dirty="0" err="1"/>
              <a:t>threshold.Apply</a:t>
            </a:r>
            <a:r>
              <a:rPr lang="en-US" sz="2400" dirty="0"/>
              <a:t>(</a:t>
            </a:r>
            <a:r>
              <a:rPr lang="en-US" sz="2400" dirty="0" err="1"/>
              <a:t>grayImage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binaryImage.Save</a:t>
            </a:r>
            <a:r>
              <a:rPr lang="en-US" sz="2400" dirty="0"/>
              <a:t>("binary.jpg");</a:t>
            </a:r>
          </a:p>
        </p:txBody>
      </p:sp>
    </p:spTree>
    <p:extLst>
      <p:ext uri="{BB962C8B-B14F-4D97-AF65-F5344CB8AC3E}">
        <p14:creationId xmlns:p14="http://schemas.microsoft.com/office/powerpoint/2010/main" val="367580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372701"/>
            <a:ext cx="82809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Поиск контуров (</a:t>
            </a:r>
            <a:r>
              <a:rPr lang="en-US" sz="2800" b="1" dirty="0"/>
              <a:t>Blob Detection)</a:t>
            </a:r>
            <a:r>
              <a:rPr lang="ru-RU" sz="2800" b="1" dirty="0" smtClean="0"/>
              <a:t>:</a:t>
            </a:r>
            <a:endParaRPr lang="en-US" sz="2800" b="1" dirty="0" smtClean="0"/>
          </a:p>
          <a:p>
            <a:endParaRPr lang="ru-RU" sz="2000" dirty="0" smtClean="0"/>
          </a:p>
          <a:p>
            <a:r>
              <a:rPr lang="en-US" sz="2400" dirty="0"/>
              <a:t>using </a:t>
            </a:r>
            <a:r>
              <a:rPr lang="en-US" sz="2400" dirty="0" err="1"/>
              <a:t>AForge.Imaging</a:t>
            </a:r>
            <a:r>
              <a:rPr lang="en-US" sz="2400" dirty="0"/>
              <a:t>;</a:t>
            </a:r>
          </a:p>
          <a:p>
            <a:r>
              <a:rPr lang="en-US" sz="2400" dirty="0"/>
              <a:t>using </a:t>
            </a:r>
            <a:r>
              <a:rPr lang="en-US" sz="2400" dirty="0" err="1"/>
              <a:t>AForge.Imaging.Filters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endParaRPr lang="en-US" sz="2400" dirty="0"/>
          </a:p>
          <a:p>
            <a:r>
              <a:rPr lang="en-US" sz="2400" dirty="0" err="1"/>
              <a:t>BlobCounter</a:t>
            </a:r>
            <a:r>
              <a:rPr lang="en-US" sz="2400" dirty="0"/>
              <a:t> </a:t>
            </a:r>
            <a:r>
              <a:rPr lang="en-US" sz="2400" dirty="0" err="1"/>
              <a:t>blobCounter</a:t>
            </a:r>
            <a:r>
              <a:rPr lang="en-US" sz="2400" dirty="0"/>
              <a:t> = new </a:t>
            </a:r>
            <a:r>
              <a:rPr lang="en-US" sz="2400" dirty="0" err="1"/>
              <a:t>BlobCounter</a:t>
            </a:r>
            <a:r>
              <a:rPr lang="en-US" sz="2400" dirty="0"/>
              <a:t>();</a:t>
            </a:r>
          </a:p>
          <a:p>
            <a:r>
              <a:rPr lang="en-US" sz="2400" dirty="0" err="1"/>
              <a:t>blobCounter.ProcessImage</a:t>
            </a:r>
            <a:r>
              <a:rPr lang="en-US" sz="2400" dirty="0"/>
              <a:t>(</a:t>
            </a:r>
            <a:r>
              <a:rPr lang="en-US" sz="2400" dirty="0" err="1"/>
              <a:t>binaryImage</a:t>
            </a:r>
            <a:r>
              <a:rPr lang="en-US" sz="2400" dirty="0"/>
              <a:t>);</a:t>
            </a:r>
          </a:p>
          <a:p>
            <a:endParaRPr lang="ru-RU" sz="2400" dirty="0" smtClean="0"/>
          </a:p>
          <a:p>
            <a:r>
              <a:rPr lang="en-US" sz="2400" dirty="0" smtClean="0"/>
              <a:t>Blob</a:t>
            </a:r>
            <a:r>
              <a:rPr lang="en-US" sz="2400" dirty="0"/>
              <a:t>[] blobs = </a:t>
            </a:r>
            <a:r>
              <a:rPr lang="en-US" sz="2400" dirty="0" err="1"/>
              <a:t>blobCounter.GetObjectsInformation</a:t>
            </a:r>
            <a:r>
              <a:rPr lang="en-US" sz="2400" dirty="0" smtClean="0"/>
              <a:t>();</a:t>
            </a:r>
            <a:endParaRPr lang="ru-RU" sz="2400" dirty="0" smtClean="0"/>
          </a:p>
          <a:p>
            <a:endParaRPr lang="ru-RU" sz="2400" dirty="0"/>
          </a:p>
          <a:p>
            <a:r>
              <a:rPr lang="ru-RU" sz="2400" dirty="0" err="1" smtClean="0"/>
              <a:t>Blob</a:t>
            </a:r>
            <a:r>
              <a:rPr lang="ru-RU" sz="2400" dirty="0" smtClean="0"/>
              <a:t> – это связанная </a:t>
            </a:r>
            <a:r>
              <a:rPr lang="ru-RU" sz="2400" dirty="0"/>
              <a:t>область </a:t>
            </a:r>
            <a:r>
              <a:rPr lang="ru-RU" sz="2400" dirty="0" smtClean="0"/>
              <a:t>пикселей. Используется </a:t>
            </a:r>
            <a:r>
              <a:rPr lang="ru-RU" sz="2400" dirty="0"/>
              <a:t>для поиска </a:t>
            </a:r>
            <a:r>
              <a:rPr lang="ru-RU" sz="2400" dirty="0" smtClean="0"/>
              <a:t>объектов. Можно получить: площадь, координаты, прямоугольник </a:t>
            </a:r>
            <a:r>
              <a:rPr lang="ru-RU" sz="2400" dirty="0"/>
              <a:t>объекта 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4125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372701"/>
            <a:ext cx="8280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Визуализация найденных объектов:</a:t>
            </a:r>
            <a:endParaRPr lang="en-US" sz="2800" b="1" dirty="0" smtClean="0"/>
          </a:p>
          <a:p>
            <a:endParaRPr lang="ru-RU" sz="2000" dirty="0" smtClean="0"/>
          </a:p>
          <a:p>
            <a:r>
              <a:rPr lang="en-US" sz="2400" dirty="0" smtClean="0"/>
              <a:t>using </a:t>
            </a:r>
            <a:r>
              <a:rPr lang="en-US" sz="2400" dirty="0" err="1"/>
              <a:t>System.Drawing</a:t>
            </a:r>
            <a:r>
              <a:rPr lang="en-US" sz="2400" dirty="0"/>
              <a:t>;</a:t>
            </a:r>
          </a:p>
          <a:p>
            <a:endParaRPr lang="ru-RU" sz="2400" dirty="0" smtClean="0"/>
          </a:p>
          <a:p>
            <a:r>
              <a:rPr lang="en-US" sz="2400" dirty="0" smtClean="0"/>
              <a:t>Graphics </a:t>
            </a:r>
            <a:r>
              <a:rPr lang="en-US" sz="2400" dirty="0"/>
              <a:t>g = </a:t>
            </a:r>
            <a:r>
              <a:rPr lang="en-US" sz="2400" dirty="0" err="1"/>
              <a:t>Graphics.FromImage</a:t>
            </a:r>
            <a:r>
              <a:rPr lang="en-US" sz="2400" dirty="0"/>
              <a:t>(image);</a:t>
            </a:r>
          </a:p>
          <a:p>
            <a:r>
              <a:rPr lang="en-US" sz="2400" dirty="0" err="1"/>
              <a:t>foreach</a:t>
            </a:r>
            <a:r>
              <a:rPr lang="en-US" sz="2400" dirty="0"/>
              <a:t> (Blob </a:t>
            </a:r>
            <a:r>
              <a:rPr lang="en-US" sz="2400" dirty="0" err="1"/>
              <a:t>blob</a:t>
            </a:r>
            <a:r>
              <a:rPr lang="en-US" sz="2400" dirty="0"/>
              <a:t> in blobs)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Rectangle </a:t>
            </a:r>
            <a:r>
              <a:rPr lang="en-US" sz="2400" dirty="0" err="1"/>
              <a:t>rect</a:t>
            </a:r>
            <a:r>
              <a:rPr lang="en-US" sz="2400" dirty="0"/>
              <a:t> = </a:t>
            </a:r>
            <a:r>
              <a:rPr lang="en-US" sz="2400" dirty="0" err="1"/>
              <a:t>blob.Rectangle</a:t>
            </a:r>
            <a:r>
              <a:rPr lang="en-US" sz="2400" dirty="0"/>
              <a:t>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g.DrawRectangle</a:t>
            </a:r>
            <a:r>
              <a:rPr lang="en-US" sz="2400" dirty="0"/>
              <a:t>(</a:t>
            </a:r>
            <a:r>
              <a:rPr lang="en-US" sz="2400" dirty="0" err="1"/>
              <a:t>Pens.Red</a:t>
            </a:r>
            <a:r>
              <a:rPr lang="en-US" sz="2400" dirty="0"/>
              <a:t>, </a:t>
            </a:r>
            <a:r>
              <a:rPr lang="en-US" sz="2400" dirty="0" err="1"/>
              <a:t>rect</a:t>
            </a:r>
            <a:r>
              <a:rPr lang="en-US" sz="2400" dirty="0"/>
              <a:t>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257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124744"/>
            <a:ext cx="82809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Захват видео с камеры:</a:t>
            </a:r>
            <a:endParaRPr lang="en-US" sz="2800" b="1" dirty="0" smtClean="0"/>
          </a:p>
          <a:p>
            <a:endParaRPr lang="ru-RU" sz="2000" dirty="0" smtClean="0"/>
          </a:p>
          <a:p>
            <a:r>
              <a:rPr lang="en-US" sz="2400" dirty="0"/>
              <a:t>using </a:t>
            </a:r>
            <a:r>
              <a:rPr lang="en-US" sz="2400" dirty="0" err="1"/>
              <a:t>AForge.Video</a:t>
            </a:r>
            <a:r>
              <a:rPr lang="en-US" sz="2400" dirty="0"/>
              <a:t>;</a:t>
            </a:r>
          </a:p>
          <a:p>
            <a:r>
              <a:rPr lang="en-US" sz="2400" dirty="0"/>
              <a:t>using </a:t>
            </a:r>
            <a:r>
              <a:rPr lang="en-US" sz="2400" dirty="0" err="1"/>
              <a:t>AForge.Video.DirectShow</a:t>
            </a:r>
            <a:r>
              <a:rPr lang="en-US" sz="2400" dirty="0"/>
              <a:t>;</a:t>
            </a:r>
          </a:p>
          <a:p>
            <a:endParaRPr lang="ru-RU" sz="2400" dirty="0" smtClean="0"/>
          </a:p>
          <a:p>
            <a:r>
              <a:rPr lang="en-US" sz="2400" dirty="0" err="1" smtClean="0"/>
              <a:t>FilterInfoCollection</a:t>
            </a:r>
            <a:r>
              <a:rPr lang="en-US" sz="2400" dirty="0" smtClean="0"/>
              <a:t> </a:t>
            </a:r>
            <a:r>
              <a:rPr lang="en-US" sz="2400" dirty="0" err="1"/>
              <a:t>videoDevices</a:t>
            </a:r>
            <a:r>
              <a:rPr lang="en-US" sz="2400" dirty="0"/>
              <a:t> = </a:t>
            </a:r>
          </a:p>
          <a:p>
            <a:r>
              <a:rPr lang="en-US" sz="2400" dirty="0"/>
              <a:t>    new </a:t>
            </a:r>
            <a:r>
              <a:rPr lang="en-US" sz="2400" dirty="0" err="1"/>
              <a:t>FilterInfoCollection</a:t>
            </a:r>
            <a:r>
              <a:rPr lang="en-US" sz="2400" dirty="0"/>
              <a:t>(</a:t>
            </a:r>
            <a:r>
              <a:rPr lang="en-US" sz="2400" dirty="0" err="1"/>
              <a:t>FilterCategory.VideoInputDevice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VideoCaptureDevice</a:t>
            </a:r>
            <a:r>
              <a:rPr lang="en-US" sz="2400" dirty="0"/>
              <a:t> </a:t>
            </a:r>
            <a:r>
              <a:rPr lang="en-US" sz="2400" dirty="0" err="1"/>
              <a:t>videoSource</a:t>
            </a:r>
            <a:r>
              <a:rPr lang="en-US" sz="2400" dirty="0"/>
              <a:t> = </a:t>
            </a:r>
          </a:p>
          <a:p>
            <a:r>
              <a:rPr lang="en-US" sz="2400" dirty="0"/>
              <a:t>    new </a:t>
            </a:r>
            <a:r>
              <a:rPr lang="en-US" sz="2400" dirty="0" err="1"/>
              <a:t>VideoCaptureDevice</a:t>
            </a:r>
            <a:r>
              <a:rPr lang="en-US" sz="2400" dirty="0"/>
              <a:t>(</a:t>
            </a:r>
            <a:r>
              <a:rPr lang="en-US" sz="2400" dirty="0" err="1"/>
              <a:t>videoDevices</a:t>
            </a:r>
            <a:r>
              <a:rPr lang="en-US" sz="2400" dirty="0"/>
              <a:t>[0].</a:t>
            </a:r>
            <a:r>
              <a:rPr lang="en-US" sz="2400" dirty="0" err="1"/>
              <a:t>MonikerString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videoSource.NewFrame</a:t>
            </a:r>
            <a:r>
              <a:rPr lang="en-US" sz="2400" dirty="0"/>
              <a:t> += (sender, </a:t>
            </a:r>
            <a:r>
              <a:rPr lang="en-US" sz="2400" dirty="0" err="1"/>
              <a:t>eventArgs</a:t>
            </a:r>
            <a:r>
              <a:rPr lang="en-US" sz="2400" dirty="0"/>
              <a:t>) =&gt;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Bitmap frame = (Bitmap)</a:t>
            </a:r>
            <a:r>
              <a:rPr lang="en-US" sz="2400" dirty="0" err="1"/>
              <a:t>eventArgs.Frame.Clone</a:t>
            </a:r>
            <a:r>
              <a:rPr lang="en-US" sz="2400" dirty="0"/>
              <a:t>();</a:t>
            </a:r>
          </a:p>
          <a:p>
            <a:r>
              <a:rPr lang="en-US" sz="2400" dirty="0"/>
              <a:t>    // </a:t>
            </a:r>
            <a:r>
              <a:rPr lang="ru-RU" sz="2400" dirty="0"/>
              <a:t>обработка </a:t>
            </a:r>
            <a:r>
              <a:rPr lang="ru-RU" sz="2400" dirty="0" smtClean="0"/>
              <a:t>кадра…</a:t>
            </a:r>
            <a:endParaRPr lang="ru-RU" sz="2400" dirty="0"/>
          </a:p>
          <a:p>
            <a:r>
              <a:rPr lang="ru-RU" sz="2400" dirty="0"/>
              <a:t>};</a:t>
            </a:r>
          </a:p>
          <a:p>
            <a:r>
              <a:rPr lang="en-US" sz="2400" dirty="0" err="1"/>
              <a:t>videoSource.Start</a:t>
            </a:r>
            <a:r>
              <a:rPr lang="en-US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1950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7338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Альтернативы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484784"/>
            <a:ext cx="8280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AForge.NET – </a:t>
            </a:r>
            <a:r>
              <a:rPr lang="ru-RU" sz="2800" dirty="0" smtClean="0"/>
              <a:t>хороший </a:t>
            </a:r>
            <a:r>
              <a:rPr lang="ru-RU" sz="2800" dirty="0"/>
              <a:t>инструмент для: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изучения </a:t>
            </a:r>
            <a:r>
              <a:rPr lang="ru-RU" sz="2800" dirty="0"/>
              <a:t>компьютерного зрения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быстрых </a:t>
            </a:r>
            <a:r>
              <a:rPr lang="ru-RU" sz="2800" dirty="0"/>
              <a:t>прототипов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простых </a:t>
            </a:r>
            <a:r>
              <a:rPr lang="ru-RU" sz="2800" dirty="0"/>
              <a:t>задач обработки изображений </a:t>
            </a:r>
          </a:p>
          <a:p>
            <a:endParaRPr lang="ru-RU" sz="2800" dirty="0" smtClean="0"/>
          </a:p>
          <a:p>
            <a:r>
              <a:rPr lang="ru-RU" sz="2800" dirty="0" smtClean="0"/>
              <a:t>Для </a:t>
            </a:r>
            <a:r>
              <a:rPr lang="ru-RU" sz="2800" dirty="0"/>
              <a:t>серьезных проектов лучше рассмотреть современные </a:t>
            </a:r>
            <a:r>
              <a:rPr lang="ru-RU" sz="2800" dirty="0" smtClean="0"/>
              <a:t>решения: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OpenCV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Accord.NET – </a:t>
            </a:r>
            <a:r>
              <a:rPr lang="ru-RU" sz="2800" dirty="0" smtClean="0"/>
              <a:t>продолжение </a:t>
            </a:r>
            <a:r>
              <a:rPr lang="en-US" sz="2800" dirty="0" err="1" smtClean="0"/>
              <a:t>AForge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Emgu</a:t>
            </a:r>
            <a:r>
              <a:rPr lang="en-US" sz="2800" dirty="0" smtClean="0"/>
              <a:t> CV – </a:t>
            </a:r>
            <a:r>
              <a:rPr lang="ru-RU" sz="2800" dirty="0" smtClean="0"/>
              <a:t>обертка </a:t>
            </a:r>
            <a:r>
              <a:rPr lang="en-US" sz="2800" dirty="0" err="1" smtClean="0"/>
              <a:t>OpenCV</a:t>
            </a:r>
            <a:r>
              <a:rPr lang="en-US" sz="2800" dirty="0" smtClean="0"/>
              <a:t> </a:t>
            </a:r>
            <a:r>
              <a:rPr lang="ru-RU" sz="2800" dirty="0" smtClean="0"/>
              <a:t>для .</a:t>
            </a:r>
            <a:r>
              <a:rPr lang="en-US" sz="2800" dirty="0" smtClean="0"/>
              <a:t>NET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931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7338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Альтернативы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26876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OpenCV</a:t>
            </a:r>
            <a:r>
              <a:rPr lang="ru-RU" sz="2400" dirty="0"/>
              <a:t> (</a:t>
            </a:r>
            <a:r>
              <a:rPr lang="ru-RU" sz="2400" dirty="0" err="1"/>
              <a:t>Open</a:t>
            </a:r>
            <a:r>
              <a:rPr lang="ru-RU" sz="2400" dirty="0"/>
              <a:t> </a:t>
            </a:r>
            <a:r>
              <a:rPr lang="ru-RU" sz="2400" dirty="0" err="1"/>
              <a:t>Source</a:t>
            </a:r>
            <a:r>
              <a:rPr lang="ru-RU" sz="2400" dirty="0"/>
              <a:t> </a:t>
            </a:r>
            <a:r>
              <a:rPr lang="ru-RU" sz="2400" dirty="0" err="1"/>
              <a:t>Computer</a:t>
            </a:r>
            <a:r>
              <a:rPr lang="ru-RU" sz="2400" dirty="0"/>
              <a:t> </a:t>
            </a:r>
            <a:r>
              <a:rPr lang="ru-RU" sz="2400" dirty="0" err="1"/>
              <a:t>Vision</a:t>
            </a:r>
            <a:r>
              <a:rPr lang="ru-RU" sz="2400" dirty="0"/>
              <a:t> </a:t>
            </a:r>
            <a:r>
              <a:rPr lang="ru-RU" sz="2400" dirty="0" err="1"/>
              <a:t>Library</a:t>
            </a:r>
            <a:r>
              <a:rPr lang="ru-RU" sz="2400" dirty="0" smtClean="0"/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Одна из популярных </a:t>
            </a:r>
            <a:r>
              <a:rPr lang="ru-RU" sz="2400" dirty="0"/>
              <a:t>библиотек </a:t>
            </a:r>
            <a:r>
              <a:rPr lang="ru-RU" sz="2400" dirty="0" smtClean="0"/>
              <a:t>CV.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Написана </a:t>
            </a:r>
            <a:r>
              <a:rPr lang="ru-RU" sz="2400" dirty="0"/>
              <a:t>на C/C</a:t>
            </a:r>
            <a:r>
              <a:rPr lang="ru-RU" sz="2400" dirty="0" smtClean="0"/>
              <a:t>++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Имеет </a:t>
            </a:r>
            <a:r>
              <a:rPr lang="ru-RU" sz="2400" dirty="0" err="1"/>
              <a:t>биндинги</a:t>
            </a:r>
            <a:r>
              <a:rPr lang="ru-RU" sz="2400" dirty="0"/>
              <a:t> для </a:t>
            </a:r>
            <a:r>
              <a:rPr lang="ru-RU" sz="2400" dirty="0" err="1"/>
              <a:t>Python</a:t>
            </a:r>
            <a:r>
              <a:rPr lang="ru-RU" sz="2400" dirty="0"/>
              <a:t>, </a:t>
            </a:r>
            <a:r>
              <a:rPr lang="ru-RU" sz="2400" dirty="0" err="1"/>
              <a:t>Java</a:t>
            </a:r>
            <a:r>
              <a:rPr lang="ru-RU" sz="2400" dirty="0"/>
              <a:t> и др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Обработка изображений: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фильтры </a:t>
            </a:r>
            <a:r>
              <a:rPr lang="ru-RU" sz="2400" dirty="0"/>
              <a:t>(</a:t>
            </a:r>
            <a:r>
              <a:rPr lang="en-US" sz="2400" dirty="0"/>
              <a:t>blur, edge detection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преобразования </a:t>
            </a:r>
            <a:r>
              <a:rPr lang="ru-RU" sz="2400" dirty="0"/>
              <a:t>(</a:t>
            </a:r>
            <a:r>
              <a:rPr lang="en-US" sz="2400" dirty="0"/>
              <a:t>rotate, resize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цветовые пространства</a:t>
            </a:r>
          </a:p>
          <a:p>
            <a:r>
              <a:rPr lang="ru-RU" sz="2400" dirty="0" smtClean="0"/>
              <a:t>Компьютерное зрение: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 smtClean="0"/>
              <a:t>детекция</a:t>
            </a:r>
            <a:r>
              <a:rPr lang="ru-RU" sz="2400" dirty="0" smtClean="0"/>
              <a:t> </a:t>
            </a:r>
            <a:r>
              <a:rPr lang="ru-RU" sz="2400" dirty="0"/>
              <a:t>лиц (</a:t>
            </a:r>
            <a:r>
              <a:rPr lang="en-US" sz="2400" dirty="0" err="1"/>
              <a:t>Haar</a:t>
            </a:r>
            <a:r>
              <a:rPr lang="en-US" sz="2400" dirty="0"/>
              <a:t> Cascades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распознавание объектов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трекинг</a:t>
            </a:r>
          </a:p>
          <a:p>
            <a:r>
              <a:rPr lang="ru-RU" sz="2400" dirty="0" smtClean="0"/>
              <a:t>Современные возможности: </a:t>
            </a:r>
            <a:r>
              <a:rPr lang="en-US" sz="2400" dirty="0" smtClean="0"/>
              <a:t>Deep </a:t>
            </a:r>
            <a:r>
              <a:rPr lang="en-US" sz="2400" dirty="0"/>
              <a:t>Learning (DNN </a:t>
            </a:r>
            <a:r>
              <a:rPr lang="ru-RU" sz="2400" dirty="0"/>
              <a:t>модуль</a:t>
            </a:r>
            <a:r>
              <a:rPr lang="ru-RU" sz="2400" dirty="0" smtClean="0"/>
              <a:t>), интеграция </a:t>
            </a:r>
            <a:r>
              <a:rPr lang="ru-RU" sz="2400" dirty="0"/>
              <a:t>с </a:t>
            </a:r>
            <a:r>
              <a:rPr lang="en-US" sz="2400" dirty="0" err="1"/>
              <a:t>TensorFlow</a:t>
            </a:r>
            <a:r>
              <a:rPr lang="en-US" sz="2400" dirty="0"/>
              <a:t> / </a:t>
            </a:r>
            <a:r>
              <a:rPr lang="en-US" sz="2400" dirty="0" err="1" smtClean="0"/>
              <a:t>PyTorch</a:t>
            </a:r>
            <a:r>
              <a:rPr lang="ru-RU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720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45574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Лабораторная работа </a:t>
            </a:r>
            <a:r>
              <a:rPr lang="ru-RU" sz="3200" b="1" dirty="0" smtClean="0">
                <a:solidFill>
                  <a:schemeClr val="tx2"/>
                </a:solidFill>
              </a:rPr>
              <a:t>1</a:t>
            </a:r>
            <a:r>
              <a:rPr lang="ru-RU" sz="3200" b="1" dirty="0">
                <a:solidFill>
                  <a:schemeClr val="tx2"/>
                </a:solidFill>
              </a:rPr>
              <a:t>2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343665"/>
            <a:ext cx="82809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Разработать приложение с </a:t>
            </a:r>
            <a:r>
              <a:rPr lang="ru-RU" sz="2400" b="1" dirty="0" smtClean="0"/>
              <a:t>графическим интерфейсом </a:t>
            </a:r>
            <a:r>
              <a:rPr lang="ru-RU" sz="2400" dirty="0" smtClean="0"/>
              <a:t>для редактирования растровых изображений.</a:t>
            </a:r>
          </a:p>
          <a:p>
            <a:endParaRPr lang="ru-RU" sz="2400" dirty="0" smtClean="0"/>
          </a:p>
          <a:p>
            <a:r>
              <a:rPr lang="ru-RU" sz="2400" dirty="0" smtClean="0"/>
              <a:t>Приложение должно иметь следующие функции: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Изменение яркости и контрастности.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Уменьшение размера изображения.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Увеличение резкости на граничных точках.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Удаление шумов (сглаживание изображения).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smtClean="0"/>
              <a:t>Перевод в черно-белое изображение (пороговая бинаризация).</a:t>
            </a:r>
          </a:p>
          <a:p>
            <a:endParaRPr lang="ru-RU" sz="2400" b="1" i="1" dirty="0" smtClean="0"/>
          </a:p>
          <a:p>
            <a:r>
              <a:rPr lang="ru-RU" sz="2400" dirty="0" smtClean="0"/>
              <a:t>Все преобразования необходимо выполнять </a:t>
            </a:r>
            <a:r>
              <a:rPr lang="ru-RU" sz="2400" b="1" dirty="0" smtClean="0"/>
              <a:t>с указанными пользователем параметрами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61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302970</TotalTime>
  <Words>964</Words>
  <Application>Microsoft Office PowerPoint</Application>
  <PresentationFormat>Экран (4:3)</PresentationFormat>
  <Paragraphs>218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Евгения</cp:lastModifiedBy>
  <cp:revision>750</cp:revision>
  <dcterms:created xsi:type="dcterms:W3CDTF">2012-09-05T13:58:41Z</dcterms:created>
  <dcterms:modified xsi:type="dcterms:W3CDTF">2026-04-17T03:24:17Z</dcterms:modified>
</cp:coreProperties>
</file>