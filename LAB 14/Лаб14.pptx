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64" r:id="rId2"/>
    <p:sldId id="288" r:id="rId3"/>
    <p:sldId id="350" r:id="rId4"/>
    <p:sldId id="323" r:id="rId5"/>
    <p:sldId id="342" r:id="rId6"/>
    <p:sldId id="334" r:id="rId7"/>
    <p:sldId id="335" r:id="rId8"/>
    <p:sldId id="336" r:id="rId9"/>
    <p:sldId id="337" r:id="rId10"/>
    <p:sldId id="338" r:id="rId11"/>
    <p:sldId id="346" r:id="rId12"/>
    <p:sldId id="339" r:id="rId13"/>
    <p:sldId id="340" r:id="rId14"/>
    <p:sldId id="347" r:id="rId15"/>
    <p:sldId id="341" r:id="rId16"/>
    <p:sldId id="333" r:id="rId17"/>
    <p:sldId id="343" r:id="rId18"/>
    <p:sldId id="344" r:id="rId19"/>
    <p:sldId id="345" r:id="rId20"/>
    <p:sldId id="349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66" autoAdjust="0"/>
  </p:normalViewPr>
  <p:slideViewPr>
    <p:cSldViewPr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922A78-FE4E-44E2-9CA3-DB77F2ACD01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F1944-DE8D-4E82-A33C-4CF6513193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371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776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368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508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227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889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40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5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41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031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074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06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5CE24-9CD1-4E26-AD1D-600F5DCD832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68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48288" y="1628800"/>
            <a:ext cx="82001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4000" b="1" dirty="0">
                <a:solidFill>
                  <a:schemeClr val="tx2"/>
                </a:solidFill>
              </a:rPr>
              <a:t>Объектная модель </a:t>
            </a:r>
            <a:r>
              <a:rPr lang="ru-RU" sz="4000" b="1" dirty="0" err="1" smtClean="0">
                <a:solidFill>
                  <a:schemeClr val="tx2"/>
                </a:solidFill>
              </a:rPr>
              <a:t>Excel</a:t>
            </a:r>
            <a:endParaRPr lang="en-US" sz="36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20296" y="2480702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432048" y="2678723"/>
            <a:ext cx="824440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Font typeface="Arial" pitchFamily="34" charset="0"/>
              <a:buChar char="•"/>
            </a:pPr>
            <a:r>
              <a:rPr lang="sah-RU" sz="3200" dirty="0" smtClean="0"/>
              <a:t>Объект </a:t>
            </a:r>
            <a:r>
              <a:rPr lang="en-US" sz="3200" dirty="0" smtClean="0"/>
              <a:t>Application</a:t>
            </a:r>
            <a:endParaRPr lang="ru-RU" sz="3200" dirty="0" smtClean="0"/>
          </a:p>
          <a:p>
            <a:pPr marL="457200" lvl="0" indent="-457200">
              <a:buFont typeface="Arial" pitchFamily="34" charset="0"/>
              <a:buChar char="•"/>
            </a:pPr>
            <a:r>
              <a:rPr lang="sah-RU" sz="3200" dirty="0" smtClean="0"/>
              <a:t>Класс </a:t>
            </a:r>
            <a:r>
              <a:rPr lang="en-US" sz="3200" dirty="0" smtClean="0"/>
              <a:t>Workbook</a:t>
            </a:r>
            <a:endParaRPr lang="ru-RU" sz="3200" dirty="0" smtClean="0"/>
          </a:p>
          <a:p>
            <a:pPr marL="457200" lvl="0" indent="-457200">
              <a:buFont typeface="Arial" pitchFamily="34" charset="0"/>
              <a:buChar char="•"/>
            </a:pPr>
            <a:r>
              <a:rPr lang="sah-RU" sz="3200" dirty="0" smtClean="0"/>
              <a:t>Класс </a:t>
            </a:r>
            <a:r>
              <a:rPr lang="en-US" sz="3200" dirty="0" smtClean="0"/>
              <a:t>Worksheet</a:t>
            </a:r>
            <a:endParaRPr lang="ru-RU" sz="3200" dirty="0" smtClean="0"/>
          </a:p>
          <a:p>
            <a:pPr marL="457200" lvl="0" indent="-457200">
              <a:buFont typeface="Arial" pitchFamily="34" charset="0"/>
              <a:buChar char="•"/>
            </a:pPr>
            <a:r>
              <a:rPr lang="sah-RU" sz="3200" dirty="0" smtClean="0"/>
              <a:t>Объект </a:t>
            </a:r>
            <a:r>
              <a:rPr lang="en-US" sz="3200" dirty="0" smtClean="0"/>
              <a:t>Range</a:t>
            </a:r>
            <a:endParaRPr lang="ru-RU" sz="3200" dirty="0" smtClean="0"/>
          </a:p>
          <a:p>
            <a:pPr marL="457200" lvl="0" indent="-457200">
              <a:buFont typeface="Arial" pitchFamily="34" charset="0"/>
              <a:buChar char="•"/>
            </a:pPr>
            <a:r>
              <a:rPr lang="ru-RU" sz="3200" dirty="0" smtClean="0"/>
              <a:t>Импорт (экспорт) данных в (из) </a:t>
            </a:r>
            <a:r>
              <a:rPr lang="en-US" sz="3200" dirty="0" smtClean="0"/>
              <a:t>Excel</a:t>
            </a:r>
            <a:endParaRPr lang="sah-RU" sz="3200" dirty="0" smtClean="0"/>
          </a:p>
        </p:txBody>
      </p:sp>
    </p:spTree>
    <p:extLst>
      <p:ext uri="{BB962C8B-B14F-4D97-AF65-F5344CB8AC3E}">
        <p14:creationId xmlns:p14="http://schemas.microsoft.com/office/powerpoint/2010/main" val="698352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4516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Объектная модель </a:t>
            </a:r>
            <a:r>
              <a:rPr lang="ru-RU" sz="3200" b="1" dirty="0" err="1">
                <a:solidFill>
                  <a:schemeClr val="tx2"/>
                </a:solidFill>
              </a:rPr>
              <a:t>Excel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611560" y="3789040"/>
            <a:ext cx="820891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Основные объекты </a:t>
            </a:r>
            <a:r>
              <a:rPr lang="en-US" sz="2800" b="1" dirty="0" smtClean="0"/>
              <a:t>Excel:</a:t>
            </a:r>
            <a:endParaRPr lang="ru-RU" sz="2800" b="1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 smtClean="0">
                <a:solidFill>
                  <a:srgbClr val="0070C0"/>
                </a:solidFill>
              </a:rPr>
              <a:t>Application</a:t>
            </a:r>
            <a:r>
              <a:rPr lang="ru-RU" sz="2800" b="1" dirty="0" smtClean="0">
                <a:solidFill>
                  <a:srgbClr val="0070C0"/>
                </a:solidFill>
              </a:rPr>
              <a:t> </a:t>
            </a:r>
            <a:r>
              <a:rPr lang="ru-RU" sz="2800" dirty="0" smtClean="0"/>
              <a:t>– приложение </a:t>
            </a:r>
            <a:r>
              <a:rPr lang="en-US" sz="2800" dirty="0"/>
              <a:t>Excel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 smtClean="0">
                <a:solidFill>
                  <a:srgbClr val="0070C0"/>
                </a:solidFill>
              </a:rPr>
              <a:t>Workbook</a:t>
            </a:r>
            <a:r>
              <a:rPr lang="ru-RU" sz="2800" b="1" dirty="0">
                <a:solidFill>
                  <a:srgbClr val="0070C0"/>
                </a:solidFill>
              </a:rPr>
              <a:t> </a:t>
            </a:r>
            <a:r>
              <a:rPr lang="ru-RU" sz="2800" dirty="0" smtClean="0"/>
              <a:t>– рабочая книга</a:t>
            </a: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 smtClean="0">
                <a:solidFill>
                  <a:srgbClr val="0070C0"/>
                </a:solidFill>
              </a:rPr>
              <a:t>Worksheet</a:t>
            </a:r>
            <a:r>
              <a:rPr lang="ru-RU" sz="2800" b="1" dirty="0" smtClean="0">
                <a:solidFill>
                  <a:srgbClr val="0070C0"/>
                </a:solidFill>
              </a:rPr>
              <a:t> </a:t>
            </a:r>
            <a:r>
              <a:rPr lang="ru-RU" sz="2800" dirty="0" smtClean="0"/>
              <a:t>– рабочий лист</a:t>
            </a: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 smtClean="0">
                <a:solidFill>
                  <a:srgbClr val="0070C0"/>
                </a:solidFill>
              </a:rPr>
              <a:t>Range</a:t>
            </a:r>
            <a:r>
              <a:rPr lang="ru-RU" sz="2800" b="1" dirty="0">
                <a:solidFill>
                  <a:srgbClr val="0070C0"/>
                </a:solidFill>
              </a:rPr>
              <a:t> </a:t>
            </a:r>
            <a:r>
              <a:rPr lang="ru-RU" sz="2800" dirty="0" smtClean="0"/>
              <a:t>– ячейка или </a:t>
            </a:r>
            <a:r>
              <a:rPr lang="ru-RU" sz="2800" dirty="0"/>
              <a:t>группа </a:t>
            </a:r>
            <a:r>
              <a:rPr lang="ru-RU" sz="2800" dirty="0" smtClean="0"/>
              <a:t>ячеек рабочего листа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Cells </a:t>
            </a:r>
            <a:endParaRPr lang="ru-RU" sz="28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67544" y="1397094"/>
            <a:ext cx="820891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Microsoft Excel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smtClean="0">
                <a:solidFill>
                  <a:srgbClr val="002060"/>
                </a:solidFill>
              </a:rPr>
              <a:t>(Microsoft </a:t>
            </a:r>
            <a:r>
              <a:rPr lang="en-US" sz="2800" dirty="0">
                <a:solidFill>
                  <a:srgbClr val="002060"/>
                </a:solidFill>
              </a:rPr>
              <a:t>Office Excel) — </a:t>
            </a:r>
            <a:r>
              <a:rPr lang="ru-RU" sz="2800" dirty="0">
                <a:solidFill>
                  <a:srgbClr val="002060"/>
                </a:solidFill>
              </a:rPr>
              <a:t>программа для работы с электронными таблицами, созданная корпорацией </a:t>
            </a:r>
            <a:r>
              <a:rPr lang="en-US" sz="2800" dirty="0">
                <a:solidFill>
                  <a:srgbClr val="002060"/>
                </a:solidFill>
              </a:rPr>
              <a:t>Microsoft </a:t>
            </a:r>
            <a:r>
              <a:rPr lang="ru-RU" sz="2800" dirty="0">
                <a:solidFill>
                  <a:srgbClr val="002060"/>
                </a:solidFill>
              </a:rPr>
              <a:t>для </a:t>
            </a:r>
            <a:r>
              <a:rPr lang="en-US" sz="2800" dirty="0">
                <a:solidFill>
                  <a:srgbClr val="002060"/>
                </a:solidFill>
              </a:rPr>
              <a:t>Microsoft Windows, Windows NT </a:t>
            </a:r>
            <a:r>
              <a:rPr lang="ru-RU" sz="2800" dirty="0">
                <a:solidFill>
                  <a:srgbClr val="002060"/>
                </a:solidFill>
              </a:rPr>
              <a:t>и </a:t>
            </a:r>
            <a:r>
              <a:rPr lang="en-US" sz="2800" dirty="0">
                <a:solidFill>
                  <a:srgbClr val="002060"/>
                </a:solidFill>
              </a:rPr>
              <a:t>Mac </a:t>
            </a:r>
            <a:r>
              <a:rPr lang="en-US" sz="2800" dirty="0" smtClean="0">
                <a:solidFill>
                  <a:srgbClr val="002060"/>
                </a:solidFill>
              </a:rPr>
              <a:t>OS</a:t>
            </a:r>
            <a:r>
              <a:rPr lang="ru-RU" sz="2800" dirty="0" smtClean="0">
                <a:solidFill>
                  <a:srgbClr val="002060"/>
                </a:solidFill>
              </a:rPr>
              <a:t>.</a:t>
            </a:r>
            <a:endParaRPr lang="ru-RU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0677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4516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Объектная модель </a:t>
            </a:r>
            <a:r>
              <a:rPr lang="ru-RU" sz="3200" b="1" dirty="0" err="1">
                <a:solidFill>
                  <a:schemeClr val="tx2"/>
                </a:solidFill>
              </a:rPr>
              <a:t>Excel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467544" y="3122965"/>
            <a:ext cx="820891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Для работы с объектами </a:t>
            </a:r>
            <a:r>
              <a:rPr lang="en-US" sz="2800" dirty="0" smtClean="0"/>
              <a:t>Excel</a:t>
            </a:r>
            <a:r>
              <a:rPr lang="ru-RU" sz="2800" dirty="0" smtClean="0"/>
              <a:t>,</a:t>
            </a:r>
            <a:r>
              <a:rPr lang="ru-RU" sz="2800" dirty="0"/>
              <a:t> </a:t>
            </a:r>
            <a:r>
              <a:rPr lang="ru-RU" sz="2800" dirty="0" smtClean="0"/>
              <a:t>необходимо добавить соответствующие библиотеки: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" r="34487" b="-1143"/>
          <a:stretch/>
        </p:blipFill>
        <p:spPr bwMode="auto">
          <a:xfrm>
            <a:off x="678907" y="4329328"/>
            <a:ext cx="3564000" cy="20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" r="35019"/>
          <a:stretch/>
        </p:blipFill>
        <p:spPr bwMode="auto">
          <a:xfrm>
            <a:off x="5028104" y="4293816"/>
            <a:ext cx="3528000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1196752"/>
            <a:ext cx="3048000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Прямоугольник 11"/>
          <p:cNvSpPr/>
          <p:nvPr/>
        </p:nvSpPr>
        <p:spPr>
          <a:xfrm>
            <a:off x="251520" y="1321604"/>
            <a:ext cx="54772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using </a:t>
            </a:r>
            <a:r>
              <a:rPr lang="en-US" sz="2800" dirty="0" err="1"/>
              <a:t>Microsoft.Office.Interop.Excel</a:t>
            </a:r>
            <a:r>
              <a:rPr lang="en-US" sz="2800" dirty="0"/>
              <a:t>;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261594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35142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ah-RU" sz="3200" b="1" dirty="0">
                <a:solidFill>
                  <a:schemeClr val="tx2"/>
                </a:solidFill>
              </a:rPr>
              <a:t>Объект </a:t>
            </a:r>
            <a:r>
              <a:rPr lang="en-US" sz="3200" b="1" dirty="0">
                <a:solidFill>
                  <a:schemeClr val="tx2"/>
                </a:solidFill>
              </a:rPr>
              <a:t>Application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467544" y="1556792"/>
            <a:ext cx="828092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Объект </a:t>
            </a:r>
            <a:r>
              <a:rPr lang="ru-RU" sz="2800" b="1" dirty="0" err="1">
                <a:solidFill>
                  <a:srgbClr val="0070C0"/>
                </a:solidFill>
              </a:rPr>
              <a:t>Application</a:t>
            </a:r>
            <a:r>
              <a:rPr lang="ru-RU" sz="2800" b="1" dirty="0">
                <a:solidFill>
                  <a:srgbClr val="0070C0"/>
                </a:solidFill>
              </a:rPr>
              <a:t> </a:t>
            </a:r>
            <a:r>
              <a:rPr lang="ru-RU" sz="2800" b="1" dirty="0" smtClean="0"/>
              <a:t>– это приложение </a:t>
            </a:r>
            <a:r>
              <a:rPr lang="ru-RU" sz="2800" b="1" dirty="0" err="1" smtClean="0"/>
              <a:t>Excel</a:t>
            </a:r>
            <a:endParaRPr lang="ru-RU" sz="2800" b="1" dirty="0" smtClean="0"/>
          </a:p>
          <a:p>
            <a:endParaRPr lang="ru-RU" sz="2800" dirty="0" smtClean="0"/>
          </a:p>
          <a:p>
            <a:r>
              <a:rPr lang="ru-RU" sz="2800" dirty="0" smtClean="0"/>
              <a:t>Свойства </a:t>
            </a:r>
            <a:r>
              <a:rPr lang="ru-RU" sz="2800" dirty="0" err="1"/>
              <a:t>Application</a:t>
            </a:r>
            <a:r>
              <a:rPr lang="ru-RU" sz="2800" dirty="0"/>
              <a:t>, управляющие </a:t>
            </a:r>
            <a:r>
              <a:rPr lang="ru-RU" sz="2800" dirty="0" smtClean="0"/>
              <a:t>отображением:</a:t>
            </a:r>
          </a:p>
          <a:p>
            <a:endParaRPr lang="ru-RU" sz="2800" b="1" dirty="0" smtClean="0"/>
          </a:p>
          <a:p>
            <a:r>
              <a:rPr lang="ru-RU" sz="2800" b="1" dirty="0" err="1" smtClean="0">
                <a:solidFill>
                  <a:srgbClr val="0070C0"/>
                </a:solidFill>
              </a:rPr>
              <a:t>DisplayAlerts</a:t>
            </a:r>
            <a:r>
              <a:rPr lang="ru-RU" sz="2800" b="1" dirty="0" smtClean="0"/>
              <a:t> </a:t>
            </a:r>
            <a:r>
              <a:rPr lang="ru-RU" sz="2800" dirty="0" smtClean="0"/>
              <a:t>– показывать предупреждающие сообщения</a:t>
            </a:r>
          </a:p>
          <a:p>
            <a:r>
              <a:rPr lang="ru-RU" sz="2800" b="1" dirty="0" err="1" smtClean="0">
                <a:solidFill>
                  <a:srgbClr val="0070C0"/>
                </a:solidFill>
              </a:rPr>
              <a:t>DisplayFormulaBar</a:t>
            </a:r>
            <a:r>
              <a:rPr lang="ru-RU" sz="2800" b="1" dirty="0" smtClean="0">
                <a:solidFill>
                  <a:srgbClr val="0070C0"/>
                </a:solidFill>
              </a:rPr>
              <a:t> </a:t>
            </a:r>
            <a:r>
              <a:rPr lang="ru-RU" sz="2800" dirty="0" smtClean="0"/>
              <a:t>– показывать стандартную </a:t>
            </a:r>
            <a:r>
              <a:rPr lang="ru-RU" sz="2800" dirty="0"/>
              <a:t>строку формулы для редактирования </a:t>
            </a:r>
            <a:r>
              <a:rPr lang="ru-RU" sz="2800" dirty="0" smtClean="0"/>
              <a:t>ячеек</a:t>
            </a:r>
            <a:endParaRPr lang="ru-RU" sz="2800" dirty="0"/>
          </a:p>
          <a:p>
            <a:r>
              <a:rPr lang="ru-RU" sz="2800" b="1" dirty="0" err="1" smtClean="0">
                <a:solidFill>
                  <a:srgbClr val="0070C0"/>
                </a:solidFill>
              </a:rPr>
              <a:t>DisplayFullScreen</a:t>
            </a:r>
            <a:r>
              <a:rPr lang="ru-RU" sz="2800" b="1" dirty="0" smtClean="0">
                <a:solidFill>
                  <a:srgbClr val="0070C0"/>
                </a:solidFill>
              </a:rPr>
              <a:t> </a:t>
            </a:r>
            <a:r>
              <a:rPr lang="ru-RU" sz="2800" dirty="0" smtClean="0"/>
              <a:t>– выполнять в </a:t>
            </a:r>
            <a:r>
              <a:rPr lang="ru-RU" sz="2800" dirty="0"/>
              <a:t>полноэкранном </a:t>
            </a:r>
            <a:r>
              <a:rPr lang="ru-RU" sz="2800" dirty="0" smtClean="0"/>
              <a:t>режиме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31014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35142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ah-RU" sz="3200" b="1" dirty="0">
                <a:solidFill>
                  <a:schemeClr val="tx2"/>
                </a:solidFill>
              </a:rPr>
              <a:t>Объект </a:t>
            </a:r>
            <a:r>
              <a:rPr lang="en-US" sz="3200" b="1" dirty="0">
                <a:solidFill>
                  <a:schemeClr val="tx2"/>
                </a:solidFill>
              </a:rPr>
              <a:t>Application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395536" y="1196752"/>
            <a:ext cx="856895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Свойства </a:t>
            </a:r>
            <a:r>
              <a:rPr lang="ru-RU" sz="2400" dirty="0" err="1" smtClean="0"/>
              <a:t>Application</a:t>
            </a:r>
            <a:r>
              <a:rPr lang="ru-RU" sz="2400" dirty="0"/>
              <a:t>, </a:t>
            </a:r>
            <a:r>
              <a:rPr lang="ru-RU" sz="2400" dirty="0" smtClean="0"/>
              <a:t>возвращающи</a:t>
            </a:r>
            <a:r>
              <a:rPr lang="ru-RU" sz="2400" dirty="0"/>
              <a:t>е</a:t>
            </a:r>
            <a:r>
              <a:rPr lang="ru-RU" sz="2400" dirty="0" smtClean="0"/>
              <a:t> объекты:</a:t>
            </a:r>
          </a:p>
          <a:p>
            <a:r>
              <a:rPr lang="ru-RU" sz="2400" b="1" dirty="0" err="1" smtClean="0">
                <a:solidFill>
                  <a:srgbClr val="0070C0"/>
                </a:solidFill>
              </a:rPr>
              <a:t>ActiveCell</a:t>
            </a:r>
            <a:r>
              <a:rPr lang="ru-RU" sz="2400" dirty="0"/>
              <a:t> </a:t>
            </a:r>
            <a:r>
              <a:rPr lang="ru-RU" sz="2400" dirty="0" smtClean="0"/>
              <a:t>– возвращает ссылку </a:t>
            </a:r>
            <a:r>
              <a:rPr lang="ru-RU" sz="2400" dirty="0"/>
              <a:t>на текущую активную ячейку активного </a:t>
            </a:r>
            <a:r>
              <a:rPr lang="ru-RU" sz="2400" dirty="0" smtClean="0"/>
              <a:t>окна. </a:t>
            </a:r>
            <a:endParaRPr lang="ru-RU" sz="2400" dirty="0"/>
          </a:p>
          <a:p>
            <a:r>
              <a:rPr lang="ru-RU" sz="2400" b="1" dirty="0" err="1" smtClean="0">
                <a:solidFill>
                  <a:srgbClr val="0070C0"/>
                </a:solidFill>
              </a:rPr>
              <a:t>ActiveChart</a:t>
            </a:r>
            <a:r>
              <a:rPr lang="ru-RU" sz="2400" dirty="0" smtClean="0">
                <a:solidFill>
                  <a:srgbClr val="0070C0"/>
                </a:solidFill>
              </a:rPr>
              <a:t> </a:t>
            </a:r>
            <a:r>
              <a:rPr lang="ru-RU" sz="2400" dirty="0" smtClean="0"/>
              <a:t>– возвращает ссылку </a:t>
            </a:r>
            <a:r>
              <a:rPr lang="ru-RU" sz="2400" dirty="0"/>
              <a:t>на текущую активную диаграмму. </a:t>
            </a:r>
          </a:p>
          <a:p>
            <a:r>
              <a:rPr lang="ru-RU" sz="2400" b="1" dirty="0" err="1" smtClean="0">
                <a:solidFill>
                  <a:srgbClr val="0070C0"/>
                </a:solidFill>
              </a:rPr>
              <a:t>ActiveSheet</a:t>
            </a:r>
            <a:r>
              <a:rPr lang="ru-RU" sz="2400" dirty="0" smtClean="0">
                <a:solidFill>
                  <a:srgbClr val="0070C0"/>
                </a:solidFill>
              </a:rPr>
              <a:t> </a:t>
            </a:r>
            <a:r>
              <a:rPr lang="ru-RU" sz="2400" dirty="0" smtClean="0"/>
              <a:t>– возвращает ссылку </a:t>
            </a:r>
            <a:r>
              <a:rPr lang="ru-RU" sz="2400" dirty="0"/>
              <a:t>на активный лист активной рабочей книги</a:t>
            </a:r>
          </a:p>
          <a:p>
            <a:r>
              <a:rPr lang="ru-RU" sz="2400" b="1" dirty="0" err="1" smtClean="0">
                <a:solidFill>
                  <a:srgbClr val="0070C0"/>
                </a:solidFill>
              </a:rPr>
              <a:t>ActiveWindow</a:t>
            </a:r>
            <a:r>
              <a:rPr lang="ru-RU" sz="2400" dirty="0" smtClean="0">
                <a:solidFill>
                  <a:srgbClr val="0070C0"/>
                </a:solidFill>
              </a:rPr>
              <a:t> </a:t>
            </a:r>
            <a:r>
              <a:rPr lang="ru-RU" sz="2400" dirty="0" smtClean="0"/>
              <a:t>– возвращает ссылку </a:t>
            </a:r>
            <a:r>
              <a:rPr lang="ru-RU" sz="2400" dirty="0"/>
              <a:t>на активное </a:t>
            </a:r>
            <a:r>
              <a:rPr lang="ru-RU" sz="2400" dirty="0" smtClean="0"/>
              <a:t>окно</a:t>
            </a:r>
            <a:endParaRPr lang="ru-RU" sz="2400" dirty="0"/>
          </a:p>
          <a:p>
            <a:r>
              <a:rPr lang="ru-RU" sz="2400" b="1" dirty="0" err="1" smtClean="0">
                <a:solidFill>
                  <a:srgbClr val="0070C0"/>
                </a:solidFill>
              </a:rPr>
              <a:t>Charts</a:t>
            </a:r>
            <a:r>
              <a:rPr lang="ru-RU" sz="2400" dirty="0" smtClean="0">
                <a:solidFill>
                  <a:srgbClr val="0070C0"/>
                </a:solidFill>
              </a:rPr>
              <a:t> </a:t>
            </a:r>
            <a:r>
              <a:rPr lang="ru-RU" sz="2400" dirty="0" smtClean="0"/>
              <a:t>– возвращает набор </a:t>
            </a:r>
            <a:r>
              <a:rPr lang="ru-RU" sz="2400" dirty="0"/>
              <a:t>объектов </a:t>
            </a:r>
            <a:r>
              <a:rPr lang="ru-RU" sz="2400" dirty="0" err="1" smtClean="0"/>
              <a:t>Sheet</a:t>
            </a:r>
            <a:r>
              <a:rPr lang="ru-RU" sz="2400" dirty="0" smtClean="0"/>
              <a:t>, </a:t>
            </a:r>
            <a:r>
              <a:rPr lang="ru-RU" sz="2400" dirty="0"/>
              <a:t>содержащий ссылки на каждую из диаграмм активной рабочей книги</a:t>
            </a:r>
          </a:p>
          <a:p>
            <a:r>
              <a:rPr lang="ru-RU" sz="2400" b="1" dirty="0" err="1" smtClean="0">
                <a:solidFill>
                  <a:srgbClr val="0070C0"/>
                </a:solidFill>
              </a:rPr>
              <a:t>Selection</a:t>
            </a:r>
            <a:r>
              <a:rPr lang="ru-RU" sz="2400" dirty="0" smtClean="0">
                <a:solidFill>
                  <a:srgbClr val="0070C0"/>
                </a:solidFill>
              </a:rPr>
              <a:t> </a:t>
            </a:r>
            <a:r>
              <a:rPr lang="ru-RU" sz="2400" dirty="0" smtClean="0"/>
              <a:t>– возвращает объект</a:t>
            </a:r>
            <a:r>
              <a:rPr lang="ru-RU" sz="2400" dirty="0"/>
              <a:t>, выбранный в приложении. </a:t>
            </a:r>
          </a:p>
          <a:p>
            <a:r>
              <a:rPr lang="ru-RU" sz="2400" b="1" dirty="0" err="1" smtClean="0">
                <a:solidFill>
                  <a:srgbClr val="0070C0"/>
                </a:solidFill>
              </a:rPr>
              <a:t>Sheets</a:t>
            </a:r>
            <a:r>
              <a:rPr lang="en-US" sz="2400" dirty="0" smtClean="0">
                <a:solidFill>
                  <a:srgbClr val="0070C0"/>
                </a:solidFill>
              </a:rPr>
              <a:t> </a:t>
            </a:r>
            <a:r>
              <a:rPr lang="en-US" sz="2400" dirty="0" smtClean="0"/>
              <a:t>– </a:t>
            </a:r>
            <a:r>
              <a:rPr lang="ru-RU" sz="2400" dirty="0" smtClean="0"/>
              <a:t>возвращает</a:t>
            </a:r>
            <a:r>
              <a:rPr lang="en-US" sz="2400" dirty="0" smtClean="0"/>
              <a:t> </a:t>
            </a:r>
            <a:r>
              <a:rPr lang="ru-RU" sz="2400" dirty="0" smtClean="0"/>
              <a:t>набор </a:t>
            </a:r>
            <a:r>
              <a:rPr lang="ru-RU" sz="2400" dirty="0"/>
              <a:t>объектов </a:t>
            </a:r>
            <a:r>
              <a:rPr lang="ru-RU" sz="2400" dirty="0" err="1"/>
              <a:t>Sheet</a:t>
            </a:r>
            <a:r>
              <a:rPr lang="ru-RU" sz="2400" dirty="0"/>
              <a:t>, содержащий ссылки на каждый из листов активной рабочей книги</a:t>
            </a:r>
          </a:p>
          <a:p>
            <a:r>
              <a:rPr lang="ru-RU" sz="2400" b="1" dirty="0" err="1" smtClean="0">
                <a:solidFill>
                  <a:srgbClr val="0070C0"/>
                </a:solidFill>
              </a:rPr>
              <a:t>Workbooks</a:t>
            </a:r>
            <a:r>
              <a:rPr lang="ru-RU" sz="2400" dirty="0" smtClean="0">
                <a:solidFill>
                  <a:srgbClr val="0070C0"/>
                </a:solidFill>
              </a:rPr>
              <a:t> </a:t>
            </a:r>
            <a:r>
              <a:rPr lang="ru-RU" sz="2400" dirty="0" smtClean="0"/>
              <a:t>– возвращает набор </a:t>
            </a:r>
            <a:r>
              <a:rPr lang="ru-RU" sz="2400" dirty="0"/>
              <a:t>объектов </a:t>
            </a:r>
            <a:r>
              <a:rPr lang="ru-RU" sz="2400" dirty="0" err="1"/>
              <a:t>Workbook</a:t>
            </a:r>
            <a:r>
              <a:rPr lang="ru-RU" sz="2400" dirty="0"/>
              <a:t>, содержащий ссылки на каждую открытую рабочую книгу</a:t>
            </a:r>
          </a:p>
        </p:txBody>
      </p:sp>
    </p:spTree>
    <p:extLst>
      <p:ext uri="{BB962C8B-B14F-4D97-AF65-F5344CB8AC3E}">
        <p14:creationId xmlns:p14="http://schemas.microsoft.com/office/powerpoint/2010/main" val="3953009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33375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ah-RU" sz="3200" b="1" dirty="0">
                <a:solidFill>
                  <a:schemeClr val="tx2"/>
                </a:solidFill>
              </a:rPr>
              <a:t>Набор </a:t>
            </a:r>
            <a:r>
              <a:rPr lang="en-US" sz="3200" b="1" dirty="0">
                <a:solidFill>
                  <a:schemeClr val="tx2"/>
                </a:solidFill>
              </a:rPr>
              <a:t>Workbooks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395536" y="1415103"/>
            <a:ext cx="813690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/>
              <a:t>Набор </a:t>
            </a:r>
            <a:r>
              <a:rPr lang="ru-RU" sz="2800" b="1" dirty="0" err="1">
                <a:solidFill>
                  <a:srgbClr val="0070C0"/>
                </a:solidFill>
              </a:rPr>
              <a:t>Workbooks</a:t>
            </a:r>
            <a:r>
              <a:rPr lang="ru-RU" sz="2800" b="1" dirty="0">
                <a:solidFill>
                  <a:srgbClr val="0070C0"/>
                </a:solidFill>
              </a:rPr>
              <a:t> </a:t>
            </a:r>
            <a:r>
              <a:rPr lang="ru-RU" sz="2800" dirty="0"/>
              <a:t>позволяет работать со всеми открытыми рабочими книгами, создавать рабочую книгу и импортировать данные в новую рабочую книгу</a:t>
            </a:r>
            <a:r>
              <a:rPr lang="ru-RU" sz="2800" dirty="0" smtClean="0"/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51520" y="3506232"/>
            <a:ext cx="874846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Excel.Application</a:t>
            </a:r>
            <a:r>
              <a:rPr lang="en-US" sz="2400" dirty="0"/>
              <a:t> </a:t>
            </a:r>
            <a:r>
              <a:rPr lang="en-US" sz="2400" dirty="0" err="1"/>
              <a:t>ObjExcel</a:t>
            </a:r>
            <a:r>
              <a:rPr lang="en-US" sz="2400" dirty="0"/>
              <a:t> = new </a:t>
            </a:r>
            <a:r>
              <a:rPr lang="en-US" sz="2400" dirty="0" err="1"/>
              <a:t>Excel.Application</a:t>
            </a:r>
            <a:r>
              <a:rPr lang="en-US" sz="2400" dirty="0" smtClean="0"/>
              <a:t>();</a:t>
            </a:r>
          </a:p>
          <a:p>
            <a:endParaRPr lang="en-US" sz="2400" b="1" dirty="0" smtClean="0"/>
          </a:p>
          <a:p>
            <a:r>
              <a:rPr lang="ru-RU" sz="2400" b="1" dirty="0" smtClean="0"/>
              <a:t>Создание </a:t>
            </a:r>
            <a:r>
              <a:rPr lang="ru-RU" sz="2400" b="1" dirty="0"/>
              <a:t>рабочей </a:t>
            </a:r>
            <a:r>
              <a:rPr lang="ru-RU" sz="2400" b="1" dirty="0" smtClean="0"/>
              <a:t>книги:</a:t>
            </a:r>
            <a:endParaRPr lang="ru-RU" sz="2400" b="1" dirty="0"/>
          </a:p>
          <a:p>
            <a:r>
              <a:rPr lang="en-US" sz="2400" dirty="0" err="1" smtClean="0"/>
              <a:t>Excel.Workbook</a:t>
            </a:r>
            <a:r>
              <a:rPr lang="en-US" sz="2400" dirty="0" smtClean="0"/>
              <a:t> </a:t>
            </a:r>
            <a:r>
              <a:rPr lang="ru-RU" sz="2400" dirty="0" smtClean="0"/>
              <a:t> </a:t>
            </a:r>
            <a:r>
              <a:rPr lang="en-US" sz="2400" dirty="0" err="1" smtClean="0"/>
              <a:t>wb</a:t>
            </a:r>
            <a:r>
              <a:rPr lang="en-US" sz="2400" dirty="0" smtClean="0"/>
              <a:t> </a:t>
            </a:r>
            <a:r>
              <a:rPr lang="en-US" sz="2400" dirty="0"/>
              <a:t>= </a:t>
            </a:r>
            <a:r>
              <a:rPr lang="en-US" sz="2400" dirty="0" err="1"/>
              <a:t>ThisApplication.Workbooks.Add</a:t>
            </a:r>
            <a:r>
              <a:rPr lang="en-US" sz="2400" dirty="0"/>
              <a:t>(</a:t>
            </a:r>
            <a:r>
              <a:rPr lang="en-US" sz="2400" dirty="0" err="1"/>
              <a:t>Type.Missing</a:t>
            </a:r>
            <a:r>
              <a:rPr lang="en-US" sz="2400" dirty="0" smtClean="0"/>
              <a:t>);</a:t>
            </a:r>
            <a:endParaRPr lang="ru-RU" sz="2400" dirty="0" smtClean="0"/>
          </a:p>
          <a:p>
            <a:endParaRPr lang="ru-RU" sz="2400" dirty="0"/>
          </a:p>
          <a:p>
            <a:r>
              <a:rPr lang="ru-RU" sz="2400" b="1" dirty="0"/>
              <a:t>Закрытие всех открытых рабочих </a:t>
            </a:r>
            <a:r>
              <a:rPr lang="ru-RU" sz="2400" b="1" dirty="0" smtClean="0"/>
              <a:t>книг:</a:t>
            </a:r>
          </a:p>
          <a:p>
            <a:r>
              <a:rPr lang="en-US" sz="2400" dirty="0" err="1"/>
              <a:t>ThisApplication.Workbooks.Close</a:t>
            </a:r>
            <a:r>
              <a:rPr lang="en-US" sz="2400" dirty="0" smtClean="0"/>
              <a:t>();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79968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33375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ah-RU" sz="3200" b="1" dirty="0">
                <a:solidFill>
                  <a:schemeClr val="tx2"/>
                </a:solidFill>
              </a:rPr>
              <a:t>Набор </a:t>
            </a:r>
            <a:r>
              <a:rPr lang="en-US" sz="3200" b="1" dirty="0">
                <a:solidFill>
                  <a:schemeClr val="tx2"/>
                </a:solidFill>
              </a:rPr>
              <a:t>Workbooks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251520" y="1759456"/>
            <a:ext cx="87484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/>
              <a:t>Открытие </a:t>
            </a:r>
            <a:r>
              <a:rPr lang="ru-RU" sz="2400" b="1" dirty="0"/>
              <a:t>существующей рабочей </a:t>
            </a:r>
            <a:r>
              <a:rPr lang="ru-RU" sz="2400" b="1" dirty="0" smtClean="0"/>
              <a:t>книги:</a:t>
            </a:r>
          </a:p>
          <a:p>
            <a:r>
              <a:rPr lang="en-US" sz="2400" dirty="0" err="1"/>
              <a:t>Excel.Workbook</a:t>
            </a:r>
            <a:r>
              <a:rPr lang="en-US" sz="2400" dirty="0"/>
              <a:t> </a:t>
            </a:r>
            <a:r>
              <a:rPr lang="ru-RU" sz="2400" dirty="0" smtClean="0"/>
              <a:t> </a:t>
            </a:r>
            <a:r>
              <a:rPr lang="en-US" sz="2400" dirty="0" err="1" smtClean="0"/>
              <a:t>wb</a:t>
            </a:r>
            <a:r>
              <a:rPr lang="en-US" sz="2400" dirty="0" smtClean="0"/>
              <a:t> </a:t>
            </a:r>
            <a:r>
              <a:rPr lang="en-US" sz="2400" dirty="0"/>
              <a:t>= </a:t>
            </a:r>
            <a:r>
              <a:rPr lang="en-US" sz="2400" dirty="0" err="1"/>
              <a:t>ThisApplication.Workbooks.Open</a:t>
            </a:r>
            <a:r>
              <a:rPr lang="en-US" sz="2400" dirty="0"/>
              <a:t>( </a:t>
            </a:r>
          </a:p>
          <a:p>
            <a:r>
              <a:rPr lang="en-US" sz="2400" dirty="0" smtClean="0"/>
              <a:t>"c:\\dir\\yourworkbook.xls</a:t>
            </a:r>
            <a:r>
              <a:rPr lang="en-US" sz="2400" dirty="0"/>
              <a:t>", </a:t>
            </a:r>
          </a:p>
          <a:p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</a:p>
          <a:p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</a:p>
          <a:p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</a:p>
          <a:p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 smtClean="0"/>
              <a:t>);</a:t>
            </a:r>
            <a:endParaRPr lang="ru-RU" sz="2400" dirty="0" smtClean="0"/>
          </a:p>
          <a:p>
            <a:endParaRPr lang="ru-RU" sz="2400" dirty="0"/>
          </a:p>
          <a:p>
            <a:r>
              <a:rPr lang="en-US" sz="2400" dirty="0" err="1" smtClean="0"/>
              <a:t>Type.Missing</a:t>
            </a:r>
            <a:r>
              <a:rPr lang="ru-RU" sz="2400" dirty="0" smtClean="0"/>
              <a:t> – параметры по умолчанию</a:t>
            </a:r>
          </a:p>
        </p:txBody>
      </p:sp>
    </p:spTree>
    <p:extLst>
      <p:ext uri="{BB962C8B-B14F-4D97-AF65-F5344CB8AC3E}">
        <p14:creationId xmlns:p14="http://schemas.microsoft.com/office/powerpoint/2010/main" val="256156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33375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ah-RU" sz="3200" b="1" dirty="0">
                <a:solidFill>
                  <a:schemeClr val="tx2"/>
                </a:solidFill>
              </a:rPr>
              <a:t>Набор </a:t>
            </a:r>
            <a:r>
              <a:rPr lang="en-US" sz="3200" b="1" dirty="0">
                <a:solidFill>
                  <a:schemeClr val="tx2"/>
                </a:solidFill>
              </a:rPr>
              <a:t>Workbooks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251520" y="1412776"/>
            <a:ext cx="874846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/>
              <a:t>Открытие </a:t>
            </a:r>
            <a:r>
              <a:rPr lang="ru-RU" sz="2400" b="1" dirty="0"/>
              <a:t>текстового файла, базы данных или XML-файла как рабочей </a:t>
            </a:r>
            <a:r>
              <a:rPr lang="ru-RU" sz="2400" b="1" dirty="0" smtClean="0"/>
              <a:t>книги: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err="1" smtClean="0"/>
              <a:t>OpenText</a:t>
            </a:r>
            <a:endParaRPr lang="ru-RU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err="1" smtClean="0"/>
              <a:t>OpenDatabase</a:t>
            </a:r>
            <a:endParaRPr lang="ru-RU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err="1" smtClean="0"/>
              <a:t>OpenXml</a:t>
            </a:r>
            <a:endParaRPr lang="ru-RU" sz="2400" dirty="0" smtClean="0"/>
          </a:p>
          <a:p>
            <a:endParaRPr lang="ru-RU" sz="2400" dirty="0"/>
          </a:p>
          <a:p>
            <a:r>
              <a:rPr lang="en-US" sz="2400" dirty="0" err="1" smtClean="0"/>
              <a:t>Excel.Workbook</a:t>
            </a:r>
            <a:r>
              <a:rPr lang="ru-RU" sz="2400" dirty="0" smtClean="0"/>
              <a:t> </a:t>
            </a:r>
            <a:r>
              <a:rPr lang="en-US" sz="2400" dirty="0" smtClean="0"/>
              <a:t> </a:t>
            </a:r>
            <a:r>
              <a:rPr lang="en-US" sz="2400" dirty="0" err="1"/>
              <a:t>wb</a:t>
            </a:r>
            <a:r>
              <a:rPr lang="en-US" sz="2400" dirty="0"/>
              <a:t> = </a:t>
            </a:r>
          </a:p>
          <a:p>
            <a:r>
              <a:rPr lang="en-US" sz="2400" dirty="0" err="1"/>
              <a:t>ThisApplication.Workbooks.OpenText</a:t>
            </a:r>
            <a:r>
              <a:rPr lang="en-US" sz="2400" dirty="0"/>
              <a:t>("C</a:t>
            </a:r>
            <a:r>
              <a:rPr lang="en-US" sz="2400" dirty="0" smtClean="0"/>
              <a:t>:\\test.txt</a:t>
            </a:r>
            <a:r>
              <a:rPr lang="en-US" sz="2400" dirty="0"/>
              <a:t>", </a:t>
            </a:r>
          </a:p>
          <a:p>
            <a:r>
              <a:rPr lang="en-US" sz="2400" dirty="0" err="1"/>
              <a:t>Type.Missing</a:t>
            </a:r>
            <a:r>
              <a:rPr lang="en-US" sz="2400" dirty="0"/>
              <a:t>, 3, </a:t>
            </a:r>
            <a:r>
              <a:rPr lang="en-US" sz="2400" dirty="0" err="1"/>
              <a:t>Excel.XlTextParsingType.xlDelimited</a:t>
            </a:r>
            <a:r>
              <a:rPr lang="en-US" sz="2400" dirty="0"/>
              <a:t>, </a:t>
            </a:r>
          </a:p>
          <a:p>
            <a:r>
              <a:rPr lang="en-US" sz="2400" dirty="0" err="1"/>
              <a:t>Excel.XlTextQualifier.xlTextQualifierDoubleQuote</a:t>
            </a:r>
            <a:r>
              <a:rPr lang="en-US" sz="2400" dirty="0"/>
              <a:t>, </a:t>
            </a:r>
          </a:p>
          <a:p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True, </a:t>
            </a:r>
          </a:p>
          <a:p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</a:p>
          <a:p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</a:p>
          <a:p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);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1594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33375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ah-RU" sz="3200" b="1" dirty="0">
                <a:solidFill>
                  <a:schemeClr val="tx2"/>
                </a:solidFill>
              </a:rPr>
              <a:t>Набор </a:t>
            </a:r>
            <a:r>
              <a:rPr lang="en-US" sz="3200" b="1" dirty="0">
                <a:solidFill>
                  <a:schemeClr val="tx2"/>
                </a:solidFill>
              </a:rPr>
              <a:t>Workbooks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251520" y="1412776"/>
            <a:ext cx="87484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Обращение к отдельным рабочим </a:t>
            </a:r>
            <a:r>
              <a:rPr lang="ru-RU" sz="2400" b="1" dirty="0" smtClean="0"/>
              <a:t>книгам:</a:t>
            </a:r>
          </a:p>
          <a:p>
            <a:endParaRPr lang="ru-RU" sz="2400" dirty="0" smtClean="0"/>
          </a:p>
          <a:p>
            <a:r>
              <a:rPr lang="en-US" sz="2400" dirty="0" err="1" smtClean="0"/>
              <a:t>Excel.Workbook</a:t>
            </a:r>
            <a:r>
              <a:rPr lang="en-US" sz="2400" dirty="0" smtClean="0"/>
              <a:t> </a:t>
            </a:r>
            <a:r>
              <a:rPr lang="ru-RU" sz="2400" dirty="0" smtClean="0"/>
              <a:t> </a:t>
            </a:r>
            <a:r>
              <a:rPr lang="en-US" sz="2400" dirty="0" err="1" smtClean="0"/>
              <a:t>wb</a:t>
            </a:r>
            <a:r>
              <a:rPr lang="en-US" sz="2400" dirty="0" smtClean="0"/>
              <a:t> </a:t>
            </a:r>
            <a:r>
              <a:rPr lang="en-US" sz="2400" dirty="0"/>
              <a:t>= </a:t>
            </a:r>
            <a:r>
              <a:rPr lang="en-US" sz="2400" dirty="0" err="1"/>
              <a:t>ThisApplication.Workbooks</a:t>
            </a:r>
            <a:r>
              <a:rPr lang="en-US" sz="2400" dirty="0"/>
              <a:t>[1</a:t>
            </a:r>
            <a:r>
              <a:rPr lang="en-US" sz="2400" dirty="0" smtClean="0"/>
              <a:t>];</a:t>
            </a:r>
            <a:endParaRPr lang="en-US" sz="2400" dirty="0"/>
          </a:p>
          <a:p>
            <a:endParaRPr lang="ru-RU" sz="2400" dirty="0" smtClean="0"/>
          </a:p>
          <a:p>
            <a:r>
              <a:rPr lang="en-US" sz="2400" dirty="0" smtClean="0"/>
              <a:t>// </a:t>
            </a:r>
            <a:r>
              <a:rPr lang="ru-RU" sz="2400" dirty="0"/>
              <a:t>д</a:t>
            </a:r>
            <a:r>
              <a:rPr lang="ru-RU" sz="2400" dirty="0" smtClean="0"/>
              <a:t>о </a:t>
            </a:r>
            <a:r>
              <a:rPr lang="ru-RU" sz="2400" dirty="0"/>
              <a:t>сохранения </a:t>
            </a:r>
            <a:r>
              <a:rPr lang="en-US" sz="2400" dirty="0"/>
              <a:t>Book1</a:t>
            </a:r>
            <a:r>
              <a:rPr lang="en-US" sz="2400" dirty="0" smtClean="0"/>
              <a:t>:</a:t>
            </a:r>
            <a:endParaRPr lang="en-US" sz="2400" dirty="0"/>
          </a:p>
          <a:p>
            <a:r>
              <a:rPr lang="en-US" sz="2400" dirty="0" err="1"/>
              <a:t>wb</a:t>
            </a:r>
            <a:r>
              <a:rPr lang="en-US" sz="2400" dirty="0"/>
              <a:t> = </a:t>
            </a:r>
            <a:r>
              <a:rPr lang="en-US" sz="2400" dirty="0" err="1"/>
              <a:t>ThisApplication.Workbooks</a:t>
            </a:r>
            <a:r>
              <a:rPr lang="en-US" sz="2400" dirty="0"/>
              <a:t>["Book1</a:t>
            </a:r>
            <a:r>
              <a:rPr lang="en-US" sz="2400" dirty="0" smtClean="0"/>
              <a:t>"];</a:t>
            </a:r>
            <a:endParaRPr lang="en-US" sz="2400" dirty="0"/>
          </a:p>
          <a:p>
            <a:endParaRPr lang="ru-RU" sz="2400" dirty="0" smtClean="0"/>
          </a:p>
          <a:p>
            <a:r>
              <a:rPr lang="en-US" sz="2400" dirty="0" smtClean="0"/>
              <a:t>// </a:t>
            </a:r>
            <a:r>
              <a:rPr lang="ru-RU" sz="2400" dirty="0"/>
              <a:t>п</a:t>
            </a:r>
            <a:r>
              <a:rPr lang="ru-RU" sz="2400" dirty="0" smtClean="0"/>
              <a:t>осле </a:t>
            </a:r>
            <a:r>
              <a:rPr lang="ru-RU" sz="2400" dirty="0"/>
              <a:t>сохранения </a:t>
            </a:r>
            <a:r>
              <a:rPr lang="en-US" sz="2400" dirty="0"/>
              <a:t>Book1</a:t>
            </a:r>
            <a:r>
              <a:rPr lang="en-US" sz="2400" dirty="0" smtClean="0"/>
              <a:t>:</a:t>
            </a:r>
            <a:endParaRPr lang="en-US" sz="2400" dirty="0"/>
          </a:p>
          <a:p>
            <a:r>
              <a:rPr lang="en-US" sz="2400" dirty="0" err="1"/>
              <a:t>wb</a:t>
            </a:r>
            <a:r>
              <a:rPr lang="en-US" sz="2400" dirty="0"/>
              <a:t> = </a:t>
            </a:r>
            <a:r>
              <a:rPr lang="en-US" sz="2400" dirty="0" err="1"/>
              <a:t>ThisApplication.Workbooks</a:t>
            </a:r>
            <a:r>
              <a:rPr lang="en-US" sz="2400" dirty="0"/>
              <a:t>["Book1.xls"];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4949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33375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ah-RU" sz="3200" b="1" dirty="0">
                <a:solidFill>
                  <a:schemeClr val="tx2"/>
                </a:solidFill>
              </a:rPr>
              <a:t>Набор </a:t>
            </a:r>
            <a:r>
              <a:rPr lang="en-US" sz="3200" b="1" dirty="0">
                <a:solidFill>
                  <a:schemeClr val="tx2"/>
                </a:solidFill>
              </a:rPr>
              <a:t>Workbooks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251520" y="1434256"/>
            <a:ext cx="874846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Методы класса </a:t>
            </a:r>
            <a:r>
              <a:rPr lang="en-US" sz="2400" b="1" dirty="0" smtClean="0"/>
              <a:t>Workbook:</a:t>
            </a:r>
            <a:endParaRPr lang="ru-RU" sz="2400" b="1" dirty="0" smtClean="0"/>
          </a:p>
          <a:p>
            <a:r>
              <a:rPr lang="ru-RU" sz="2400" b="1" dirty="0" err="1">
                <a:solidFill>
                  <a:srgbClr val="0070C0"/>
                </a:solidFill>
              </a:rPr>
              <a:t>Activate</a:t>
            </a:r>
            <a:r>
              <a:rPr lang="ru-RU" sz="2400" b="1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– </a:t>
            </a:r>
            <a:r>
              <a:rPr lang="ru-RU" sz="2400" dirty="0" smtClean="0"/>
              <a:t>активизирует раб. книгу</a:t>
            </a:r>
            <a:r>
              <a:rPr lang="ru-RU" sz="2400" dirty="0"/>
              <a:t>,</a:t>
            </a:r>
            <a:r>
              <a:rPr lang="ru-RU" sz="2400" dirty="0" smtClean="0"/>
              <a:t> выбирая лист </a:t>
            </a:r>
            <a:r>
              <a:rPr lang="ru-RU" sz="2400" dirty="0"/>
              <a:t>рабочей книги</a:t>
            </a:r>
            <a:r>
              <a:rPr lang="ru-RU" sz="2400" dirty="0" smtClean="0"/>
              <a:t>:</a:t>
            </a:r>
          </a:p>
          <a:p>
            <a:r>
              <a:rPr lang="en-US" sz="2400" dirty="0" err="1" smtClean="0"/>
              <a:t>ThisApplication.Workbooks</a:t>
            </a:r>
            <a:r>
              <a:rPr lang="en-US" sz="2400" dirty="0" smtClean="0"/>
              <a:t>[</a:t>
            </a:r>
            <a:r>
              <a:rPr lang="en-US" sz="2400" dirty="0"/>
              <a:t>n</a:t>
            </a:r>
            <a:r>
              <a:rPr lang="en-US" sz="2400" dirty="0" smtClean="0"/>
              <a:t>].</a:t>
            </a:r>
            <a:r>
              <a:rPr lang="en-US" sz="2400" dirty="0"/>
              <a:t>Activate</a:t>
            </a:r>
            <a:r>
              <a:rPr lang="en-US" sz="2400" dirty="0" smtClean="0"/>
              <a:t>;</a:t>
            </a:r>
          </a:p>
          <a:p>
            <a:endParaRPr lang="en-US" sz="2400" dirty="0"/>
          </a:p>
          <a:p>
            <a:r>
              <a:rPr lang="ru-RU" sz="2400" b="1" dirty="0" err="1" smtClean="0">
                <a:solidFill>
                  <a:srgbClr val="0070C0"/>
                </a:solidFill>
              </a:rPr>
              <a:t>Close</a:t>
            </a:r>
            <a:r>
              <a:rPr lang="ru-RU" sz="2400" b="1" dirty="0" smtClean="0">
                <a:solidFill>
                  <a:srgbClr val="0070C0"/>
                </a:solidFill>
              </a:rPr>
              <a:t> </a:t>
            </a:r>
            <a:r>
              <a:rPr lang="en-US" sz="2400" dirty="0"/>
              <a:t>–</a:t>
            </a:r>
            <a:r>
              <a:rPr lang="ru-RU" sz="2400" dirty="0" smtClean="0"/>
              <a:t> закрывает заданную </a:t>
            </a:r>
            <a:r>
              <a:rPr lang="ru-RU" sz="2400" dirty="0"/>
              <a:t>рабочую </a:t>
            </a:r>
            <a:r>
              <a:rPr lang="ru-RU" sz="2400" dirty="0" smtClean="0"/>
              <a:t>книгу</a:t>
            </a:r>
            <a:endParaRPr lang="en-US" sz="2400" dirty="0" smtClean="0"/>
          </a:p>
          <a:p>
            <a:r>
              <a:rPr lang="en-US" sz="2400" dirty="0" err="1" smtClean="0"/>
              <a:t>ThisApplication.Workbooks</a:t>
            </a:r>
            <a:r>
              <a:rPr lang="en-US" sz="2400" dirty="0" smtClean="0"/>
              <a:t>[1].Close(false, </a:t>
            </a:r>
            <a:r>
              <a:rPr lang="en-US" sz="2400" dirty="0" err="1" smtClean="0"/>
              <a:t>Type.Missing</a:t>
            </a:r>
            <a:r>
              <a:rPr lang="en-US" sz="2400" dirty="0" smtClean="0"/>
              <a:t>, </a:t>
            </a:r>
            <a:r>
              <a:rPr lang="en-US" sz="2400" dirty="0" err="1" smtClean="0"/>
              <a:t>Type.Missing</a:t>
            </a:r>
            <a:r>
              <a:rPr lang="en-US" sz="2400" dirty="0" smtClean="0"/>
              <a:t>);</a:t>
            </a:r>
          </a:p>
          <a:p>
            <a:endParaRPr lang="en-US" sz="2400" b="1" dirty="0">
              <a:solidFill>
                <a:srgbClr val="0070C0"/>
              </a:solidFill>
            </a:endParaRPr>
          </a:p>
          <a:p>
            <a:r>
              <a:rPr lang="ru-RU" sz="2400" b="1" dirty="0" err="1">
                <a:solidFill>
                  <a:srgbClr val="0070C0"/>
                </a:solidFill>
              </a:rPr>
              <a:t>Protect</a:t>
            </a:r>
            <a:r>
              <a:rPr lang="ru-RU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</a:rPr>
              <a:t>(</a:t>
            </a:r>
            <a:r>
              <a:rPr lang="ru-RU" sz="2400" b="1" dirty="0" err="1" smtClean="0">
                <a:solidFill>
                  <a:srgbClr val="0070C0"/>
                </a:solidFill>
              </a:rPr>
              <a:t>Unprotect</a:t>
            </a:r>
            <a:r>
              <a:rPr lang="en-US" sz="2400" b="1" dirty="0" smtClean="0">
                <a:solidFill>
                  <a:srgbClr val="0070C0"/>
                </a:solidFill>
              </a:rPr>
              <a:t>)</a:t>
            </a:r>
            <a:r>
              <a:rPr lang="ru-RU" sz="2400" b="1" dirty="0" smtClean="0">
                <a:solidFill>
                  <a:srgbClr val="0070C0"/>
                </a:solidFill>
              </a:rPr>
              <a:t> </a:t>
            </a:r>
            <a:r>
              <a:rPr lang="en-US" sz="2400" dirty="0" smtClean="0"/>
              <a:t>– </a:t>
            </a:r>
            <a:r>
              <a:rPr lang="ru-RU" sz="2400" dirty="0" smtClean="0"/>
              <a:t>устанавливают</a:t>
            </a:r>
            <a:r>
              <a:rPr lang="en-US" sz="2400" dirty="0" smtClean="0"/>
              <a:t> (</a:t>
            </a:r>
            <a:r>
              <a:rPr lang="ru-RU" sz="2400" dirty="0" smtClean="0"/>
              <a:t>снимают</a:t>
            </a:r>
            <a:r>
              <a:rPr lang="en-US" sz="2400" dirty="0" smtClean="0"/>
              <a:t>) </a:t>
            </a:r>
            <a:r>
              <a:rPr lang="ru-RU" sz="2400" dirty="0" smtClean="0"/>
              <a:t>защиту раб. книги</a:t>
            </a:r>
            <a:endParaRPr lang="en-US" sz="2400" dirty="0" smtClean="0"/>
          </a:p>
          <a:p>
            <a:endParaRPr lang="en-US" sz="2400" dirty="0"/>
          </a:p>
          <a:p>
            <a:r>
              <a:rPr lang="ru-RU" sz="2400" b="1" dirty="0" err="1" smtClean="0">
                <a:solidFill>
                  <a:srgbClr val="0070C0"/>
                </a:solidFill>
              </a:rPr>
              <a:t>Save</a:t>
            </a:r>
            <a:r>
              <a:rPr lang="ru-RU" sz="2400" b="1" dirty="0" smtClean="0">
                <a:solidFill>
                  <a:srgbClr val="0070C0"/>
                </a:solidFill>
              </a:rPr>
              <a:t> (</a:t>
            </a:r>
            <a:r>
              <a:rPr lang="ru-RU" sz="2400" b="1" dirty="0" err="1">
                <a:solidFill>
                  <a:srgbClr val="0070C0"/>
                </a:solidFill>
              </a:rPr>
              <a:t>SaveAs</a:t>
            </a:r>
            <a:r>
              <a:rPr lang="ru-RU" sz="2400" b="1" dirty="0" smtClean="0">
                <a:solidFill>
                  <a:srgbClr val="0070C0"/>
                </a:solidFill>
              </a:rPr>
              <a:t>) </a:t>
            </a:r>
            <a:r>
              <a:rPr lang="ru-RU" sz="2400" dirty="0" smtClean="0"/>
              <a:t>– сохраняет рабочую </a:t>
            </a:r>
            <a:r>
              <a:rPr lang="ru-RU" sz="2400" dirty="0"/>
              <a:t>книгу. 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146999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33375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ah-RU" sz="3200" b="1" dirty="0">
                <a:solidFill>
                  <a:schemeClr val="tx2"/>
                </a:solidFill>
              </a:rPr>
              <a:t>Набор </a:t>
            </a:r>
            <a:r>
              <a:rPr lang="en-US" sz="3200" b="1" dirty="0">
                <a:solidFill>
                  <a:schemeClr val="tx2"/>
                </a:solidFill>
              </a:rPr>
              <a:t>Workbooks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251520" y="1243781"/>
            <a:ext cx="874846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/>
              <a:t>Вычисляет заданный </a:t>
            </a:r>
            <a:r>
              <a:rPr lang="ru-RU" sz="2400" b="1" dirty="0"/>
              <a:t>диапазон:</a:t>
            </a:r>
          </a:p>
          <a:p>
            <a:r>
              <a:rPr lang="en-US" sz="2400" dirty="0" err="1" smtClean="0"/>
              <a:t>ThisApplication.get_Range</a:t>
            </a:r>
            <a:r>
              <a:rPr lang="en-US" sz="2400" dirty="0"/>
              <a:t>("A1", "B12").</a:t>
            </a:r>
            <a:r>
              <a:rPr lang="en-US" sz="2400" b="1" dirty="0">
                <a:solidFill>
                  <a:srgbClr val="0070C0"/>
                </a:solidFill>
              </a:rPr>
              <a:t>Calculate</a:t>
            </a:r>
            <a:r>
              <a:rPr lang="en-US" sz="2400" b="1" dirty="0" smtClean="0">
                <a:solidFill>
                  <a:srgbClr val="0070C0"/>
                </a:solidFill>
              </a:rPr>
              <a:t>()</a:t>
            </a:r>
            <a:r>
              <a:rPr lang="en-US" sz="2400" dirty="0" smtClean="0"/>
              <a:t>;</a:t>
            </a:r>
            <a:endParaRPr lang="ru-RU" sz="2400" dirty="0" smtClean="0"/>
          </a:p>
          <a:p>
            <a:endParaRPr lang="ru-RU" sz="2400" dirty="0"/>
          </a:p>
          <a:p>
            <a:r>
              <a:rPr lang="ru-RU" sz="2400" b="1" dirty="0" err="1" smtClean="0">
                <a:solidFill>
                  <a:srgbClr val="0070C0"/>
                </a:solidFill>
              </a:rPr>
              <a:t>Evaluate</a:t>
            </a:r>
            <a:r>
              <a:rPr lang="ru-RU" sz="2400" b="1" dirty="0" smtClean="0">
                <a:solidFill>
                  <a:srgbClr val="0070C0"/>
                </a:solidFill>
              </a:rPr>
              <a:t> </a:t>
            </a:r>
            <a:r>
              <a:rPr lang="ru-RU" sz="2400" b="1" dirty="0" smtClean="0"/>
              <a:t>–</a:t>
            </a:r>
            <a:r>
              <a:rPr lang="en-US" sz="2400" b="1" dirty="0" smtClean="0"/>
              <a:t> </a:t>
            </a:r>
            <a:r>
              <a:rPr lang="ru-RU" sz="2400" b="1" dirty="0" smtClean="0"/>
              <a:t>этот </a:t>
            </a:r>
            <a:r>
              <a:rPr lang="ru-RU" sz="2400" b="1" dirty="0"/>
              <a:t>метод позволяет </a:t>
            </a:r>
            <a:r>
              <a:rPr lang="ru-RU" sz="2400" b="1" dirty="0" smtClean="0"/>
              <a:t>создать</a:t>
            </a:r>
            <a:r>
              <a:rPr lang="en-US" sz="2400" b="1" dirty="0" smtClean="0"/>
              <a:t> </a:t>
            </a:r>
            <a:r>
              <a:rPr lang="ru-RU" sz="2400" b="1" dirty="0" smtClean="0"/>
              <a:t>ссылку </a:t>
            </a:r>
            <a:r>
              <a:rPr lang="ru-RU" sz="2400" b="1" dirty="0"/>
              <a:t>в виде строки, а потом при необходимости преобразовать ее в настоящую ссылку на объект или вычислить значение выражения. </a:t>
            </a:r>
            <a:endParaRPr lang="ru-RU" sz="2400" b="1" dirty="0" smtClean="0"/>
          </a:p>
          <a:p>
            <a:endParaRPr lang="ru-RU" sz="2400" b="1" dirty="0" smtClean="0"/>
          </a:p>
          <a:p>
            <a:r>
              <a:rPr lang="ru-RU" sz="2400" b="1" dirty="0" smtClean="0"/>
              <a:t>Текст адреса </a:t>
            </a:r>
            <a:r>
              <a:rPr lang="ru-RU" sz="2400" b="1" dirty="0"/>
              <a:t>ячейки </a:t>
            </a:r>
            <a:r>
              <a:rPr lang="ru-RU" sz="2400" b="1" dirty="0" smtClean="0"/>
              <a:t>поместить в </a:t>
            </a:r>
            <a:r>
              <a:rPr lang="ru-RU" sz="2400" b="1" dirty="0"/>
              <a:t>ячейку с этим адресом</a:t>
            </a:r>
            <a:r>
              <a:rPr lang="ru-RU" sz="2400" b="1" dirty="0" smtClean="0"/>
              <a:t>:</a:t>
            </a:r>
          </a:p>
          <a:p>
            <a:r>
              <a:rPr lang="en-US" sz="2400" dirty="0" err="1"/>
              <a:t>Excel.Range</a:t>
            </a:r>
            <a:r>
              <a:rPr lang="en-US" sz="2400" dirty="0"/>
              <a:t> </a:t>
            </a:r>
            <a:r>
              <a:rPr lang="en-US" sz="2400" dirty="0" err="1"/>
              <a:t>rng</a:t>
            </a:r>
            <a:r>
              <a:rPr lang="en-US" sz="2400" dirty="0"/>
              <a:t> = </a:t>
            </a:r>
            <a:endParaRPr lang="en-US" sz="2400" dirty="0" smtClean="0"/>
          </a:p>
          <a:p>
            <a:r>
              <a:rPr lang="en-US" sz="2400" dirty="0"/>
              <a:t> </a:t>
            </a:r>
            <a:r>
              <a:rPr lang="en-US" sz="2400" dirty="0" smtClean="0"/>
              <a:t>   </a:t>
            </a:r>
            <a:r>
              <a:rPr lang="en-US" sz="2400" dirty="0" err="1" smtClean="0"/>
              <a:t>ThisApplication.get_Range</a:t>
            </a:r>
            <a:r>
              <a:rPr lang="en-US" sz="2400" dirty="0"/>
              <a:t>("Evaluate", </a:t>
            </a:r>
            <a:r>
              <a:rPr lang="en-US" sz="2400" dirty="0" err="1"/>
              <a:t>Type.Missing</a:t>
            </a:r>
            <a:r>
              <a:rPr lang="en-US" sz="2400" dirty="0"/>
              <a:t>);</a:t>
            </a:r>
          </a:p>
          <a:p>
            <a:r>
              <a:rPr lang="en-US" sz="2400" dirty="0" err="1" smtClean="0"/>
              <a:t>Excel.Range</a:t>
            </a:r>
            <a:r>
              <a:rPr lang="en-US" sz="2400" dirty="0" smtClean="0"/>
              <a:t> </a:t>
            </a:r>
            <a:r>
              <a:rPr lang="en-US" sz="2400" dirty="0" err="1"/>
              <a:t>rngNew</a:t>
            </a:r>
            <a:r>
              <a:rPr lang="en-US" sz="2400" dirty="0"/>
              <a:t> = </a:t>
            </a:r>
            <a:endParaRPr lang="en-US" sz="2400" dirty="0" smtClean="0"/>
          </a:p>
          <a:p>
            <a:r>
              <a:rPr lang="en-US" sz="2400" dirty="0" smtClean="0"/>
              <a:t>    (</a:t>
            </a:r>
            <a:r>
              <a:rPr lang="en-US" sz="2400" dirty="0" err="1" smtClean="0"/>
              <a:t>Excel.Range</a:t>
            </a:r>
            <a:r>
              <a:rPr lang="en-US" sz="2400" dirty="0" smtClean="0"/>
              <a:t>)</a:t>
            </a:r>
            <a:r>
              <a:rPr lang="en-US" sz="2400" dirty="0" err="1" smtClean="0"/>
              <a:t>ThisApplication.</a:t>
            </a:r>
            <a:r>
              <a:rPr lang="en-US" sz="2400" b="1" dirty="0" err="1" smtClean="0"/>
              <a:t>Evaluate</a:t>
            </a:r>
            <a:r>
              <a:rPr lang="en-US" sz="2400" dirty="0" smtClean="0"/>
              <a:t>(</a:t>
            </a:r>
            <a:r>
              <a:rPr lang="en-US" sz="2400" dirty="0" err="1" smtClean="0"/>
              <a:t>rng.get_Offset</a:t>
            </a:r>
            <a:r>
              <a:rPr lang="en-US" sz="2400" dirty="0" smtClean="0"/>
              <a:t>(0</a:t>
            </a:r>
            <a:r>
              <a:rPr lang="en-US" sz="2400" dirty="0"/>
              <a:t>, 1).Value2);</a:t>
            </a:r>
          </a:p>
          <a:p>
            <a:r>
              <a:rPr lang="en-US" sz="2400" dirty="0" smtClean="0"/>
              <a:t>rngNew.Value2 </a:t>
            </a:r>
            <a:r>
              <a:rPr lang="en-US" sz="2400" dirty="0"/>
              <a:t>= "Hello, World</a:t>
            </a:r>
            <a:r>
              <a:rPr lang="en-US" sz="2400" dirty="0" smtClean="0"/>
              <a:t>!";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886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33375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ah-RU" sz="3200" b="1" dirty="0">
                <a:solidFill>
                  <a:schemeClr val="tx2"/>
                </a:solidFill>
              </a:rPr>
              <a:t>Набор </a:t>
            </a:r>
            <a:r>
              <a:rPr lang="en-US" sz="3200" b="1" dirty="0">
                <a:solidFill>
                  <a:schemeClr val="tx2"/>
                </a:solidFill>
              </a:rPr>
              <a:t>Workbooks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251520" y="1542271"/>
            <a:ext cx="874846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Программно </a:t>
            </a:r>
            <a:r>
              <a:rPr lang="ru-RU" sz="2800" b="1" dirty="0"/>
              <a:t>выйти из </a:t>
            </a:r>
            <a:r>
              <a:rPr lang="en-US" sz="2800" b="1" dirty="0"/>
              <a:t>Excel</a:t>
            </a:r>
            <a:r>
              <a:rPr lang="ru-RU" sz="2800" b="1" dirty="0" smtClean="0"/>
              <a:t>:</a:t>
            </a:r>
            <a:endParaRPr lang="ru-RU" sz="2800" b="1" dirty="0"/>
          </a:p>
          <a:p>
            <a:r>
              <a:rPr lang="en-US" sz="2800" dirty="0" err="1"/>
              <a:t>ThisApplication.</a:t>
            </a:r>
            <a:r>
              <a:rPr lang="en-US" sz="2800" b="1" dirty="0" err="1">
                <a:solidFill>
                  <a:srgbClr val="0070C0"/>
                </a:solidFill>
              </a:rPr>
              <a:t>Quit</a:t>
            </a:r>
            <a:r>
              <a:rPr lang="en-US" sz="2800" b="1" dirty="0">
                <a:solidFill>
                  <a:srgbClr val="0070C0"/>
                </a:solidFill>
              </a:rPr>
              <a:t>()</a:t>
            </a:r>
            <a:r>
              <a:rPr lang="en-US" sz="2800" dirty="0"/>
              <a:t>;</a:t>
            </a:r>
            <a:endParaRPr lang="ru-RU" sz="2800" dirty="0" smtClean="0"/>
          </a:p>
          <a:p>
            <a:endParaRPr lang="ru-RU" sz="2800" dirty="0"/>
          </a:p>
          <a:p>
            <a:r>
              <a:rPr lang="ru-RU" sz="2800" b="1" dirty="0"/>
              <a:t>Отменяет последнюю операцию</a:t>
            </a:r>
            <a:r>
              <a:rPr lang="ru-RU" sz="2800" b="1" dirty="0" smtClean="0"/>
              <a:t>:</a:t>
            </a:r>
          </a:p>
          <a:p>
            <a:r>
              <a:rPr lang="en-US" sz="2800" dirty="0" err="1"/>
              <a:t>ThisApplication.</a:t>
            </a:r>
            <a:r>
              <a:rPr lang="en-US" sz="2800" b="1" dirty="0" err="1">
                <a:solidFill>
                  <a:srgbClr val="0070C0"/>
                </a:solidFill>
              </a:rPr>
              <a:t>Undo</a:t>
            </a:r>
            <a:r>
              <a:rPr lang="en-US" sz="2800" b="1" dirty="0" smtClean="0">
                <a:solidFill>
                  <a:srgbClr val="0070C0"/>
                </a:solidFill>
              </a:rPr>
              <a:t>()</a:t>
            </a:r>
            <a:r>
              <a:rPr lang="en-US" sz="2800" dirty="0" smtClean="0"/>
              <a:t>;</a:t>
            </a: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4132182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26216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Объект </a:t>
            </a:r>
            <a:r>
              <a:rPr lang="en-US" sz="3200" b="1" dirty="0">
                <a:solidFill>
                  <a:schemeClr val="tx2"/>
                </a:solidFill>
              </a:rPr>
              <a:t>Range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5536" y="1687448"/>
            <a:ext cx="83529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solidFill>
                  <a:srgbClr val="0070C0"/>
                </a:solidFill>
              </a:rPr>
              <a:t>Range</a:t>
            </a:r>
            <a:r>
              <a:rPr lang="ru-RU" sz="2400" b="1" dirty="0" smtClean="0">
                <a:solidFill>
                  <a:srgbClr val="0070C0"/>
                </a:solidFill>
              </a:rPr>
              <a:t> </a:t>
            </a:r>
            <a:r>
              <a:rPr lang="ru-RU" sz="2400" b="1" dirty="0" smtClean="0"/>
              <a:t>– представляет ячейку, строку</a:t>
            </a:r>
            <a:r>
              <a:rPr lang="ru-RU" sz="2400" b="1" dirty="0"/>
              <a:t>, столбец, выборку ячеек, содержащую один или несколько блоков ячеек (которые не обязательно должны быть смежными) и даже группу ячеек из разных листов</a:t>
            </a:r>
            <a:r>
              <a:rPr lang="ru-RU" sz="2400" b="1" dirty="0" smtClean="0"/>
              <a:t>.</a:t>
            </a:r>
          </a:p>
          <a:p>
            <a:pPr algn="just"/>
            <a:endParaRPr lang="ru-RU" sz="2400" b="1" dirty="0" smtClean="0"/>
          </a:p>
          <a:p>
            <a:pPr algn="just"/>
            <a:r>
              <a:rPr lang="ru-RU" sz="2400" dirty="0" smtClean="0"/>
              <a:t>Выделяем диапазон ячеек и очищаем:</a:t>
            </a:r>
            <a:endParaRPr lang="ru-RU" sz="2400" dirty="0"/>
          </a:p>
          <a:p>
            <a:pPr algn="just"/>
            <a:r>
              <a:rPr lang="en-US" sz="2400" dirty="0" err="1"/>
              <a:t>ThisApplication.ActiveCell.</a:t>
            </a:r>
            <a:r>
              <a:rPr lang="en-US" sz="2400" b="1" dirty="0" err="1">
                <a:solidFill>
                  <a:srgbClr val="0070C0"/>
                </a:solidFill>
              </a:rPr>
              <a:t>CurrentRegion.ClearContents</a:t>
            </a:r>
            <a:r>
              <a:rPr lang="en-US" sz="2400" b="1" dirty="0" smtClean="0">
                <a:solidFill>
                  <a:srgbClr val="0070C0"/>
                </a:solidFill>
              </a:rPr>
              <a:t>()</a:t>
            </a:r>
            <a:r>
              <a:rPr lang="en-US" sz="2400" dirty="0" smtClean="0"/>
              <a:t>;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281061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26216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Объект </a:t>
            </a:r>
            <a:r>
              <a:rPr lang="en-US" sz="3200" b="1" dirty="0">
                <a:solidFill>
                  <a:schemeClr val="tx2"/>
                </a:solidFill>
              </a:rPr>
              <a:t>Range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5536" y="1196752"/>
            <a:ext cx="835292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/>
              <a:t>Способы указания диапазона ячеек:</a:t>
            </a:r>
          </a:p>
          <a:p>
            <a:pPr algn="just"/>
            <a:endParaRPr lang="ru-RU" sz="2400" dirty="0"/>
          </a:p>
          <a:p>
            <a:pPr algn="just"/>
            <a:r>
              <a:rPr lang="en-US" sz="2400" dirty="0" err="1" smtClean="0"/>
              <a:t>rng</a:t>
            </a:r>
            <a:r>
              <a:rPr lang="en-US" sz="2400" dirty="0" smtClean="0"/>
              <a:t> </a:t>
            </a:r>
            <a:r>
              <a:rPr lang="en-US" sz="2400" dirty="0"/>
              <a:t>= </a:t>
            </a:r>
            <a:r>
              <a:rPr lang="en-US" sz="2400" dirty="0" err="1"/>
              <a:t>ws.</a:t>
            </a:r>
            <a:r>
              <a:rPr lang="en-US" sz="2400" b="1" dirty="0" err="1">
                <a:solidFill>
                  <a:srgbClr val="0070C0"/>
                </a:solidFill>
              </a:rPr>
              <a:t>get_Range</a:t>
            </a:r>
            <a:r>
              <a:rPr lang="en-US" sz="2400" dirty="0"/>
              <a:t>("A1", </a:t>
            </a:r>
            <a:r>
              <a:rPr lang="en-US" sz="2400" dirty="0" err="1"/>
              <a:t>Type.Missing</a:t>
            </a:r>
            <a:r>
              <a:rPr lang="en-US" sz="2400" dirty="0" smtClean="0"/>
              <a:t>);</a:t>
            </a:r>
            <a:endParaRPr lang="en-US" sz="2400" dirty="0"/>
          </a:p>
          <a:p>
            <a:pPr algn="just"/>
            <a:r>
              <a:rPr lang="en-US" sz="2400" dirty="0" err="1"/>
              <a:t>rng</a:t>
            </a:r>
            <a:r>
              <a:rPr lang="en-US" sz="2400" dirty="0"/>
              <a:t> = </a:t>
            </a:r>
            <a:r>
              <a:rPr lang="en-US" sz="2400" dirty="0" err="1"/>
              <a:t>ws.</a:t>
            </a:r>
            <a:r>
              <a:rPr lang="en-US" sz="2400" b="1" dirty="0" err="1">
                <a:solidFill>
                  <a:srgbClr val="0070C0"/>
                </a:solidFill>
              </a:rPr>
              <a:t>get_Range</a:t>
            </a:r>
            <a:r>
              <a:rPr lang="en-US" sz="2400" dirty="0"/>
              <a:t>("A1:B12", </a:t>
            </a:r>
            <a:r>
              <a:rPr lang="en-US" sz="2400" dirty="0" err="1"/>
              <a:t>Type.Missing</a:t>
            </a:r>
            <a:r>
              <a:rPr lang="en-US" sz="2400" dirty="0" smtClean="0"/>
              <a:t>);</a:t>
            </a:r>
            <a:endParaRPr lang="ru-RU" sz="2400" dirty="0" smtClean="0"/>
          </a:p>
          <a:p>
            <a:pPr algn="just"/>
            <a:r>
              <a:rPr lang="en-US" sz="2400" dirty="0" err="1"/>
              <a:t>rng</a:t>
            </a:r>
            <a:r>
              <a:rPr lang="en-US" sz="2400" dirty="0"/>
              <a:t> = </a:t>
            </a:r>
            <a:r>
              <a:rPr lang="en-US" sz="2400" dirty="0" err="1"/>
              <a:t>ws.</a:t>
            </a:r>
            <a:r>
              <a:rPr lang="en-US" sz="2400" b="1" dirty="0" err="1">
                <a:solidFill>
                  <a:srgbClr val="0070C0"/>
                </a:solidFill>
              </a:rPr>
              <a:t>get_Range</a:t>
            </a:r>
            <a:r>
              <a:rPr lang="en-US" sz="2400" dirty="0"/>
              <a:t>("A1", "C5");</a:t>
            </a:r>
            <a:endParaRPr lang="ru-RU" sz="2400" dirty="0"/>
          </a:p>
          <a:p>
            <a:pPr algn="just"/>
            <a:r>
              <a:rPr lang="en-US" sz="2400" dirty="0" err="1" smtClean="0"/>
              <a:t>rng</a:t>
            </a:r>
            <a:r>
              <a:rPr lang="en-US" sz="2400" dirty="0" smtClean="0"/>
              <a:t> </a:t>
            </a:r>
            <a:r>
              <a:rPr lang="en-US" sz="2400" dirty="0"/>
              <a:t>= (</a:t>
            </a:r>
            <a:r>
              <a:rPr lang="en-US" sz="2400" dirty="0" err="1"/>
              <a:t>Excel.Range</a:t>
            </a:r>
            <a:r>
              <a:rPr lang="en-US" sz="2400" dirty="0"/>
              <a:t>)</a:t>
            </a:r>
            <a:r>
              <a:rPr lang="en-US" sz="2400" dirty="0" err="1"/>
              <a:t>ws.</a:t>
            </a:r>
            <a:r>
              <a:rPr lang="en-US" sz="2400" b="1" dirty="0" err="1">
                <a:solidFill>
                  <a:srgbClr val="0070C0"/>
                </a:solidFill>
              </a:rPr>
              <a:t>Cells</a:t>
            </a:r>
            <a:r>
              <a:rPr lang="en-US" sz="2400" dirty="0"/>
              <a:t>[1, 1</a:t>
            </a:r>
            <a:r>
              <a:rPr lang="en-US" sz="2400" dirty="0" smtClean="0"/>
              <a:t>];</a:t>
            </a:r>
            <a:endParaRPr lang="ru-RU" sz="2400" dirty="0" smtClean="0"/>
          </a:p>
          <a:p>
            <a:pPr algn="just"/>
            <a:r>
              <a:rPr lang="en-US" sz="2400" dirty="0" err="1"/>
              <a:t>rng</a:t>
            </a:r>
            <a:r>
              <a:rPr lang="en-US" sz="2400" dirty="0"/>
              <a:t> = </a:t>
            </a:r>
            <a:r>
              <a:rPr lang="en-US" sz="2400" dirty="0" err="1"/>
              <a:t>ThisApplication.</a:t>
            </a:r>
            <a:r>
              <a:rPr lang="en-US" sz="2400" b="1" dirty="0" err="1">
                <a:solidFill>
                  <a:srgbClr val="0070C0"/>
                </a:solidFill>
              </a:rPr>
              <a:t>Range</a:t>
            </a:r>
            <a:r>
              <a:rPr lang="en-US" sz="2400" dirty="0"/>
              <a:t>("</a:t>
            </a:r>
            <a:r>
              <a:rPr lang="en-US" sz="2400" dirty="0" err="1"/>
              <a:t>SomeRangeName</a:t>
            </a:r>
            <a:r>
              <a:rPr lang="en-US" sz="2400" dirty="0"/>
              <a:t>", </a:t>
            </a:r>
            <a:r>
              <a:rPr lang="en-US" sz="2400" dirty="0" err="1"/>
              <a:t>Type.Missing</a:t>
            </a:r>
            <a:r>
              <a:rPr lang="en-US" sz="2400" dirty="0" smtClean="0"/>
              <a:t>);</a:t>
            </a:r>
            <a:endParaRPr lang="ru-RU" sz="2400" dirty="0" smtClean="0"/>
          </a:p>
          <a:p>
            <a:pPr algn="just"/>
            <a:r>
              <a:rPr lang="en-US" sz="2400" dirty="0" err="1"/>
              <a:t>rng</a:t>
            </a:r>
            <a:r>
              <a:rPr lang="en-US" sz="2400" dirty="0"/>
              <a:t> = (</a:t>
            </a:r>
            <a:r>
              <a:rPr lang="en-US" sz="2400" dirty="0" err="1"/>
              <a:t>Excel.Range</a:t>
            </a:r>
            <a:r>
              <a:rPr lang="en-US" sz="2400" dirty="0"/>
              <a:t>)</a:t>
            </a:r>
            <a:r>
              <a:rPr lang="en-US" sz="2400" dirty="0" err="1"/>
              <a:t>ws.</a:t>
            </a:r>
            <a:r>
              <a:rPr lang="en-US" sz="2400" b="1" dirty="0" err="1">
                <a:solidFill>
                  <a:srgbClr val="0070C0"/>
                </a:solidFill>
              </a:rPr>
              <a:t>Rows</a:t>
            </a:r>
            <a:r>
              <a:rPr lang="en-US" sz="2400" dirty="0"/>
              <a:t>["1:3", </a:t>
            </a:r>
            <a:r>
              <a:rPr lang="en-US" sz="2400" dirty="0" err="1"/>
              <a:t>Type.Missing</a:t>
            </a:r>
            <a:r>
              <a:rPr lang="en-US" sz="2400" dirty="0" smtClean="0"/>
              <a:t>];</a:t>
            </a:r>
            <a:endParaRPr lang="en-US" sz="2400" dirty="0"/>
          </a:p>
          <a:p>
            <a:pPr algn="just"/>
            <a:r>
              <a:rPr lang="en-US" sz="2400" dirty="0" err="1"/>
              <a:t>rng</a:t>
            </a:r>
            <a:r>
              <a:rPr lang="en-US" sz="2400" dirty="0"/>
              <a:t> = (</a:t>
            </a:r>
            <a:r>
              <a:rPr lang="en-US" sz="2400" dirty="0" err="1"/>
              <a:t>Excel.Range</a:t>
            </a:r>
            <a:r>
              <a:rPr lang="en-US" sz="2400" dirty="0"/>
              <a:t>)</a:t>
            </a:r>
            <a:r>
              <a:rPr lang="en-US" sz="2400" dirty="0" err="1"/>
              <a:t>ws.</a:t>
            </a:r>
            <a:r>
              <a:rPr lang="en-US" sz="2400" b="1" dirty="0" err="1">
                <a:solidFill>
                  <a:srgbClr val="0070C0"/>
                </a:solidFill>
              </a:rPr>
              <a:t>Columns</a:t>
            </a:r>
            <a:r>
              <a:rPr lang="en-US" sz="2400" dirty="0"/>
              <a:t>[3, </a:t>
            </a:r>
            <a:r>
              <a:rPr lang="en-US" sz="2400" dirty="0" err="1"/>
              <a:t>Type.Missing</a:t>
            </a:r>
            <a:r>
              <a:rPr lang="en-US" sz="2400" dirty="0" smtClean="0"/>
              <a:t>];</a:t>
            </a:r>
            <a:endParaRPr lang="ru-RU" sz="2400" dirty="0" smtClean="0"/>
          </a:p>
          <a:p>
            <a:pPr algn="just"/>
            <a:endParaRPr lang="ru-RU" sz="2400" dirty="0" smtClean="0"/>
          </a:p>
          <a:p>
            <a:pPr algn="just"/>
            <a:r>
              <a:rPr lang="en-US" sz="2400" dirty="0" err="1"/>
              <a:t>rng</a:t>
            </a:r>
            <a:r>
              <a:rPr lang="en-US" sz="2400" dirty="0"/>
              <a:t> = (</a:t>
            </a:r>
            <a:r>
              <a:rPr lang="en-US" sz="2400" dirty="0" err="1" smtClean="0"/>
              <a:t>Excel.Range</a:t>
            </a:r>
            <a:r>
              <a:rPr lang="en-US" sz="2400" dirty="0" smtClean="0"/>
              <a:t>)</a:t>
            </a:r>
            <a:r>
              <a:rPr lang="en-US" sz="2400" dirty="0" err="1" smtClean="0"/>
              <a:t>ws.Cells</a:t>
            </a:r>
            <a:r>
              <a:rPr lang="en-US" sz="2400" dirty="0" smtClean="0"/>
              <a:t>[1</a:t>
            </a:r>
            <a:r>
              <a:rPr lang="en-US" sz="2400" dirty="0"/>
              <a:t>, 1];</a:t>
            </a:r>
          </a:p>
          <a:p>
            <a:pPr algn="just"/>
            <a:r>
              <a:rPr lang="en-US" sz="2400" dirty="0" smtClean="0"/>
              <a:t>for 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= 1; </a:t>
            </a:r>
            <a:r>
              <a:rPr lang="en-US" sz="2400" dirty="0" err="1"/>
              <a:t>i</a:t>
            </a:r>
            <a:r>
              <a:rPr lang="en-US" sz="2400" dirty="0"/>
              <a:t> &lt;= 5; </a:t>
            </a:r>
            <a:r>
              <a:rPr lang="en-US" sz="2400" dirty="0" err="1"/>
              <a:t>i</a:t>
            </a:r>
            <a:r>
              <a:rPr lang="en-US" sz="2400" dirty="0" smtClean="0"/>
              <a:t>++)</a:t>
            </a:r>
            <a:r>
              <a:rPr lang="ru-RU" sz="2400" dirty="0" smtClean="0"/>
              <a:t>   </a:t>
            </a:r>
            <a:r>
              <a:rPr lang="en-US" sz="2400" dirty="0" err="1" smtClean="0"/>
              <a:t>rng.</a:t>
            </a:r>
            <a:r>
              <a:rPr lang="en-US" sz="2400" b="1" dirty="0" err="1" smtClean="0">
                <a:solidFill>
                  <a:srgbClr val="0070C0"/>
                </a:solidFill>
              </a:rPr>
              <a:t>get_Offset</a:t>
            </a:r>
            <a:r>
              <a:rPr lang="en-US" sz="2400" dirty="0" smtClean="0"/>
              <a:t>(</a:t>
            </a:r>
            <a:r>
              <a:rPr lang="en-US" sz="2400" dirty="0" err="1" smtClean="0"/>
              <a:t>i</a:t>
            </a:r>
            <a:r>
              <a:rPr lang="en-US" sz="2400" dirty="0"/>
              <a:t>, 0).Value2 = </a:t>
            </a:r>
            <a:r>
              <a:rPr lang="en-US" sz="2400" dirty="0" err="1"/>
              <a:t>i.ToString</a:t>
            </a:r>
            <a:r>
              <a:rPr lang="en-US" sz="2400" dirty="0"/>
              <a:t>();</a:t>
            </a:r>
          </a:p>
          <a:p>
            <a:pPr algn="just"/>
            <a:endParaRPr lang="ru-RU" sz="2400" dirty="0" smtClean="0"/>
          </a:p>
          <a:p>
            <a:pPr algn="just"/>
            <a:r>
              <a:rPr lang="en-US" sz="2400" dirty="0" err="1" smtClean="0"/>
              <a:t>ThisApplication.get_Range</a:t>
            </a:r>
            <a:endParaRPr lang="ru-RU" sz="2400" dirty="0" smtClean="0"/>
          </a:p>
          <a:p>
            <a:pPr algn="just"/>
            <a:r>
              <a:rPr lang="ru-RU" sz="2400" dirty="0"/>
              <a:t> </a:t>
            </a:r>
            <a:r>
              <a:rPr lang="ru-RU" sz="2400" dirty="0" smtClean="0"/>
              <a:t>              </a:t>
            </a:r>
            <a:r>
              <a:rPr lang="en-US" sz="2400" dirty="0" smtClean="0"/>
              <a:t>("</a:t>
            </a:r>
            <a:r>
              <a:rPr lang="en-US" sz="2400" dirty="0"/>
              <a:t>C3</a:t>
            </a:r>
            <a:r>
              <a:rPr lang="en-US" sz="2400" dirty="0" smtClean="0"/>
              <a:t>",</a:t>
            </a:r>
            <a:r>
              <a:rPr lang="ru-RU" sz="2400" dirty="0" smtClean="0"/>
              <a:t> </a:t>
            </a:r>
            <a:r>
              <a:rPr lang="en-US" sz="2400" dirty="0" err="1" smtClean="0"/>
              <a:t>Type.Missing</a:t>
            </a:r>
            <a:r>
              <a:rPr lang="en-US" sz="2400" dirty="0" smtClean="0"/>
              <a:t>).</a:t>
            </a:r>
            <a:r>
              <a:rPr lang="en-US" sz="2400" b="1" dirty="0" err="1" smtClean="0">
                <a:solidFill>
                  <a:srgbClr val="0070C0"/>
                </a:solidFill>
              </a:rPr>
              <a:t>CurrentRegion</a:t>
            </a:r>
            <a:r>
              <a:rPr lang="en-US" sz="2400" dirty="0" err="1" smtClean="0"/>
              <a:t>.Font.Bold</a:t>
            </a:r>
            <a:r>
              <a:rPr lang="en-US" sz="2400" dirty="0" smtClean="0"/>
              <a:t> </a:t>
            </a:r>
            <a:r>
              <a:rPr lang="en-US" sz="2400" dirty="0"/>
              <a:t>= True;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3406952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38284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Свойства </a:t>
            </a:r>
            <a:r>
              <a:rPr lang="en-US" sz="3200" b="1" dirty="0" smtClean="0">
                <a:solidFill>
                  <a:schemeClr val="tx2"/>
                </a:solidFill>
              </a:rPr>
              <a:t>Application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251520" y="1506264"/>
            <a:ext cx="874846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>
                <a:solidFill>
                  <a:srgbClr val="0070C0"/>
                </a:solidFill>
              </a:rPr>
              <a:t>RecentFiles</a:t>
            </a:r>
            <a:r>
              <a:rPr lang="ru-RU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smtClean="0"/>
              <a:t>–</a:t>
            </a:r>
            <a:r>
              <a:rPr lang="ru-RU" sz="2400" b="1" dirty="0" smtClean="0"/>
              <a:t> возвращает </a:t>
            </a:r>
            <a:r>
              <a:rPr lang="ru-RU" sz="2400" b="1" dirty="0"/>
              <a:t>набор строк, содержащий имена всех файлов, которые показываются в меню </a:t>
            </a:r>
            <a:r>
              <a:rPr lang="ru-RU" sz="2400" b="1" dirty="0" err="1"/>
              <a:t>File</a:t>
            </a:r>
            <a:r>
              <a:rPr lang="ru-RU" sz="2400" b="1" dirty="0"/>
              <a:t> в списке недавно использовавшихся </a:t>
            </a:r>
            <a:r>
              <a:rPr lang="ru-RU" sz="2400" b="1" dirty="0" smtClean="0"/>
              <a:t>файлов.</a:t>
            </a:r>
          </a:p>
          <a:p>
            <a:endParaRPr lang="ru-RU" sz="2400" b="1" dirty="0"/>
          </a:p>
          <a:p>
            <a:r>
              <a:rPr lang="en-US" sz="2400" dirty="0"/>
              <a:t>private void </a:t>
            </a:r>
            <a:r>
              <a:rPr lang="en-US" sz="2400" dirty="0" err="1"/>
              <a:t>ListRecentFiles</a:t>
            </a:r>
            <a:r>
              <a:rPr lang="en-US" sz="2400" dirty="0"/>
              <a:t>()</a:t>
            </a:r>
          </a:p>
          <a:p>
            <a:r>
              <a:rPr lang="en-US" sz="2400" dirty="0" smtClean="0"/>
              <a:t>{</a:t>
            </a:r>
            <a:endParaRPr lang="en-US" sz="2400" dirty="0"/>
          </a:p>
          <a:p>
            <a:r>
              <a:rPr lang="ru-RU" sz="2400" dirty="0" smtClean="0"/>
              <a:t>   </a:t>
            </a:r>
            <a:r>
              <a:rPr lang="en-US" sz="2400" dirty="0" err="1" smtClean="0"/>
              <a:t>Excel.Range</a:t>
            </a:r>
            <a:r>
              <a:rPr lang="en-US" sz="2400" dirty="0" smtClean="0"/>
              <a:t> </a:t>
            </a:r>
            <a:r>
              <a:rPr lang="en-US" sz="2400" dirty="0" err="1"/>
              <a:t>rng</a:t>
            </a:r>
            <a:r>
              <a:rPr lang="en-US" sz="2400" dirty="0"/>
              <a:t> = (</a:t>
            </a:r>
            <a:r>
              <a:rPr lang="en-US" sz="2400" dirty="0" err="1"/>
              <a:t>Excel.Range</a:t>
            </a:r>
            <a:r>
              <a:rPr lang="en-US" sz="2400" dirty="0"/>
              <a:t>)</a:t>
            </a:r>
            <a:r>
              <a:rPr lang="en-US" sz="2400" dirty="0" err="1"/>
              <a:t>ThisApplication</a:t>
            </a:r>
            <a:r>
              <a:rPr lang="en-US" sz="2400" dirty="0"/>
              <a:t>.</a:t>
            </a:r>
          </a:p>
          <a:p>
            <a:r>
              <a:rPr lang="ru-RU" sz="2400" dirty="0" smtClean="0"/>
              <a:t>       </a:t>
            </a:r>
            <a:r>
              <a:rPr lang="en-US" sz="2400" dirty="0" err="1" smtClean="0"/>
              <a:t>get_Range</a:t>
            </a:r>
            <a:r>
              <a:rPr lang="en-US" sz="2400" dirty="0"/>
              <a:t>("</a:t>
            </a:r>
            <a:r>
              <a:rPr lang="en-US" sz="2400" dirty="0" err="1"/>
              <a:t>RecentFiles</a:t>
            </a:r>
            <a:r>
              <a:rPr lang="en-US" sz="2400" dirty="0"/>
              <a:t>", </a:t>
            </a:r>
            <a:r>
              <a:rPr lang="en-US" sz="2400" dirty="0" err="1"/>
              <a:t>Type.Missing</a:t>
            </a:r>
            <a:r>
              <a:rPr lang="en-US" sz="2400" dirty="0"/>
              <a:t>).Cells[1, 1];</a:t>
            </a:r>
          </a:p>
          <a:p>
            <a:r>
              <a:rPr lang="ru-RU" sz="2400" dirty="0" smtClean="0"/>
              <a:t>   </a:t>
            </a:r>
            <a:r>
              <a:rPr lang="en-US" sz="2400" dirty="0" smtClean="0"/>
              <a:t>for 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= 1; </a:t>
            </a:r>
            <a:r>
              <a:rPr lang="en-US" sz="2400" dirty="0" err="1"/>
              <a:t>i</a:t>
            </a:r>
            <a:r>
              <a:rPr lang="en-US" sz="2400" dirty="0"/>
              <a:t> &lt;= </a:t>
            </a:r>
            <a:r>
              <a:rPr lang="en-US" sz="2400" dirty="0" err="1"/>
              <a:t>ThisApplication.</a:t>
            </a:r>
            <a:r>
              <a:rPr lang="en-US" sz="2400" b="1" dirty="0" err="1"/>
              <a:t>RecentFiles</a:t>
            </a:r>
            <a:r>
              <a:rPr lang="en-US" sz="2400" dirty="0" err="1"/>
              <a:t>.Count</a:t>
            </a:r>
            <a:r>
              <a:rPr lang="en-US" sz="2400" dirty="0"/>
              <a:t>; </a:t>
            </a:r>
            <a:r>
              <a:rPr lang="en-US" sz="2400" dirty="0" err="1"/>
              <a:t>i</a:t>
            </a:r>
            <a:r>
              <a:rPr lang="en-US" sz="2400" dirty="0"/>
              <a:t>++)</a:t>
            </a:r>
          </a:p>
          <a:p>
            <a:r>
              <a:rPr lang="ru-RU" sz="2400" dirty="0" smtClean="0"/>
              <a:t>   </a:t>
            </a:r>
            <a:r>
              <a:rPr lang="en-US" sz="2400" dirty="0" smtClean="0"/>
              <a:t>{</a:t>
            </a:r>
            <a:endParaRPr lang="en-US" sz="2400" dirty="0"/>
          </a:p>
          <a:p>
            <a:r>
              <a:rPr lang="ru-RU" sz="2400" dirty="0" smtClean="0"/>
              <a:t>      </a:t>
            </a:r>
            <a:r>
              <a:rPr lang="en-US" sz="2400" dirty="0" err="1" smtClean="0"/>
              <a:t>rng.get_Offset</a:t>
            </a:r>
            <a:r>
              <a:rPr lang="en-US" sz="2400" dirty="0" smtClean="0"/>
              <a:t>(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/>
              <a:t>- 1, 0).Value2 = </a:t>
            </a:r>
            <a:r>
              <a:rPr lang="ru-RU" sz="2400" dirty="0" smtClean="0"/>
              <a:t>  </a:t>
            </a:r>
          </a:p>
          <a:p>
            <a:r>
              <a:rPr lang="ru-RU" sz="2400" dirty="0"/>
              <a:t> </a:t>
            </a:r>
            <a:r>
              <a:rPr lang="ru-RU" sz="2400" dirty="0" smtClean="0"/>
              <a:t>              </a:t>
            </a:r>
            <a:r>
              <a:rPr lang="en-US" sz="2400" dirty="0" err="1" smtClean="0"/>
              <a:t>ThisApplication.</a:t>
            </a:r>
            <a:r>
              <a:rPr lang="en-US" sz="2400" b="1" dirty="0" err="1" smtClean="0"/>
              <a:t>RecentFiles</a:t>
            </a:r>
            <a:r>
              <a:rPr lang="en-US" sz="2400" dirty="0" smtClean="0"/>
              <a:t>[</a:t>
            </a:r>
            <a:r>
              <a:rPr lang="en-US" sz="2400" dirty="0" err="1" smtClean="0"/>
              <a:t>i</a:t>
            </a:r>
            <a:r>
              <a:rPr lang="en-US" sz="2400" dirty="0"/>
              <a:t>].Name;</a:t>
            </a:r>
          </a:p>
          <a:p>
            <a:r>
              <a:rPr lang="ru-RU" sz="2400" dirty="0" smtClean="0"/>
              <a:t>   </a:t>
            </a:r>
            <a:r>
              <a:rPr lang="en-US" sz="2400" dirty="0" smtClean="0"/>
              <a:t>}</a:t>
            </a:r>
            <a:endParaRPr lang="en-US" sz="2400" dirty="0"/>
          </a:p>
          <a:p>
            <a:r>
              <a:rPr lang="en-US" sz="2400" dirty="0" smtClean="0"/>
              <a:t>}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2998656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53769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Считывание</a:t>
            </a:r>
            <a:r>
              <a:rPr lang="en-US" sz="3200" b="1" dirty="0" smtClean="0">
                <a:solidFill>
                  <a:schemeClr val="tx2"/>
                </a:solidFill>
              </a:rPr>
              <a:t> </a:t>
            </a:r>
            <a:r>
              <a:rPr lang="ru-RU" sz="3200" b="1" dirty="0" smtClean="0">
                <a:solidFill>
                  <a:schemeClr val="tx2"/>
                </a:solidFill>
              </a:rPr>
              <a:t>данных из </a:t>
            </a:r>
            <a:r>
              <a:rPr lang="en-US" sz="3200" b="1" dirty="0" smtClean="0">
                <a:solidFill>
                  <a:schemeClr val="tx2"/>
                </a:solidFill>
              </a:rPr>
              <a:t>Excel</a:t>
            </a:r>
            <a:r>
              <a:rPr lang="ru-RU" sz="3200" b="1" dirty="0">
                <a:solidFill>
                  <a:schemeClr val="tx2"/>
                </a:solidFill>
              </a:rPr>
              <a:t>: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395536" y="1415673"/>
            <a:ext cx="856895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//Создаем экземпляр приложения </a:t>
            </a:r>
            <a:r>
              <a:rPr lang="en-US" sz="2400" dirty="0" smtClean="0"/>
              <a:t>Excel</a:t>
            </a:r>
            <a:r>
              <a:rPr lang="ru-RU" sz="2400" dirty="0" smtClean="0"/>
              <a:t>:</a:t>
            </a:r>
          </a:p>
          <a:p>
            <a:r>
              <a:rPr lang="en-US" sz="2400" dirty="0" err="1" smtClean="0"/>
              <a:t>Microsoft.Office.Interop.Excel.</a:t>
            </a:r>
            <a:r>
              <a:rPr lang="en-US" sz="2400" b="1" dirty="0" err="1" smtClean="0">
                <a:solidFill>
                  <a:srgbClr val="0070C0"/>
                </a:solidFill>
              </a:rPr>
              <a:t>Application</a:t>
            </a:r>
            <a:r>
              <a:rPr lang="en-US" sz="2400" b="1" dirty="0" smtClean="0">
                <a:solidFill>
                  <a:srgbClr val="0070C0"/>
                </a:solidFill>
              </a:rPr>
              <a:t> </a:t>
            </a:r>
            <a:r>
              <a:rPr lang="ru-RU" sz="2400" dirty="0" smtClean="0">
                <a:solidFill>
                  <a:srgbClr val="0070C0"/>
                </a:solidFill>
              </a:rPr>
              <a:t> </a:t>
            </a:r>
            <a:r>
              <a:rPr lang="en-US" sz="2400" dirty="0" err="1" smtClean="0"/>
              <a:t>ObjExcel</a:t>
            </a:r>
            <a:r>
              <a:rPr lang="en-US" sz="2400" dirty="0" smtClean="0"/>
              <a:t> </a:t>
            </a:r>
            <a:r>
              <a:rPr lang="en-US" sz="2400" dirty="0"/>
              <a:t>= new </a:t>
            </a:r>
            <a:r>
              <a:rPr lang="en-US" sz="2400" dirty="0" err="1"/>
              <a:t>Microsoft.Office.Interop.Excel.</a:t>
            </a:r>
            <a:r>
              <a:rPr lang="en-US" sz="2400" b="1" dirty="0" err="1">
                <a:solidFill>
                  <a:srgbClr val="0070C0"/>
                </a:solidFill>
              </a:rPr>
              <a:t>Application</a:t>
            </a:r>
            <a:r>
              <a:rPr lang="en-US" sz="2400" b="1" dirty="0">
                <a:solidFill>
                  <a:srgbClr val="0070C0"/>
                </a:solidFill>
              </a:rPr>
              <a:t>()</a:t>
            </a:r>
            <a:r>
              <a:rPr lang="en-US" sz="2400" dirty="0"/>
              <a:t>;</a:t>
            </a:r>
          </a:p>
          <a:p>
            <a:endParaRPr lang="ru-RU" sz="2400" dirty="0" smtClean="0"/>
          </a:p>
          <a:p>
            <a:r>
              <a:rPr lang="ru-RU" sz="2400" dirty="0" smtClean="0"/>
              <a:t>//Создаем книгу </a:t>
            </a:r>
            <a:r>
              <a:rPr lang="en-US" sz="2400" dirty="0" smtClean="0"/>
              <a:t>Excel</a:t>
            </a:r>
            <a:r>
              <a:rPr lang="ru-RU" sz="2400" dirty="0" smtClean="0"/>
              <a:t>:</a:t>
            </a:r>
            <a:endParaRPr lang="ru-RU" sz="2400" dirty="0"/>
          </a:p>
          <a:p>
            <a:r>
              <a:rPr lang="en-US" sz="2400" b="1" dirty="0" smtClean="0">
                <a:solidFill>
                  <a:srgbClr val="0070C0"/>
                </a:solidFill>
              </a:rPr>
              <a:t>Workbook </a:t>
            </a:r>
            <a:r>
              <a:rPr lang="en-US" sz="2400" dirty="0" err="1"/>
              <a:t>ObjWorkBook</a:t>
            </a:r>
            <a:r>
              <a:rPr lang="en-US" sz="2400" dirty="0"/>
              <a:t> = </a:t>
            </a:r>
            <a:r>
              <a:rPr lang="en-US" sz="2400" dirty="0" err="1" smtClean="0"/>
              <a:t>ObjExcel.Workbooks.Open</a:t>
            </a:r>
            <a:r>
              <a:rPr lang="en-US" sz="2400" dirty="0" smtClean="0"/>
              <a:t>(</a:t>
            </a:r>
            <a:r>
              <a:rPr lang="ru-RU" sz="2400" dirty="0" smtClean="0"/>
              <a:t>Файл</a:t>
            </a:r>
            <a:r>
              <a:rPr lang="en-US" sz="2400" dirty="0" smtClean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 smtClean="0"/>
              <a:t>Type.Missing</a:t>
            </a:r>
            <a:r>
              <a:rPr lang="en-US" sz="2400" dirty="0" smtClean="0"/>
              <a:t>, </a:t>
            </a:r>
            <a:r>
              <a:rPr lang="en-US" sz="2400" dirty="0" err="1" smtClean="0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 smtClean="0"/>
              <a:t>Type.Missing</a:t>
            </a:r>
            <a:r>
              <a:rPr lang="en-US" sz="2400" dirty="0" smtClean="0"/>
              <a:t>, </a:t>
            </a:r>
            <a:r>
              <a:rPr lang="en-US" sz="2400" dirty="0" err="1" smtClean="0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);</a:t>
            </a:r>
          </a:p>
          <a:p>
            <a:endParaRPr lang="ru-RU" sz="2400" dirty="0"/>
          </a:p>
          <a:p>
            <a:r>
              <a:rPr lang="ru-RU" sz="2400" dirty="0" smtClean="0"/>
              <a:t>//Создаем</a:t>
            </a:r>
            <a:r>
              <a:rPr lang="en-US" sz="2400" dirty="0" smtClean="0"/>
              <a:t> </a:t>
            </a:r>
            <a:r>
              <a:rPr lang="ru-RU" sz="2400" dirty="0" smtClean="0"/>
              <a:t>лист </a:t>
            </a:r>
            <a:r>
              <a:rPr lang="en-US" sz="2400" dirty="0" smtClean="0"/>
              <a:t>Excel</a:t>
            </a:r>
            <a:r>
              <a:rPr lang="ru-RU" sz="2400" dirty="0" smtClean="0"/>
              <a:t>:</a:t>
            </a:r>
            <a:endParaRPr lang="ru-RU" sz="2400" dirty="0"/>
          </a:p>
          <a:p>
            <a:r>
              <a:rPr lang="en-US" sz="2400" b="1" dirty="0" smtClean="0">
                <a:solidFill>
                  <a:srgbClr val="0070C0"/>
                </a:solidFill>
              </a:rPr>
              <a:t>Worksheet </a:t>
            </a:r>
            <a:r>
              <a:rPr lang="en-US" sz="2400" dirty="0" err="1"/>
              <a:t>ObjWorkSheet</a:t>
            </a:r>
            <a:r>
              <a:rPr lang="en-US" sz="2400" dirty="0"/>
              <a:t> = </a:t>
            </a:r>
            <a:r>
              <a:rPr lang="en-US" sz="2400" dirty="0" err="1"/>
              <a:t>ObjExcel.ActiveSheet</a:t>
            </a:r>
            <a:r>
              <a:rPr lang="en-US" sz="2400" dirty="0"/>
              <a:t> as </a:t>
            </a:r>
            <a:r>
              <a:rPr lang="en-US" sz="2400" b="1" dirty="0">
                <a:solidFill>
                  <a:srgbClr val="0070C0"/>
                </a:solidFill>
              </a:rPr>
              <a:t>Worksheet</a:t>
            </a:r>
            <a:r>
              <a:rPr lang="en-US" sz="2400" dirty="0" smtClean="0"/>
              <a:t>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15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395536" y="1124744"/>
            <a:ext cx="856895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//Экземпляр ячейки:</a:t>
            </a:r>
            <a:endParaRPr lang="ru-RU" sz="2400" dirty="0"/>
          </a:p>
          <a:p>
            <a:r>
              <a:rPr lang="en-US" sz="2400" b="1" dirty="0" smtClean="0">
                <a:solidFill>
                  <a:srgbClr val="0070C0"/>
                </a:solidFill>
              </a:rPr>
              <a:t>Range </a:t>
            </a:r>
            <a:r>
              <a:rPr lang="en-US" sz="2400" dirty="0" err="1"/>
              <a:t>rg</a:t>
            </a:r>
            <a:r>
              <a:rPr lang="en-US" sz="2400" dirty="0"/>
              <a:t> = </a:t>
            </a:r>
            <a:r>
              <a:rPr lang="en-US" sz="2400" dirty="0" err="1" smtClean="0"/>
              <a:t>ObjWorkSheet.</a:t>
            </a:r>
            <a:r>
              <a:rPr lang="en-US" sz="2400" b="1" dirty="0" err="1" smtClean="0"/>
              <a:t>get_Range</a:t>
            </a:r>
            <a:r>
              <a:rPr lang="en-US" sz="2400" dirty="0" smtClean="0"/>
              <a:t>(</a:t>
            </a:r>
            <a:r>
              <a:rPr lang="ru-RU" sz="2400" dirty="0" smtClean="0"/>
              <a:t>«</a:t>
            </a:r>
            <a:r>
              <a:rPr lang="en-US" sz="2400" dirty="0" smtClean="0"/>
              <a:t>a6</a:t>
            </a:r>
            <a:r>
              <a:rPr lang="ru-RU" sz="2400" dirty="0" smtClean="0"/>
              <a:t>»</a:t>
            </a:r>
            <a:r>
              <a:rPr lang="en-US" sz="2400" dirty="0" smtClean="0"/>
              <a:t>, </a:t>
            </a:r>
            <a:r>
              <a:rPr lang="ru-RU" sz="2400" dirty="0" smtClean="0"/>
              <a:t>«</a:t>
            </a:r>
            <a:r>
              <a:rPr lang="en-US" sz="2400" dirty="0" smtClean="0"/>
              <a:t>e7</a:t>
            </a:r>
            <a:r>
              <a:rPr lang="ru-RU" sz="2400" dirty="0" smtClean="0"/>
              <a:t>»</a:t>
            </a:r>
            <a:r>
              <a:rPr lang="en-US" sz="2400" dirty="0" smtClean="0"/>
              <a:t>);</a:t>
            </a:r>
            <a:endParaRPr lang="en-US" sz="2400" dirty="0"/>
          </a:p>
          <a:p>
            <a:r>
              <a:rPr lang="ru-RU" sz="2400" dirty="0"/>
              <a:t>            </a:t>
            </a:r>
          </a:p>
          <a:p>
            <a:r>
              <a:rPr lang="en-US" sz="2400" dirty="0" smtClean="0"/>
              <a:t>foreach </a:t>
            </a:r>
            <a:r>
              <a:rPr lang="en-US" sz="2400" dirty="0"/>
              <a:t>(</a:t>
            </a:r>
            <a:r>
              <a:rPr lang="en-US" sz="2400" b="1" dirty="0">
                <a:solidFill>
                  <a:srgbClr val="0070C0"/>
                </a:solidFill>
              </a:rPr>
              <a:t>Range </a:t>
            </a:r>
            <a:r>
              <a:rPr lang="en-US" sz="2400" dirty="0"/>
              <a:t>item </a:t>
            </a:r>
            <a:r>
              <a:rPr lang="en-US" sz="2400" b="1" dirty="0"/>
              <a:t>in</a:t>
            </a:r>
            <a:r>
              <a:rPr lang="en-US" sz="2400" dirty="0"/>
              <a:t> </a:t>
            </a:r>
            <a:r>
              <a:rPr lang="en-US" sz="2400" dirty="0" err="1"/>
              <a:t>rg</a:t>
            </a:r>
            <a:r>
              <a:rPr lang="en-US" sz="2400" dirty="0"/>
              <a:t>)</a:t>
            </a:r>
          </a:p>
          <a:p>
            <a:r>
              <a:rPr lang="ru-RU" sz="2400" dirty="0" smtClean="0"/>
              <a:t>     </a:t>
            </a:r>
            <a:r>
              <a:rPr lang="en-US" sz="2400" dirty="0" err="1" smtClean="0"/>
              <a:t>MessageBox.Show</a:t>
            </a:r>
            <a:r>
              <a:rPr lang="en-US" sz="2400" dirty="0" smtClean="0"/>
              <a:t>(</a:t>
            </a:r>
            <a:r>
              <a:rPr lang="en-US" sz="2400" dirty="0" err="1" smtClean="0"/>
              <a:t>item.Text.ToString</a:t>
            </a:r>
            <a:r>
              <a:rPr lang="en-US" sz="2400" dirty="0" smtClean="0"/>
              <a:t>());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 smtClean="0"/>
              <a:t>//</a:t>
            </a:r>
            <a:r>
              <a:rPr lang="ru-RU" sz="2400" dirty="0"/>
              <a:t>Закрытие приложения </a:t>
            </a:r>
            <a:r>
              <a:rPr lang="en-US" sz="2400" dirty="0"/>
              <a:t>Excel</a:t>
            </a:r>
          </a:p>
          <a:p>
            <a:r>
              <a:rPr lang="en-US" sz="2400" dirty="0" err="1" smtClean="0"/>
              <a:t>ObjExcel.</a:t>
            </a:r>
            <a:r>
              <a:rPr lang="en-US" sz="2400" b="1" dirty="0" err="1" smtClean="0">
                <a:solidFill>
                  <a:srgbClr val="0070C0"/>
                </a:solidFill>
              </a:rPr>
              <a:t>Quit</a:t>
            </a:r>
            <a:r>
              <a:rPr lang="en-US" sz="2400" b="1" dirty="0">
                <a:solidFill>
                  <a:srgbClr val="0070C0"/>
                </a:solidFill>
              </a:rPr>
              <a:t>()</a:t>
            </a:r>
            <a:r>
              <a:rPr lang="en-US" sz="2400" dirty="0"/>
              <a:t>;</a:t>
            </a:r>
          </a:p>
          <a:p>
            <a:r>
              <a:rPr lang="ru-RU" sz="2400" dirty="0" smtClean="0"/>
              <a:t>//</a:t>
            </a:r>
            <a:r>
              <a:rPr lang="ru-RU" sz="2400" dirty="0"/>
              <a:t>Обнуляем </a:t>
            </a:r>
            <a:r>
              <a:rPr lang="ru-RU" sz="2400" dirty="0" err="1"/>
              <a:t>созданые</a:t>
            </a:r>
            <a:r>
              <a:rPr lang="ru-RU" sz="2400" dirty="0"/>
              <a:t> объекты</a:t>
            </a:r>
          </a:p>
          <a:p>
            <a:r>
              <a:rPr lang="en-US" sz="2400" dirty="0" err="1" smtClean="0"/>
              <a:t>ObjWorkBook</a:t>
            </a:r>
            <a:r>
              <a:rPr lang="en-US" sz="2400" dirty="0" smtClean="0"/>
              <a:t> </a:t>
            </a:r>
            <a:r>
              <a:rPr lang="en-US" sz="2400" dirty="0"/>
              <a:t>= null;</a:t>
            </a:r>
          </a:p>
          <a:p>
            <a:r>
              <a:rPr lang="en-US" sz="2400" dirty="0" err="1" smtClean="0"/>
              <a:t>ObjWorkSheet</a:t>
            </a:r>
            <a:r>
              <a:rPr lang="en-US" sz="2400" dirty="0" smtClean="0"/>
              <a:t> </a:t>
            </a:r>
            <a:r>
              <a:rPr lang="en-US" sz="2400" dirty="0"/>
              <a:t>= null;</a:t>
            </a:r>
          </a:p>
          <a:p>
            <a:r>
              <a:rPr lang="en-US" sz="2400" dirty="0" err="1" smtClean="0"/>
              <a:t>ObjExcel</a:t>
            </a:r>
            <a:r>
              <a:rPr lang="en-US" sz="2400" dirty="0" smtClean="0"/>
              <a:t> </a:t>
            </a:r>
            <a:r>
              <a:rPr lang="en-US" sz="2400" dirty="0"/>
              <a:t>= null</a:t>
            </a:r>
            <a:r>
              <a:rPr lang="en-US" sz="2400" dirty="0" smtClean="0"/>
              <a:t>;</a:t>
            </a:r>
          </a:p>
          <a:p>
            <a:endParaRPr lang="en-US" sz="2400" dirty="0"/>
          </a:p>
          <a:p>
            <a:r>
              <a:rPr lang="ru-RU" sz="2400" dirty="0" smtClean="0"/>
              <a:t>//</a:t>
            </a:r>
            <a:r>
              <a:rPr lang="ru-RU" sz="2400" dirty="0"/>
              <a:t>Вызываем сборщик мусора для </a:t>
            </a:r>
            <a:r>
              <a:rPr lang="ru-RU" sz="2400" dirty="0" smtClean="0"/>
              <a:t>освобождения </a:t>
            </a:r>
            <a:r>
              <a:rPr lang="ru-RU" sz="2400" dirty="0"/>
              <a:t>памяти</a:t>
            </a:r>
          </a:p>
          <a:p>
            <a:r>
              <a:rPr lang="en-US" sz="2400" dirty="0" err="1" smtClean="0"/>
              <a:t>GC.Collect</a:t>
            </a:r>
            <a:r>
              <a:rPr lang="en-US" sz="2400" dirty="0"/>
              <a:t>();</a:t>
            </a:r>
            <a:endParaRPr lang="ru-RU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83568" y="477253"/>
            <a:ext cx="53769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Считывание</a:t>
            </a:r>
            <a:r>
              <a:rPr lang="en-US" sz="3200" b="1" dirty="0" smtClean="0">
                <a:solidFill>
                  <a:schemeClr val="tx2"/>
                </a:solidFill>
              </a:rPr>
              <a:t> </a:t>
            </a:r>
            <a:r>
              <a:rPr lang="ru-RU" sz="3200" b="1" dirty="0" smtClean="0">
                <a:solidFill>
                  <a:schemeClr val="tx2"/>
                </a:solidFill>
              </a:rPr>
              <a:t>данных из </a:t>
            </a:r>
            <a:r>
              <a:rPr lang="en-US" sz="3200" b="1" dirty="0" smtClean="0">
                <a:solidFill>
                  <a:schemeClr val="tx2"/>
                </a:solidFill>
              </a:rPr>
              <a:t>Excel</a:t>
            </a:r>
            <a:r>
              <a:rPr lang="ru-RU" sz="3200" b="1" dirty="0" smtClean="0">
                <a:solidFill>
                  <a:schemeClr val="tx2"/>
                </a:solidFill>
              </a:rPr>
              <a:t>: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24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395536" y="1415673"/>
            <a:ext cx="856895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Microsoft.Office.Interop.Excel.</a:t>
            </a:r>
            <a:r>
              <a:rPr lang="en-US" sz="2400" b="1" dirty="0" err="1">
                <a:solidFill>
                  <a:srgbClr val="0070C0"/>
                </a:solidFill>
              </a:rPr>
              <a:t>Application</a:t>
            </a:r>
            <a:r>
              <a:rPr lang="en-US" sz="2400" dirty="0"/>
              <a:t> </a:t>
            </a:r>
            <a:r>
              <a:rPr lang="en-US" sz="2400" dirty="0" err="1"/>
              <a:t>ObjExcel</a:t>
            </a:r>
            <a:r>
              <a:rPr lang="en-US" sz="2400" dirty="0"/>
              <a:t> = new </a:t>
            </a:r>
            <a:r>
              <a:rPr lang="en-US" sz="2400" dirty="0" err="1"/>
              <a:t>Microsoft.Office.Interop.Excel.</a:t>
            </a:r>
            <a:r>
              <a:rPr lang="en-US" sz="2400" b="1" dirty="0" err="1">
                <a:solidFill>
                  <a:srgbClr val="0070C0"/>
                </a:solidFill>
              </a:rPr>
              <a:t>Application</a:t>
            </a:r>
            <a:r>
              <a:rPr lang="en-US" sz="2400" b="1" dirty="0">
                <a:solidFill>
                  <a:srgbClr val="0070C0"/>
                </a:solidFill>
              </a:rPr>
              <a:t>()</a:t>
            </a:r>
            <a:r>
              <a:rPr lang="en-US" sz="2400" dirty="0"/>
              <a:t>;</a:t>
            </a:r>
          </a:p>
          <a:p>
            <a:r>
              <a:rPr lang="en-US" sz="2400" b="1" dirty="0" smtClean="0">
                <a:solidFill>
                  <a:srgbClr val="0070C0"/>
                </a:solidFill>
              </a:rPr>
              <a:t>Workbook </a:t>
            </a:r>
            <a:r>
              <a:rPr lang="en-US" sz="2400" dirty="0" err="1"/>
              <a:t>ObjWorkBook</a:t>
            </a:r>
            <a:r>
              <a:rPr lang="en-US" sz="2400" dirty="0"/>
              <a:t> = </a:t>
            </a:r>
            <a:r>
              <a:rPr lang="en-US" sz="2400" dirty="0" err="1"/>
              <a:t>ObjExcel.Workbooks.Add</a:t>
            </a:r>
            <a:r>
              <a:rPr lang="en-US" sz="2400" dirty="0"/>
              <a:t>(</a:t>
            </a:r>
            <a:r>
              <a:rPr lang="en-US" sz="2400" dirty="0" err="1"/>
              <a:t>System.Reflection.Missing.Value</a:t>
            </a:r>
            <a:r>
              <a:rPr lang="en-US" sz="2400" dirty="0"/>
              <a:t>);</a:t>
            </a:r>
          </a:p>
          <a:p>
            <a:r>
              <a:rPr lang="en-US" sz="2400" b="1" dirty="0" smtClean="0">
                <a:solidFill>
                  <a:srgbClr val="0070C0"/>
                </a:solidFill>
              </a:rPr>
              <a:t>Worksheet </a:t>
            </a:r>
            <a:r>
              <a:rPr lang="en-US" sz="2400" dirty="0" err="1"/>
              <a:t>ObjWorkSheet</a:t>
            </a:r>
            <a:r>
              <a:rPr lang="en-US" sz="2400" dirty="0"/>
              <a:t> = (</a:t>
            </a:r>
            <a:r>
              <a:rPr lang="en-US" sz="2400" dirty="0" err="1"/>
              <a:t>Microsoft.Office.Interop.Excel.</a:t>
            </a:r>
            <a:r>
              <a:rPr lang="en-US" sz="2400" b="1" dirty="0" err="1">
                <a:solidFill>
                  <a:srgbClr val="0070C0"/>
                </a:solidFill>
              </a:rPr>
              <a:t>Worksheet</a:t>
            </a:r>
            <a:r>
              <a:rPr lang="en-US" sz="2400" dirty="0"/>
              <a:t>)</a:t>
            </a:r>
            <a:r>
              <a:rPr lang="en-US" sz="2400" dirty="0" err="1"/>
              <a:t>ObjWorkBook.Sheets</a:t>
            </a:r>
            <a:r>
              <a:rPr lang="en-US" sz="2400" dirty="0"/>
              <a:t>[2];</a:t>
            </a:r>
          </a:p>
          <a:p>
            <a:endParaRPr lang="ru-RU" sz="2400" dirty="0"/>
          </a:p>
          <a:p>
            <a:r>
              <a:rPr lang="en-US" sz="2400" dirty="0" err="1" smtClean="0"/>
              <a:t>ObjWorkSheet.</a:t>
            </a:r>
            <a:r>
              <a:rPr lang="en-US" sz="2400" b="1" dirty="0" err="1" smtClean="0"/>
              <a:t>Activate</a:t>
            </a:r>
            <a:r>
              <a:rPr lang="en-US" sz="2400" b="1" dirty="0" smtClean="0"/>
              <a:t>()</a:t>
            </a:r>
            <a:r>
              <a:rPr lang="en-US" sz="2400" dirty="0" smtClean="0"/>
              <a:t>;</a:t>
            </a:r>
            <a:r>
              <a:rPr lang="ru-RU" sz="2400" dirty="0" smtClean="0"/>
              <a:t> </a:t>
            </a:r>
            <a:r>
              <a:rPr lang="en-US" sz="2400" dirty="0" smtClean="0"/>
              <a:t>//</a:t>
            </a:r>
            <a:r>
              <a:rPr lang="ru-RU" sz="2400" dirty="0" smtClean="0"/>
              <a:t>активируем второй лист</a:t>
            </a:r>
            <a:endParaRPr lang="en-US" sz="2400" dirty="0"/>
          </a:p>
          <a:p>
            <a:r>
              <a:rPr lang="en-US" sz="2400" dirty="0" err="1" smtClean="0"/>
              <a:t>ObjExcel.</a:t>
            </a:r>
            <a:r>
              <a:rPr lang="en-US" sz="2400" b="1" dirty="0" err="1" smtClean="0"/>
              <a:t>Cells</a:t>
            </a:r>
            <a:r>
              <a:rPr lang="en-US" sz="2400" dirty="0" smtClean="0"/>
              <a:t>[3</a:t>
            </a:r>
            <a:r>
              <a:rPr lang="en-US" sz="2400" dirty="0"/>
              <a:t>, 2] = </a:t>
            </a:r>
            <a:r>
              <a:rPr lang="ru-RU" sz="2400" dirty="0" smtClean="0"/>
              <a:t>«Привет мир!»;</a:t>
            </a:r>
            <a:endParaRPr lang="ru-RU" sz="2400" dirty="0"/>
          </a:p>
          <a:p>
            <a:r>
              <a:rPr lang="en-US" sz="2400" dirty="0" err="1" smtClean="0"/>
              <a:t>ObjWorkBook.</a:t>
            </a:r>
            <a:r>
              <a:rPr lang="en-US" sz="2400" b="1" dirty="0" err="1" smtClean="0"/>
              <a:t>SaveAs</a:t>
            </a:r>
            <a:r>
              <a:rPr lang="en-US" sz="2400" dirty="0" smtClean="0"/>
              <a:t>(«</a:t>
            </a:r>
            <a:r>
              <a:rPr lang="en-US" sz="2400" dirty="0"/>
              <a:t>C</a:t>
            </a:r>
            <a:r>
              <a:rPr lang="en-US" sz="2400" dirty="0" smtClean="0"/>
              <a:t>:\</a:t>
            </a:r>
            <a:r>
              <a:rPr lang="ru-RU" sz="2400" dirty="0" smtClean="0"/>
              <a:t>\</a:t>
            </a:r>
            <a:r>
              <a:rPr lang="en-US" sz="2400" dirty="0" smtClean="0"/>
              <a:t>111\</a:t>
            </a:r>
            <a:r>
              <a:rPr lang="ru-RU" sz="2400" dirty="0" smtClean="0"/>
              <a:t>\</a:t>
            </a:r>
            <a:r>
              <a:rPr lang="en-US" sz="2400" dirty="0" err="1"/>
              <a:t>e</a:t>
            </a:r>
            <a:r>
              <a:rPr lang="en-US" sz="2400" dirty="0" err="1" smtClean="0"/>
              <a:t>xcelFile</a:t>
            </a:r>
            <a:r>
              <a:rPr lang="ru-RU" sz="2400" dirty="0" smtClean="0"/>
              <a:t>.</a:t>
            </a:r>
            <a:r>
              <a:rPr lang="en-US" sz="2400" dirty="0" err="1" smtClean="0"/>
              <a:t>xlsx</a:t>
            </a:r>
            <a:r>
              <a:rPr lang="ru-RU" sz="2400" dirty="0" smtClean="0"/>
              <a:t>»</a:t>
            </a:r>
            <a:r>
              <a:rPr lang="en-US" sz="2400" dirty="0" smtClean="0"/>
              <a:t>,</a:t>
            </a:r>
            <a:endParaRPr lang="en-US" sz="2400" dirty="0"/>
          </a:p>
          <a:p>
            <a:r>
              <a:rPr lang="en-US" sz="2400" dirty="0" err="1" smtClean="0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</a:t>
            </a:r>
          </a:p>
          <a:p>
            <a:r>
              <a:rPr lang="en-US" sz="2400" dirty="0" err="1" smtClean="0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XlSaveAsAccessMode.xlExclusive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</a:t>
            </a:r>
          </a:p>
          <a:p>
            <a:r>
              <a:rPr lang="en-US" sz="2400" dirty="0" err="1" smtClean="0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/>
              <a:t>, </a:t>
            </a:r>
            <a:r>
              <a:rPr lang="en-US" sz="2400" dirty="0" err="1"/>
              <a:t>Type.Missing</a:t>
            </a:r>
            <a:r>
              <a:rPr lang="en-US" sz="2400" dirty="0" smtClean="0"/>
              <a:t>);</a:t>
            </a:r>
            <a:endParaRPr lang="en-US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83568" y="477253"/>
            <a:ext cx="42340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Запись</a:t>
            </a:r>
            <a:r>
              <a:rPr lang="en-US" sz="3200" b="1" dirty="0" smtClean="0">
                <a:solidFill>
                  <a:schemeClr val="tx2"/>
                </a:solidFill>
              </a:rPr>
              <a:t> </a:t>
            </a:r>
            <a:r>
              <a:rPr lang="ru-RU" sz="3200" b="1" dirty="0" smtClean="0">
                <a:solidFill>
                  <a:schemeClr val="tx2"/>
                </a:solidFill>
              </a:rPr>
              <a:t>данных в </a:t>
            </a:r>
            <a:r>
              <a:rPr lang="en-US" sz="3200" b="1" dirty="0" smtClean="0">
                <a:solidFill>
                  <a:schemeClr val="tx2"/>
                </a:solidFill>
              </a:rPr>
              <a:t>Excel</a:t>
            </a:r>
            <a:r>
              <a:rPr lang="ru-RU" sz="3200" b="1" dirty="0" smtClean="0">
                <a:solidFill>
                  <a:schemeClr val="tx2"/>
                </a:solidFill>
              </a:rPr>
              <a:t>: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95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395536" y="1371540"/>
            <a:ext cx="856895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//</a:t>
            </a:r>
            <a:r>
              <a:rPr lang="ru-RU" sz="2400" dirty="0"/>
              <a:t>Закрытие приложения </a:t>
            </a:r>
            <a:r>
              <a:rPr lang="en-US" sz="2400" dirty="0"/>
              <a:t>Excel</a:t>
            </a:r>
          </a:p>
          <a:p>
            <a:r>
              <a:rPr lang="en-US" sz="2400" dirty="0" err="1" smtClean="0"/>
              <a:t>ObjExcel.</a:t>
            </a:r>
            <a:r>
              <a:rPr lang="en-US" sz="2400" b="1" dirty="0" err="1" smtClean="0"/>
              <a:t>Quit</a:t>
            </a:r>
            <a:r>
              <a:rPr lang="en-US" sz="2400" b="1" dirty="0"/>
              <a:t>()</a:t>
            </a:r>
            <a:r>
              <a:rPr lang="en-US" sz="2400" dirty="0"/>
              <a:t>;</a:t>
            </a:r>
          </a:p>
          <a:p>
            <a:endParaRPr lang="ru-RU" sz="2400" dirty="0"/>
          </a:p>
          <a:p>
            <a:r>
              <a:rPr lang="ru-RU" sz="2400" dirty="0" smtClean="0"/>
              <a:t>//</a:t>
            </a:r>
            <a:r>
              <a:rPr lang="ru-RU" sz="2400"/>
              <a:t>Обнуляем </a:t>
            </a:r>
            <a:r>
              <a:rPr lang="ru-RU" sz="2400" smtClean="0"/>
              <a:t>созданные </a:t>
            </a:r>
            <a:r>
              <a:rPr lang="ru-RU" sz="2400" dirty="0"/>
              <a:t>объекты</a:t>
            </a:r>
          </a:p>
          <a:p>
            <a:r>
              <a:rPr lang="en-US" sz="2400" dirty="0" err="1" smtClean="0"/>
              <a:t>ObjWorkBook</a:t>
            </a:r>
            <a:r>
              <a:rPr lang="en-US" sz="2400" dirty="0" smtClean="0"/>
              <a:t> </a:t>
            </a:r>
            <a:r>
              <a:rPr lang="en-US" sz="2400" dirty="0"/>
              <a:t>= null;</a:t>
            </a:r>
          </a:p>
          <a:p>
            <a:r>
              <a:rPr lang="en-US" sz="2400" dirty="0" err="1" smtClean="0"/>
              <a:t>ObjWorkSheet</a:t>
            </a:r>
            <a:r>
              <a:rPr lang="en-US" sz="2400" dirty="0" smtClean="0"/>
              <a:t> </a:t>
            </a:r>
            <a:r>
              <a:rPr lang="en-US" sz="2400" dirty="0"/>
              <a:t>= null;</a:t>
            </a:r>
          </a:p>
          <a:p>
            <a:r>
              <a:rPr lang="en-US" sz="2400" dirty="0" err="1" smtClean="0"/>
              <a:t>ObjExcel</a:t>
            </a:r>
            <a:r>
              <a:rPr lang="en-US" sz="2400" dirty="0" smtClean="0"/>
              <a:t> </a:t>
            </a:r>
            <a:r>
              <a:rPr lang="en-US" sz="2400" dirty="0"/>
              <a:t>= null;</a:t>
            </a:r>
          </a:p>
          <a:p>
            <a:r>
              <a:rPr lang="ru-RU" sz="2400" dirty="0"/>
              <a:t>            </a:t>
            </a:r>
          </a:p>
          <a:p>
            <a:r>
              <a:rPr lang="ru-RU" sz="2400" dirty="0" smtClean="0"/>
              <a:t>//</a:t>
            </a:r>
            <a:r>
              <a:rPr lang="ru-RU" sz="2400" dirty="0"/>
              <a:t>Вызываем сборщик мусора для </a:t>
            </a:r>
            <a:r>
              <a:rPr lang="ru-RU" sz="2400" dirty="0" smtClean="0"/>
              <a:t>освобождения </a:t>
            </a:r>
            <a:r>
              <a:rPr lang="ru-RU" sz="2400" dirty="0"/>
              <a:t>памяти</a:t>
            </a:r>
          </a:p>
          <a:p>
            <a:r>
              <a:rPr lang="en-US" sz="2400" dirty="0" err="1" smtClean="0"/>
              <a:t>GC.</a:t>
            </a:r>
            <a:r>
              <a:rPr lang="en-US" sz="2400" b="1" dirty="0" err="1" smtClean="0"/>
              <a:t>Collect</a:t>
            </a:r>
            <a:r>
              <a:rPr lang="en-US" sz="2400" b="1" dirty="0"/>
              <a:t>()</a:t>
            </a:r>
            <a:r>
              <a:rPr lang="en-US" sz="2400" dirty="0"/>
              <a:t>;</a:t>
            </a:r>
            <a:endParaRPr lang="ru-RU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83568" y="477253"/>
            <a:ext cx="42340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Запись</a:t>
            </a:r>
            <a:r>
              <a:rPr lang="en-US" sz="3200" b="1" dirty="0" smtClean="0">
                <a:solidFill>
                  <a:schemeClr val="tx2"/>
                </a:solidFill>
              </a:rPr>
              <a:t> </a:t>
            </a:r>
            <a:r>
              <a:rPr lang="ru-RU" sz="3200" b="1" dirty="0" smtClean="0">
                <a:solidFill>
                  <a:schemeClr val="tx2"/>
                </a:solidFill>
              </a:rPr>
              <a:t>данных в </a:t>
            </a:r>
            <a:r>
              <a:rPr lang="en-US" sz="3200" b="1" dirty="0" smtClean="0">
                <a:solidFill>
                  <a:schemeClr val="tx2"/>
                </a:solidFill>
              </a:rPr>
              <a:t>Excel</a:t>
            </a:r>
            <a:r>
              <a:rPr lang="ru-RU" sz="3200" b="1" dirty="0" smtClean="0">
                <a:solidFill>
                  <a:schemeClr val="tx2"/>
                </a:solidFill>
              </a:rPr>
              <a:t>: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36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683568" y="477253"/>
            <a:ext cx="45574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Лабораторная работа 14</a:t>
            </a:r>
            <a:endParaRPr lang="ru-RU" sz="3200" dirty="0">
              <a:solidFill>
                <a:schemeClr val="tx2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04290" y="1628800"/>
            <a:ext cx="76401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Написать программное приложение, которое создает</a:t>
            </a:r>
            <a:br>
              <a:rPr lang="ru-RU" sz="2400" dirty="0" smtClean="0"/>
            </a:br>
            <a:r>
              <a:rPr lang="ru-RU" sz="2400" dirty="0" smtClean="0"/>
              <a:t>следующий </a:t>
            </a:r>
            <a:r>
              <a:rPr lang="en-US" sz="2400" dirty="0" smtClean="0"/>
              <a:t>Excel-</a:t>
            </a:r>
            <a:r>
              <a:rPr lang="ru-RU" sz="2400" dirty="0" smtClean="0"/>
              <a:t>файл</a:t>
            </a:r>
            <a:r>
              <a:rPr lang="en-US" sz="2400" dirty="0"/>
              <a:t>:</a:t>
            </a:r>
            <a:endParaRPr lang="ru-RU" sz="24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61" y="2708920"/>
            <a:ext cx="6652407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269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5057</TotalTime>
  <Words>1050</Words>
  <Application>Microsoft Office PowerPoint</Application>
  <PresentationFormat>Экран (4:3)</PresentationFormat>
  <Paragraphs>190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3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Задания 1: (Операторы условия)</dc:title>
  <dc:creator>Студент</dc:creator>
  <cp:lastModifiedBy>Евгения</cp:lastModifiedBy>
  <cp:revision>776</cp:revision>
  <dcterms:created xsi:type="dcterms:W3CDTF">2013-01-22T14:12:12Z</dcterms:created>
  <dcterms:modified xsi:type="dcterms:W3CDTF">2026-04-24T05:11:38Z</dcterms:modified>
</cp:coreProperties>
</file>