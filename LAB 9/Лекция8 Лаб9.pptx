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320" r:id="rId3"/>
    <p:sldId id="344" r:id="rId4"/>
    <p:sldId id="355" r:id="rId5"/>
    <p:sldId id="336" r:id="rId6"/>
    <p:sldId id="342" r:id="rId7"/>
    <p:sldId id="340" r:id="rId8"/>
    <p:sldId id="345" r:id="rId9"/>
    <p:sldId id="379" r:id="rId10"/>
    <p:sldId id="380" r:id="rId11"/>
    <p:sldId id="337" r:id="rId12"/>
    <p:sldId id="341" r:id="rId13"/>
    <p:sldId id="356" r:id="rId14"/>
    <p:sldId id="357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81" r:id="rId32"/>
    <p:sldId id="395" r:id="rId33"/>
    <p:sldId id="396" r:id="rId34"/>
    <p:sldId id="383" r:id="rId35"/>
    <p:sldId id="384" r:id="rId36"/>
    <p:sldId id="385" r:id="rId37"/>
    <p:sldId id="386" r:id="rId38"/>
    <p:sldId id="394" r:id="rId39"/>
    <p:sldId id="388" r:id="rId40"/>
    <p:sldId id="389" r:id="rId41"/>
    <p:sldId id="335" r:id="rId42"/>
    <p:sldId id="390" r:id="rId43"/>
    <p:sldId id="391" r:id="rId44"/>
    <p:sldId id="392" r:id="rId45"/>
    <p:sldId id="393" r:id="rId4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A35B20C-B0A0-437F-906C-2712E879C014}">
          <p14:sldIdLst>
            <p14:sldId id="264"/>
            <p14:sldId id="320"/>
            <p14:sldId id="344"/>
            <p14:sldId id="355"/>
            <p14:sldId id="336"/>
            <p14:sldId id="342"/>
            <p14:sldId id="340"/>
            <p14:sldId id="345"/>
            <p14:sldId id="379"/>
            <p14:sldId id="380"/>
            <p14:sldId id="337"/>
            <p14:sldId id="341"/>
            <p14:sldId id="356"/>
            <p14:sldId id="357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81"/>
            <p14:sldId id="395"/>
            <p14:sldId id="396"/>
            <p14:sldId id="383"/>
            <p14:sldId id="384"/>
            <p14:sldId id="385"/>
            <p14:sldId id="386"/>
            <p14:sldId id="394"/>
            <p14:sldId id="388"/>
            <p14:sldId id="389"/>
            <p14:sldId id="335"/>
            <p14:sldId id="390"/>
            <p14:sldId id="391"/>
            <p14:sldId id="392"/>
            <p14:sldId id="3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43" autoAdjust="0"/>
    <p:restoredTop sz="94066" autoAdjust="0"/>
  </p:normalViewPr>
  <p:slideViewPr>
    <p:cSldViewPr>
      <p:cViewPr varScale="1">
        <p:scale>
          <a:sx n="65" d="100"/>
          <a:sy n="65" d="100"/>
        </p:scale>
        <p:origin x="1396" y="40"/>
      </p:cViewPr>
      <p:guideLst>
        <p:guide orient="horz" pos="2160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77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36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50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22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88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0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5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1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03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07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CE24-9CD1-4E26-AD1D-600F5DCD8325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68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288" y="1859340"/>
            <a:ext cx="82001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4800" b="1" dirty="0" smtClean="0">
                <a:solidFill>
                  <a:schemeClr val="tx2"/>
                </a:solidFill>
              </a:rPr>
              <a:t>Введение в </a:t>
            </a:r>
            <a:r>
              <a:rPr lang="en-US" sz="4800" b="1" dirty="0" smtClean="0">
                <a:solidFill>
                  <a:schemeClr val="tx2"/>
                </a:solidFill>
              </a:rPr>
              <a:t>LINQ</a:t>
            </a:r>
            <a:endParaRPr lang="en-US" sz="4800" b="1" dirty="0">
              <a:solidFill>
                <a:schemeClr val="tx2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48288" y="3155484"/>
            <a:ext cx="81281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ru-RU" sz="3200" b="1" dirty="0" smtClean="0"/>
              <a:t>Основы </a:t>
            </a:r>
            <a:r>
              <a:rPr lang="en-US" sz="3200" b="1" dirty="0" smtClean="0"/>
              <a:t>LINQ</a:t>
            </a:r>
            <a:endParaRPr lang="ru-RU" sz="3200" b="1" dirty="0" smtClean="0"/>
          </a:p>
          <a:p>
            <a:pPr marL="571500" indent="-571500">
              <a:buFont typeface="Arial" pitchFamily="34" charset="0"/>
              <a:buChar char="•"/>
            </a:pPr>
            <a:r>
              <a:rPr lang="ru-RU" sz="3200" b="1" dirty="0" smtClean="0"/>
              <a:t>Стандартные операторы запроса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ru-RU" sz="3200" b="1" dirty="0" smtClean="0"/>
              <a:t>Запросы-выражения</a:t>
            </a:r>
            <a:endParaRPr lang="en-US" sz="3200" b="1" dirty="0" smtClean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11560" y="2725164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35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2502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Основы </a:t>
            </a:r>
            <a:r>
              <a:rPr lang="en-US" sz="3200" b="1" dirty="0" smtClean="0">
                <a:solidFill>
                  <a:schemeClr val="tx2"/>
                </a:solidFill>
              </a:rPr>
              <a:t>LINQ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62744" y="1690930"/>
            <a:ext cx="85297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LINQ </a:t>
            </a:r>
            <a:r>
              <a:rPr lang="en-US" sz="2800" b="1" dirty="0"/>
              <a:t>(</a:t>
            </a:r>
            <a:r>
              <a:rPr lang="ru-RU" sz="2800" b="1" dirty="0" err="1" smtClean="0"/>
              <a:t>Language</a:t>
            </a:r>
            <a:r>
              <a:rPr lang="en-US" sz="2800" b="1" dirty="0" smtClean="0"/>
              <a:t> </a:t>
            </a:r>
            <a:r>
              <a:rPr lang="ru-RU" sz="2800" b="1" dirty="0" err="1" smtClean="0"/>
              <a:t>Integrated</a:t>
            </a:r>
            <a:r>
              <a:rPr lang="en-US" sz="2800" b="1" dirty="0"/>
              <a:t> </a:t>
            </a:r>
            <a:r>
              <a:rPr lang="ru-RU" sz="2800" b="1" dirty="0" smtClean="0"/>
              <a:t>Query</a:t>
            </a:r>
            <a:r>
              <a:rPr lang="en-US" sz="2800" b="1" dirty="0" smtClean="0"/>
              <a:t>)</a:t>
            </a:r>
            <a:r>
              <a:rPr lang="en-US" sz="2800" dirty="0" smtClean="0"/>
              <a:t> – </a:t>
            </a:r>
            <a:r>
              <a:rPr lang="ru-RU" sz="2800" dirty="0" smtClean="0"/>
              <a:t>технология,</a:t>
            </a:r>
            <a:r>
              <a:rPr lang="en-US" sz="2800" dirty="0" smtClean="0"/>
              <a:t> </a:t>
            </a:r>
            <a:r>
              <a:rPr lang="ru-RU" sz="2800" dirty="0" smtClean="0"/>
              <a:t>представляющая </a:t>
            </a:r>
            <a:r>
              <a:rPr lang="ru-RU" sz="2800" dirty="0"/>
              <a:t>собой набор функций, позволяющих писать структурированные </a:t>
            </a:r>
            <a:r>
              <a:rPr lang="ru-RU" sz="2800" dirty="0" smtClean="0"/>
              <a:t>безопасные </a:t>
            </a:r>
            <a:r>
              <a:rPr lang="ru-RU" sz="2800" dirty="0"/>
              <a:t>запросы к локальным объектам-коллекциям и удаленным источникам </a:t>
            </a:r>
            <a:r>
              <a:rPr lang="ru-RU" sz="2800" dirty="0" smtClean="0"/>
              <a:t>данных</a:t>
            </a:r>
            <a:r>
              <a:rPr lang="en-US" sz="2800" dirty="0"/>
              <a:t>.</a:t>
            </a:r>
            <a:endParaRPr lang="ru-RU" sz="2800" dirty="0"/>
          </a:p>
          <a:p>
            <a:endParaRPr lang="en-US" sz="2800" b="1" dirty="0" smtClean="0"/>
          </a:p>
          <a:p>
            <a:r>
              <a:rPr lang="ru-RU" sz="2800" b="1" dirty="0" smtClean="0"/>
              <a:t>LINQ</a:t>
            </a:r>
            <a:r>
              <a:rPr lang="ru-RU" sz="2800" dirty="0" smtClean="0"/>
              <a:t> </a:t>
            </a:r>
            <a:r>
              <a:rPr lang="ru-RU" sz="2800" dirty="0"/>
              <a:t>– это язык структурированных запросов к любым массивам и коллекциям объектов, управляемых вашей </a:t>
            </a:r>
            <a:r>
              <a:rPr lang="ru-RU" sz="2800" dirty="0" smtClean="0"/>
              <a:t>программой.</a:t>
            </a:r>
          </a:p>
        </p:txBody>
      </p:sp>
    </p:spTree>
    <p:extLst>
      <p:ext uri="{BB962C8B-B14F-4D97-AF65-F5344CB8AC3E}">
        <p14:creationId xmlns:p14="http://schemas.microsoft.com/office/powerpoint/2010/main" val="369684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AutoShape 2" descr="&amp;Acy;&amp;rcy;&amp;khcy;&amp;icy;&amp;tcy;&amp;iecy;&amp;kcy;&amp;tcy;&amp;ucy;&amp;rcy;&amp;acy; LINQ"/>
          <p:cNvSpPr>
            <a:spLocks noChangeAspect="1" noChangeArrowheads="1"/>
          </p:cNvSpPr>
          <p:nvPr/>
        </p:nvSpPr>
        <p:spPr bwMode="auto">
          <a:xfrm>
            <a:off x="155575" y="-1698625"/>
            <a:ext cx="469582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76166"/>
            <a:ext cx="6768752" cy="5121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683568" y="477253"/>
            <a:ext cx="33383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Архитектура </a:t>
            </a:r>
            <a:r>
              <a:rPr lang="en-US" sz="3200" b="1" dirty="0">
                <a:solidFill>
                  <a:schemeClr val="tx2"/>
                </a:solidFill>
              </a:rPr>
              <a:t>LINQ</a:t>
            </a:r>
          </a:p>
        </p:txBody>
      </p:sp>
    </p:spTree>
    <p:extLst>
      <p:ext uri="{BB962C8B-B14F-4D97-AF65-F5344CB8AC3E}">
        <p14:creationId xmlns:p14="http://schemas.microsoft.com/office/powerpoint/2010/main" val="184704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467544" y="1534140"/>
            <a:ext cx="838010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SQL-</a:t>
            </a:r>
            <a:r>
              <a:rPr lang="ru-RU" sz="2800" dirty="0" smtClean="0"/>
              <a:t>запрос:</a:t>
            </a:r>
          </a:p>
          <a:p>
            <a:r>
              <a:rPr lang="en-US" sz="2800" b="1" dirty="0" smtClean="0"/>
              <a:t>select</a:t>
            </a:r>
            <a:r>
              <a:rPr lang="en-US" sz="2800" dirty="0" smtClean="0"/>
              <a:t>  *  </a:t>
            </a:r>
            <a:r>
              <a:rPr lang="en-US" sz="2800" b="1" dirty="0"/>
              <a:t>from </a:t>
            </a:r>
            <a:r>
              <a:rPr lang="en-US" sz="2800" b="1" dirty="0" smtClean="0"/>
              <a:t> </a:t>
            </a:r>
            <a:r>
              <a:rPr lang="en-US" sz="2800" dirty="0"/>
              <a:t>s</a:t>
            </a:r>
            <a:r>
              <a:rPr lang="en-US" sz="2800" dirty="0" smtClean="0"/>
              <a:t>tudent  </a:t>
            </a:r>
          </a:p>
          <a:p>
            <a:r>
              <a:rPr lang="en-US" sz="2800" b="1" dirty="0" smtClean="0"/>
              <a:t>where</a:t>
            </a:r>
            <a:r>
              <a:rPr lang="en-US" sz="2800" dirty="0" smtClean="0"/>
              <a:t>  </a:t>
            </a:r>
            <a:r>
              <a:rPr lang="en-US" sz="2800" dirty="0"/>
              <a:t>s</a:t>
            </a:r>
            <a:r>
              <a:rPr lang="en-US" sz="2800" dirty="0" smtClean="0"/>
              <a:t>tipend &gt; 500 </a:t>
            </a:r>
            <a:r>
              <a:rPr lang="en-US" sz="2800" b="1" dirty="0" smtClean="0"/>
              <a:t>and </a:t>
            </a:r>
            <a:r>
              <a:rPr lang="ru-RU" sz="2800" b="1" dirty="0" smtClean="0"/>
              <a:t> </a:t>
            </a:r>
            <a:r>
              <a:rPr lang="en-US" sz="2800" dirty="0" err="1" smtClean="0"/>
              <a:t>kurs</a:t>
            </a:r>
            <a:r>
              <a:rPr lang="en-US" sz="2800" dirty="0" smtClean="0"/>
              <a:t> &gt; 3</a:t>
            </a:r>
          </a:p>
          <a:p>
            <a:endParaRPr lang="en-US" sz="2800" dirty="0" smtClean="0"/>
          </a:p>
          <a:p>
            <a:r>
              <a:rPr lang="ru-RU" sz="2800" dirty="0" smtClean="0"/>
              <a:t>Конструкция </a:t>
            </a:r>
            <a:r>
              <a:rPr lang="en-US" sz="2800" dirty="0" smtClean="0"/>
              <a:t>LINQ:</a:t>
            </a:r>
            <a:endParaRPr lang="en-US" sz="2800" dirty="0"/>
          </a:p>
          <a:p>
            <a:r>
              <a:rPr lang="en-US" sz="2800" dirty="0" smtClean="0"/>
              <a:t>var  result =</a:t>
            </a:r>
          </a:p>
          <a:p>
            <a:r>
              <a:rPr lang="en-US" sz="2800" b="1" dirty="0" smtClean="0"/>
              <a:t>	from  </a:t>
            </a:r>
            <a:r>
              <a:rPr lang="en-US" sz="2800" dirty="0" err="1"/>
              <a:t>s</a:t>
            </a:r>
            <a:r>
              <a:rPr lang="en-US" sz="2800" dirty="0" err="1" smtClean="0"/>
              <a:t>t</a:t>
            </a:r>
            <a:r>
              <a:rPr lang="en-US" sz="2800" dirty="0" smtClean="0"/>
              <a:t>  in  student</a:t>
            </a:r>
          </a:p>
          <a:p>
            <a:r>
              <a:rPr lang="en-US" sz="2800" b="1" dirty="0" smtClean="0"/>
              <a:t>	where  </a:t>
            </a:r>
            <a:r>
              <a:rPr lang="en-US" sz="2800" dirty="0" err="1" smtClean="0"/>
              <a:t>st.stipend</a:t>
            </a:r>
            <a:r>
              <a:rPr lang="en-US" sz="2800" dirty="0" smtClean="0"/>
              <a:t> &gt; 500 </a:t>
            </a:r>
            <a:r>
              <a:rPr lang="en-US" sz="2800" b="1" dirty="0" smtClean="0"/>
              <a:t>and </a:t>
            </a:r>
            <a:r>
              <a:rPr lang="en-US" sz="2800" dirty="0" err="1" smtClean="0"/>
              <a:t>st.kurs</a:t>
            </a:r>
            <a:r>
              <a:rPr lang="en-US" sz="2800" dirty="0" smtClean="0"/>
              <a:t> &gt; 3</a:t>
            </a:r>
          </a:p>
          <a:p>
            <a:r>
              <a:rPr lang="en-US" sz="2800" b="1" dirty="0" smtClean="0"/>
              <a:t>	select  </a:t>
            </a:r>
            <a:r>
              <a:rPr lang="en-US" sz="2800" dirty="0" err="1"/>
              <a:t>s</a:t>
            </a:r>
            <a:r>
              <a:rPr lang="en-US" sz="2800" dirty="0" err="1" smtClean="0"/>
              <a:t>t</a:t>
            </a:r>
            <a:r>
              <a:rPr lang="en-US" sz="2800" dirty="0" smtClean="0"/>
              <a:t>;</a:t>
            </a:r>
          </a:p>
          <a:p>
            <a:endParaRPr lang="en-US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477253"/>
            <a:ext cx="26356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Запросы </a:t>
            </a:r>
            <a:r>
              <a:rPr lang="en-US" sz="3200" b="1" dirty="0" smtClean="0">
                <a:solidFill>
                  <a:schemeClr val="tx2"/>
                </a:solidFill>
              </a:rPr>
              <a:t>LINQ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26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17916" y="1480228"/>
            <a:ext cx="852973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800" dirty="0" smtClean="0"/>
              <a:t>Первый оператор:</a:t>
            </a:r>
            <a:r>
              <a:rPr lang="ru-RU" sz="2800" b="1" dirty="0" smtClean="0"/>
              <a:t> </a:t>
            </a:r>
            <a:r>
              <a:rPr lang="ru-RU" sz="2800" b="1" dirty="0" err="1" smtClean="0"/>
              <a:t>from</a:t>
            </a:r>
            <a:r>
              <a:rPr lang="ru-RU" sz="2800" b="1" dirty="0"/>
              <a:t> </a:t>
            </a:r>
            <a:r>
              <a:rPr lang="ru-RU" sz="2800" dirty="0" smtClean="0"/>
              <a:t>– это объявление переменной диапазона.</a:t>
            </a:r>
          </a:p>
          <a:p>
            <a:pPr marL="457200" indent="-457200">
              <a:buFontTx/>
              <a:buAutoNum type="arabicPeriod"/>
            </a:pPr>
            <a:r>
              <a:rPr lang="ru-RU" sz="2800" dirty="0" smtClean="0"/>
              <a:t>Затем идет ограничивающий оператор</a:t>
            </a:r>
            <a:r>
              <a:rPr lang="en-US" sz="2800" dirty="0" smtClean="0"/>
              <a:t>:</a:t>
            </a:r>
            <a:r>
              <a:rPr lang="ru-RU" sz="2800" dirty="0" smtClean="0"/>
              <a:t> </a:t>
            </a:r>
            <a:r>
              <a:rPr lang="en-US" sz="2800" b="1" dirty="0" smtClean="0"/>
              <a:t>w</a:t>
            </a:r>
            <a:r>
              <a:rPr lang="ru-RU" sz="2800" b="1" dirty="0" err="1" smtClean="0"/>
              <a:t>here</a:t>
            </a:r>
            <a:r>
              <a:rPr lang="en-US" sz="2800" dirty="0" smtClean="0"/>
              <a:t> – </a:t>
            </a:r>
            <a:r>
              <a:rPr lang="ru-RU" sz="2800" dirty="0" smtClean="0"/>
              <a:t>фильтрация данных.</a:t>
            </a:r>
          </a:p>
          <a:p>
            <a:pPr marL="457200" indent="-457200">
              <a:buAutoNum type="arabicPeriod"/>
            </a:pPr>
            <a:r>
              <a:rPr lang="en-US" sz="2800" b="1" dirty="0"/>
              <a:t>O</a:t>
            </a:r>
            <a:r>
              <a:rPr lang="ru-RU" sz="2800" b="1" dirty="0" err="1" smtClean="0"/>
              <a:t>rder</a:t>
            </a:r>
            <a:r>
              <a:rPr lang="en-US" sz="2800" b="1" dirty="0" smtClean="0"/>
              <a:t>B</a:t>
            </a:r>
            <a:r>
              <a:rPr lang="ru-RU" sz="2800" b="1" dirty="0" smtClean="0"/>
              <a:t>y,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ThenBy</a:t>
            </a:r>
            <a:r>
              <a:rPr lang="ru-RU" sz="2800" dirty="0" smtClean="0"/>
              <a:t> – поле сортировки по одному или нескольким ключам (по возрастанию, убыванию).</a:t>
            </a:r>
          </a:p>
          <a:p>
            <a:pPr marL="457200" indent="-457200">
              <a:buFontTx/>
              <a:buAutoNum type="arabicPeriod"/>
            </a:pPr>
            <a:r>
              <a:rPr lang="ru-RU" sz="2800" dirty="0"/>
              <a:t>Оператор </a:t>
            </a:r>
            <a:r>
              <a:rPr lang="ru-RU" sz="2800" dirty="0" smtClean="0"/>
              <a:t>проекции</a:t>
            </a:r>
            <a:r>
              <a:rPr lang="en-US" sz="2800" dirty="0" smtClean="0"/>
              <a:t>:</a:t>
            </a:r>
            <a:r>
              <a:rPr lang="ru-RU" sz="2800" dirty="0" smtClean="0"/>
              <a:t> </a:t>
            </a:r>
            <a:r>
              <a:rPr lang="ru-RU" sz="2800" b="1" dirty="0" err="1" smtClean="0"/>
              <a:t>group</a:t>
            </a:r>
            <a:r>
              <a:rPr lang="ru-RU" sz="2800" dirty="0" smtClean="0"/>
              <a:t> или </a:t>
            </a:r>
            <a:r>
              <a:rPr lang="ru-RU" sz="2800" b="1" dirty="0" err="1"/>
              <a:t>select</a:t>
            </a:r>
            <a:r>
              <a:rPr lang="ru-RU" sz="2800" b="1" dirty="0"/>
              <a:t> </a:t>
            </a:r>
            <a:r>
              <a:rPr lang="ru-RU" sz="2800" dirty="0" smtClean="0"/>
              <a:t>– значения, полученные в запросе.</a:t>
            </a:r>
          </a:p>
          <a:p>
            <a:pPr marL="457200" indent="-457200">
              <a:buAutoNum type="arabicPeriod"/>
            </a:pPr>
            <a:r>
              <a:rPr lang="ru-RU" sz="2800" b="1" dirty="0" err="1"/>
              <a:t>join</a:t>
            </a:r>
            <a:r>
              <a:rPr lang="ru-RU" sz="2800" b="1" dirty="0"/>
              <a:t> </a:t>
            </a:r>
            <a:r>
              <a:rPr lang="ru-RU" sz="2800" dirty="0" smtClean="0"/>
              <a:t>– связывание элементов </a:t>
            </a:r>
            <a:r>
              <a:rPr lang="ru-RU" sz="2800" dirty="0"/>
              <a:t>из </a:t>
            </a:r>
            <a:r>
              <a:rPr lang="ru-RU" sz="2800" dirty="0" smtClean="0"/>
              <a:t>последовательностей</a:t>
            </a:r>
            <a:r>
              <a:rPr lang="ru-RU" sz="2800" dirty="0"/>
              <a:t>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83568" y="477253"/>
            <a:ext cx="6672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Правила составления запросов </a:t>
            </a:r>
            <a:r>
              <a:rPr lang="en-US" sz="3200" b="1" dirty="0">
                <a:solidFill>
                  <a:schemeClr val="tx2"/>
                </a:solidFill>
              </a:rPr>
              <a:t>LINQ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83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17916" y="1480228"/>
            <a:ext cx="85297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Интегрированный запрос:</a:t>
            </a:r>
          </a:p>
          <a:p>
            <a:r>
              <a:rPr lang="en-US" sz="2800" dirty="0" smtClean="0"/>
              <a:t>var </a:t>
            </a:r>
            <a:r>
              <a:rPr lang="ru-RU" sz="2800" dirty="0" smtClean="0"/>
              <a:t> </a:t>
            </a:r>
            <a:r>
              <a:rPr lang="en-US" sz="2800" dirty="0" smtClean="0"/>
              <a:t>contacts </a:t>
            </a:r>
            <a:r>
              <a:rPr lang="ru-RU" sz="2800" dirty="0" smtClean="0"/>
              <a:t> </a:t>
            </a:r>
            <a:r>
              <a:rPr lang="en-US" sz="2800" dirty="0"/>
              <a:t>= </a:t>
            </a:r>
            <a:r>
              <a:rPr lang="en-US" sz="2800" b="1" dirty="0" smtClean="0"/>
              <a:t>from</a:t>
            </a:r>
            <a:r>
              <a:rPr lang="en-US" sz="2800" dirty="0" smtClean="0"/>
              <a:t> </a:t>
            </a:r>
            <a:r>
              <a:rPr lang="ru-RU" sz="2800" dirty="0" smtClean="0"/>
              <a:t> </a:t>
            </a:r>
            <a:r>
              <a:rPr lang="en-US" sz="2800" dirty="0" smtClean="0"/>
              <a:t>c </a:t>
            </a:r>
            <a:r>
              <a:rPr lang="ru-RU" sz="2800" dirty="0" smtClean="0"/>
              <a:t> </a:t>
            </a:r>
            <a:r>
              <a:rPr lang="en-US" sz="2800" b="1" dirty="0"/>
              <a:t>in</a:t>
            </a:r>
            <a:r>
              <a:rPr lang="en-US" sz="2800" dirty="0"/>
              <a:t> </a:t>
            </a:r>
            <a:r>
              <a:rPr lang="ru-RU" sz="2800" dirty="0"/>
              <a:t> </a:t>
            </a:r>
            <a:r>
              <a:rPr lang="en-US" sz="2800" dirty="0" smtClean="0"/>
              <a:t>customers </a:t>
            </a:r>
            <a:endParaRPr lang="en-US" sz="2800" dirty="0"/>
          </a:p>
          <a:p>
            <a:r>
              <a:rPr lang="en-US" sz="2800" dirty="0"/>
              <a:t>                            </a:t>
            </a:r>
            <a:r>
              <a:rPr lang="en-US" sz="2800" b="1" dirty="0"/>
              <a:t>where </a:t>
            </a:r>
            <a:r>
              <a:rPr lang="ru-RU" sz="2800" b="1" dirty="0"/>
              <a:t> </a:t>
            </a:r>
            <a:r>
              <a:rPr lang="en-US" sz="2800" dirty="0" err="1" smtClean="0"/>
              <a:t>c.city</a:t>
            </a:r>
            <a:r>
              <a:rPr lang="ru-RU" sz="2800" dirty="0" smtClean="0"/>
              <a:t> </a:t>
            </a:r>
            <a:r>
              <a:rPr lang="en-US" sz="2800" dirty="0" smtClean="0"/>
              <a:t>== "</a:t>
            </a:r>
            <a:r>
              <a:rPr lang="ru-RU" sz="2800" dirty="0" smtClean="0"/>
              <a:t>Москва</a:t>
            </a:r>
            <a:r>
              <a:rPr lang="en-US" sz="2800" dirty="0" smtClean="0"/>
              <a:t>"</a:t>
            </a:r>
            <a:endParaRPr lang="en-US" sz="2800" dirty="0"/>
          </a:p>
          <a:p>
            <a:r>
              <a:rPr lang="en-US" sz="2800" dirty="0"/>
              <a:t>                            </a:t>
            </a:r>
            <a:r>
              <a:rPr lang="en-US" sz="2800" b="1" dirty="0"/>
              <a:t>select </a:t>
            </a:r>
            <a:r>
              <a:rPr lang="ru-RU" sz="2800" b="1" dirty="0"/>
              <a:t> </a:t>
            </a:r>
            <a:r>
              <a:rPr lang="en-US" sz="2800" dirty="0" smtClean="0"/>
              <a:t>new { </a:t>
            </a:r>
            <a:r>
              <a:rPr lang="en-US" sz="2800" dirty="0" err="1" smtClean="0"/>
              <a:t>c.city</a:t>
            </a:r>
            <a:r>
              <a:rPr lang="en-US" sz="2800" dirty="0" smtClean="0"/>
              <a:t>, </a:t>
            </a:r>
            <a:r>
              <a:rPr lang="en-US" sz="2800" dirty="0" err="1" smtClean="0"/>
              <a:t>c.phone</a:t>
            </a:r>
            <a:r>
              <a:rPr lang="ru-RU" sz="2800" dirty="0" smtClean="0"/>
              <a:t> </a:t>
            </a:r>
            <a:r>
              <a:rPr lang="en-US" sz="2800" dirty="0" smtClean="0"/>
              <a:t>};</a:t>
            </a:r>
            <a:endParaRPr lang="en-US" sz="2800" dirty="0"/>
          </a:p>
          <a:p>
            <a:endParaRPr lang="ru-RU" sz="2800" dirty="0" smtClean="0"/>
          </a:p>
          <a:p>
            <a:r>
              <a:rPr lang="ru-RU" sz="2800" b="1" dirty="0" smtClean="0"/>
              <a:t>С использованием </a:t>
            </a:r>
            <a:r>
              <a:rPr lang="ru-RU" sz="2800" b="1" i="1" dirty="0"/>
              <a:t>лямбда-выражений</a:t>
            </a:r>
            <a:r>
              <a:rPr lang="ru-RU" sz="2800" b="1" dirty="0"/>
              <a:t>:</a:t>
            </a:r>
            <a:endParaRPr lang="ru-RU" sz="2800" dirty="0"/>
          </a:p>
          <a:p>
            <a:r>
              <a:rPr lang="en-US" sz="2800" dirty="0"/>
              <a:t>var </a:t>
            </a:r>
            <a:r>
              <a:rPr lang="ru-RU" sz="2800" dirty="0"/>
              <a:t> </a:t>
            </a:r>
            <a:r>
              <a:rPr lang="en-US" sz="2800" dirty="0"/>
              <a:t>contacts </a:t>
            </a:r>
            <a:r>
              <a:rPr lang="ru-RU" sz="2800" dirty="0"/>
              <a:t> </a:t>
            </a:r>
            <a:r>
              <a:rPr lang="en-US" sz="2800" dirty="0"/>
              <a:t>= </a:t>
            </a:r>
            <a:r>
              <a:rPr lang="en-US" sz="2800" dirty="0" smtClean="0"/>
              <a:t>customers</a:t>
            </a:r>
          </a:p>
          <a:p>
            <a:r>
              <a:rPr lang="en-US" sz="2800" dirty="0" smtClean="0"/>
              <a:t>.</a:t>
            </a:r>
            <a:r>
              <a:rPr lang="en-US" sz="2800" b="1" dirty="0" smtClean="0"/>
              <a:t>Where</a:t>
            </a:r>
            <a:r>
              <a:rPr lang="en-US" sz="2800" dirty="0" smtClean="0"/>
              <a:t>(c =&gt; </a:t>
            </a:r>
            <a:r>
              <a:rPr lang="en-US" sz="2800" dirty="0" err="1" smtClean="0"/>
              <a:t>c.City</a:t>
            </a:r>
            <a:r>
              <a:rPr lang="ru-RU" sz="2800" dirty="0"/>
              <a:t> </a:t>
            </a:r>
            <a:r>
              <a:rPr lang="en-US" sz="2800" dirty="0" smtClean="0"/>
              <a:t>== "</a:t>
            </a:r>
            <a:r>
              <a:rPr lang="ru-RU" sz="2800" dirty="0" smtClean="0"/>
              <a:t>Москва</a:t>
            </a:r>
            <a:r>
              <a:rPr lang="en-US" sz="2800" dirty="0" smtClean="0"/>
              <a:t>")</a:t>
            </a:r>
          </a:p>
          <a:p>
            <a:r>
              <a:rPr lang="en-US" sz="2800" dirty="0" smtClean="0"/>
              <a:t>.</a:t>
            </a:r>
            <a:r>
              <a:rPr lang="en-US" sz="2800" b="1" dirty="0" smtClean="0"/>
              <a:t>Select</a:t>
            </a:r>
            <a:r>
              <a:rPr lang="en-US" sz="2800" dirty="0" smtClean="0"/>
              <a:t>(c =&gt; new </a:t>
            </a:r>
            <a:r>
              <a:rPr lang="en-US" sz="2800" dirty="0"/>
              <a:t>{ </a:t>
            </a:r>
            <a:r>
              <a:rPr lang="en-US" sz="2800" dirty="0" err="1" smtClean="0"/>
              <a:t>c.Name</a:t>
            </a:r>
            <a:r>
              <a:rPr lang="en-US" sz="2800" dirty="0" smtClean="0"/>
              <a:t>, </a:t>
            </a:r>
            <a:r>
              <a:rPr lang="en-US" sz="2800" dirty="0" err="1" smtClean="0"/>
              <a:t>c.Phone</a:t>
            </a:r>
            <a:r>
              <a:rPr lang="ru-RU" sz="2800" dirty="0" smtClean="0"/>
              <a:t> </a:t>
            </a:r>
            <a:r>
              <a:rPr lang="en-US" sz="2800" dirty="0" smtClean="0"/>
              <a:t>} );</a:t>
            </a:r>
            <a:endParaRPr lang="en-US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83568" y="477253"/>
            <a:ext cx="26356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Запросы </a:t>
            </a:r>
            <a:r>
              <a:rPr lang="en-US" sz="3200" b="1" dirty="0" smtClean="0">
                <a:solidFill>
                  <a:schemeClr val="tx2"/>
                </a:solidFill>
              </a:rPr>
              <a:t>LINQ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99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614658" y="1340768"/>
            <a:ext cx="798979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Лямбда-выражения</a:t>
            </a:r>
            <a:r>
              <a:rPr lang="ru-RU" sz="2800" dirty="0" smtClean="0"/>
              <a:t> (1936 г</a:t>
            </a:r>
            <a:r>
              <a:rPr lang="ru-RU" sz="2800" dirty="0"/>
              <a:t>. </a:t>
            </a:r>
            <a:r>
              <a:rPr lang="ru-RU" sz="2800" dirty="0" err="1" smtClean="0"/>
              <a:t>Alonzo</a:t>
            </a:r>
            <a:r>
              <a:rPr lang="ru-RU" sz="2800" dirty="0" smtClean="0"/>
              <a:t> </a:t>
            </a:r>
            <a:r>
              <a:rPr lang="ru-RU" sz="2800" dirty="0" err="1" smtClean="0"/>
              <a:t>Church</a:t>
            </a:r>
            <a:r>
              <a:rPr lang="ru-RU" sz="2800" dirty="0" smtClean="0"/>
              <a:t>) – сокращенный синтаксис </a:t>
            </a:r>
            <a:r>
              <a:rPr lang="ru-RU" sz="2800" dirty="0"/>
              <a:t>для определения алгоритма.</a:t>
            </a:r>
          </a:p>
          <a:p>
            <a:r>
              <a:rPr lang="ru-RU" sz="2800" dirty="0" smtClean="0"/>
              <a:t>Способ </a:t>
            </a:r>
            <a:r>
              <a:rPr lang="ru-RU" sz="2800" dirty="0"/>
              <a:t>указания алгоритма как аргумента </a:t>
            </a:r>
            <a:r>
              <a:rPr lang="ru-RU" sz="2800" dirty="0" smtClean="0"/>
              <a:t>метода.</a:t>
            </a:r>
          </a:p>
          <a:p>
            <a:endParaRPr lang="ru-RU" sz="2800" dirty="0" smtClean="0"/>
          </a:p>
          <a:p>
            <a:r>
              <a:rPr lang="ru-RU" sz="2800" b="1" dirty="0" smtClean="0"/>
              <a:t>Лямбда-оператор</a:t>
            </a:r>
            <a:r>
              <a:rPr lang="ru-RU" sz="2800" dirty="0" smtClean="0"/>
              <a:t> </a:t>
            </a:r>
            <a:r>
              <a:rPr lang="ru-RU" sz="2800" b="1" dirty="0" smtClean="0"/>
              <a:t>=&gt; </a:t>
            </a:r>
            <a:r>
              <a:rPr lang="ru-RU" sz="2800" dirty="0" smtClean="0"/>
              <a:t>читается </a:t>
            </a:r>
            <a:r>
              <a:rPr lang="ru-RU" sz="2800" dirty="0"/>
              <a:t>как «переходит в», </a:t>
            </a:r>
            <a:r>
              <a:rPr lang="ru-RU" sz="2800" dirty="0" smtClean="0"/>
              <a:t>или «возвращает»:</a:t>
            </a:r>
          </a:p>
          <a:p>
            <a:r>
              <a:rPr lang="ru-RU" sz="2800" b="1" dirty="0"/>
              <a:t>x =&gt; x * 5</a:t>
            </a:r>
            <a:endParaRPr lang="ru-RU" sz="2800" dirty="0"/>
          </a:p>
          <a:p>
            <a:endParaRPr lang="ru-RU" sz="2800" dirty="0" smtClean="0"/>
          </a:p>
          <a:p>
            <a:r>
              <a:rPr lang="ru-RU" sz="2800" dirty="0" smtClean="0"/>
              <a:t>Левая часть </a:t>
            </a:r>
            <a:r>
              <a:rPr lang="ru-RU" sz="2800" dirty="0"/>
              <a:t>лямбда-оператора </a:t>
            </a:r>
            <a:r>
              <a:rPr lang="ru-RU" sz="2800" dirty="0" smtClean="0"/>
              <a:t>определяет параметры ввода, </a:t>
            </a:r>
            <a:r>
              <a:rPr lang="ru-RU" sz="2800" dirty="0"/>
              <a:t>а правая часть </a:t>
            </a:r>
            <a:r>
              <a:rPr lang="ru-RU" sz="2800" dirty="0" smtClean="0"/>
              <a:t>содержит выражение.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37605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Лямбда выражения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21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24626"/>
            <a:ext cx="8439338" cy="5444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683568" y="477253"/>
            <a:ext cx="26356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Запросы </a:t>
            </a:r>
            <a:r>
              <a:rPr lang="en-US" sz="3200" b="1" dirty="0" smtClean="0">
                <a:solidFill>
                  <a:schemeClr val="tx2"/>
                </a:solidFill>
              </a:rPr>
              <a:t>LINQ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18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124744"/>
            <a:ext cx="849694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Запросы-выражения поддерживают только ограниченный набор операторов</a:t>
            </a:r>
            <a:r>
              <a:rPr lang="ru-RU" sz="2800" dirty="0" smtClean="0"/>
              <a:t>:</a:t>
            </a:r>
          </a:p>
          <a:p>
            <a:endParaRPr lang="ru-RU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Where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Select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SelectMany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OrderBy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ThenBy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OrderByDescending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ThenByDescending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GroupBy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Join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/>
              <a:t>GroupJoin</a:t>
            </a:r>
            <a:endParaRPr lang="en-US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50231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Интегрированные запросы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59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473746"/>
            <a:ext cx="84969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Можно использовать </a:t>
            </a:r>
            <a:r>
              <a:rPr lang="ru-RU" sz="2800" i="1" dirty="0" smtClean="0"/>
              <a:t>смешанный синтаксис</a:t>
            </a:r>
            <a:r>
              <a:rPr lang="ru-RU" sz="2800" dirty="0" smtClean="0"/>
              <a:t>:</a:t>
            </a:r>
          </a:p>
          <a:p>
            <a:endParaRPr lang="ru-RU" sz="2800" dirty="0" smtClean="0"/>
          </a:p>
          <a:p>
            <a:r>
              <a:rPr lang="en-US" sz="2800" dirty="0" smtClean="0"/>
              <a:t>string</a:t>
            </a:r>
            <a:r>
              <a:rPr lang="en-US" sz="2800" dirty="0"/>
              <a:t>[] names = </a:t>
            </a:r>
            <a:r>
              <a:rPr lang="en-US" sz="2800" dirty="0" smtClean="0"/>
              <a:t>{</a:t>
            </a:r>
            <a:r>
              <a:rPr lang="ru-RU" sz="2800" dirty="0" smtClean="0"/>
              <a:t> </a:t>
            </a:r>
            <a:r>
              <a:rPr lang="en-US" sz="2800" dirty="0" smtClean="0"/>
              <a:t>"</a:t>
            </a:r>
            <a:r>
              <a:rPr lang="ru-RU" sz="2800" dirty="0" smtClean="0"/>
              <a:t>Петр</a:t>
            </a:r>
            <a:r>
              <a:rPr lang="en-US" sz="2800" dirty="0" smtClean="0"/>
              <a:t>",</a:t>
            </a:r>
            <a:r>
              <a:rPr lang="en-US" sz="2800" dirty="0"/>
              <a:t> "</a:t>
            </a:r>
            <a:r>
              <a:rPr lang="ru-RU" sz="2800" dirty="0" smtClean="0"/>
              <a:t>Маша</a:t>
            </a:r>
            <a:r>
              <a:rPr lang="en-US" sz="2800" dirty="0" smtClean="0"/>
              <a:t>",</a:t>
            </a:r>
            <a:r>
              <a:rPr lang="ru-RU" sz="2800" dirty="0" smtClean="0"/>
              <a:t> </a:t>
            </a:r>
            <a:r>
              <a:rPr lang="en-US" sz="2800" dirty="0" smtClean="0"/>
              <a:t>"</a:t>
            </a:r>
            <a:r>
              <a:rPr lang="ru-RU" sz="2800" dirty="0" smtClean="0"/>
              <a:t>Марина</a:t>
            </a:r>
            <a:r>
              <a:rPr lang="en-US" sz="2800" dirty="0" smtClean="0"/>
              <a:t>",</a:t>
            </a:r>
            <a:r>
              <a:rPr lang="ru-RU" sz="2800" dirty="0" smtClean="0"/>
              <a:t> </a:t>
            </a:r>
            <a:r>
              <a:rPr lang="en-US" sz="2800" dirty="0"/>
              <a:t>"</a:t>
            </a:r>
            <a:r>
              <a:rPr lang="ru-RU" sz="2800" dirty="0" smtClean="0"/>
              <a:t>Олег</a:t>
            </a:r>
            <a:r>
              <a:rPr lang="en-US" sz="2800" dirty="0" smtClean="0"/>
              <a:t>" </a:t>
            </a:r>
            <a:r>
              <a:rPr lang="en-US" sz="2800" dirty="0"/>
              <a:t>};</a:t>
            </a:r>
            <a:br>
              <a:rPr lang="en-US" sz="2800" dirty="0"/>
            </a:br>
            <a:endParaRPr lang="ru-RU" sz="2800" dirty="0" smtClean="0"/>
          </a:p>
          <a:p>
            <a:r>
              <a:rPr lang="en-US" sz="2800" dirty="0" err="1" smtClean="0"/>
              <a:t>IEnumerable</a:t>
            </a:r>
            <a:r>
              <a:rPr lang="en-US" sz="2800" dirty="0" smtClean="0"/>
              <a:t>&lt;string</a:t>
            </a:r>
            <a:r>
              <a:rPr lang="en-US" sz="2800" dirty="0"/>
              <a:t>&gt; query =</a:t>
            </a:r>
            <a:br>
              <a:rPr lang="en-US" sz="2800" dirty="0"/>
            </a:br>
            <a:r>
              <a:rPr lang="en-US" sz="2800" dirty="0"/>
              <a:t>    from </a:t>
            </a:r>
            <a:r>
              <a:rPr lang="ru-RU" sz="2800" dirty="0" smtClean="0"/>
              <a:t> </a:t>
            </a:r>
            <a:r>
              <a:rPr lang="en-US" sz="2800" dirty="0" smtClean="0"/>
              <a:t>n </a:t>
            </a:r>
            <a:r>
              <a:rPr lang="ru-RU" sz="2800" dirty="0" smtClean="0"/>
              <a:t> </a:t>
            </a:r>
            <a:r>
              <a:rPr lang="en-US" sz="2800" dirty="0" smtClean="0"/>
              <a:t>in </a:t>
            </a:r>
            <a:r>
              <a:rPr lang="ru-RU" sz="2800" dirty="0" smtClean="0"/>
              <a:t> </a:t>
            </a:r>
            <a:r>
              <a:rPr lang="en-US" sz="2800" dirty="0" smtClean="0"/>
              <a:t>names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    where </a:t>
            </a:r>
            <a:r>
              <a:rPr lang="ru-RU" sz="2800" dirty="0" smtClean="0"/>
              <a:t> </a:t>
            </a:r>
            <a:r>
              <a:rPr lang="en-US" sz="2800" dirty="0" smtClean="0"/>
              <a:t>n.Length </a:t>
            </a:r>
            <a:r>
              <a:rPr lang="en-US" sz="2800" dirty="0"/>
              <a:t>== </a:t>
            </a:r>
            <a:r>
              <a:rPr lang="en-US" sz="2800" b="1" dirty="0" err="1" smtClean="0"/>
              <a:t>names.Max</a:t>
            </a:r>
            <a:r>
              <a:rPr lang="en-US" sz="2800" b="1" dirty="0" smtClean="0"/>
              <a:t>(m </a:t>
            </a:r>
            <a:r>
              <a:rPr lang="en-US" sz="2800" b="1" dirty="0"/>
              <a:t>=&gt; </a:t>
            </a:r>
            <a:r>
              <a:rPr lang="en-US" sz="2800" b="1" dirty="0" err="1"/>
              <a:t>m</a:t>
            </a:r>
            <a:r>
              <a:rPr lang="en-US" sz="2800" b="1" dirty="0" err="1" smtClean="0"/>
              <a:t>.Length</a:t>
            </a:r>
            <a:r>
              <a:rPr lang="en-US" sz="2800" b="1" dirty="0"/>
              <a:t>)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    select </a:t>
            </a:r>
            <a:r>
              <a:rPr lang="ru-RU" sz="2800" dirty="0" smtClean="0"/>
              <a:t> </a:t>
            </a:r>
            <a:r>
              <a:rPr lang="en-US" sz="2800" dirty="0" smtClean="0"/>
              <a:t>n</a:t>
            </a:r>
            <a:r>
              <a:rPr lang="en-US" sz="2800" dirty="0"/>
              <a:t>;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50231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Интегрированные запросы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677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17916" y="1340768"/>
            <a:ext cx="8529736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/>
              <a:t>Ключевое слово </a:t>
            </a:r>
            <a:r>
              <a:rPr lang="en-US" sz="2600" b="1" dirty="0" smtClean="0"/>
              <a:t>var</a:t>
            </a:r>
            <a:r>
              <a:rPr lang="ru-RU" sz="2600" dirty="0" smtClean="0"/>
              <a:t> – упрощает синтаксис. Например, заменяет явное задание результата запроса </a:t>
            </a:r>
            <a:r>
              <a:rPr lang="en-US" sz="2600" dirty="0" err="1" smtClean="0"/>
              <a:t>IEnumerable</a:t>
            </a:r>
            <a:r>
              <a:rPr lang="en-US" sz="2600" dirty="0" smtClean="0"/>
              <a:t>&lt;T&gt;</a:t>
            </a:r>
            <a:endParaRPr lang="ru-RU" sz="2600" dirty="0" smtClean="0"/>
          </a:p>
          <a:p>
            <a:endParaRPr lang="ru-RU" sz="2600" b="1" dirty="0" smtClean="0"/>
          </a:p>
          <a:p>
            <a:r>
              <a:rPr lang="en-US" sz="2600" b="1" dirty="0" err="1" smtClean="0"/>
              <a:t>IEnumerable</a:t>
            </a:r>
            <a:r>
              <a:rPr lang="en-US" sz="2600" b="1" dirty="0" smtClean="0"/>
              <a:t>&lt;Students&gt; </a:t>
            </a:r>
            <a:r>
              <a:rPr lang="ru-RU" sz="2600" dirty="0" smtClean="0"/>
              <a:t> </a:t>
            </a:r>
            <a:r>
              <a:rPr lang="en-US" sz="2600" dirty="0" err="1" smtClean="0"/>
              <a:t>studentInMoskow</a:t>
            </a:r>
            <a:r>
              <a:rPr lang="en-US" sz="2600" dirty="0" smtClean="0"/>
              <a:t> </a:t>
            </a:r>
            <a:r>
              <a:rPr lang="en-US" sz="2600" dirty="0"/>
              <a:t>=</a:t>
            </a:r>
          </a:p>
          <a:p>
            <a:r>
              <a:rPr lang="en-US" sz="2600" dirty="0"/>
              <a:t>    from </a:t>
            </a:r>
            <a:r>
              <a:rPr lang="ru-RU" sz="2600" dirty="0" smtClean="0"/>
              <a:t> </a:t>
            </a:r>
            <a:r>
              <a:rPr lang="en-US" sz="2600" dirty="0" err="1" smtClean="0"/>
              <a:t>st</a:t>
            </a:r>
            <a:r>
              <a:rPr lang="ru-RU" sz="2600" dirty="0" smtClean="0"/>
              <a:t> </a:t>
            </a:r>
            <a:r>
              <a:rPr lang="en-US" sz="2600" dirty="0" smtClean="0"/>
              <a:t> </a:t>
            </a:r>
            <a:r>
              <a:rPr lang="en-US" sz="2600" dirty="0"/>
              <a:t>in </a:t>
            </a:r>
            <a:r>
              <a:rPr lang="ru-RU" sz="2600" dirty="0" smtClean="0"/>
              <a:t> </a:t>
            </a:r>
            <a:r>
              <a:rPr lang="en-US" sz="2600" dirty="0" smtClean="0"/>
              <a:t>student</a:t>
            </a:r>
            <a:endParaRPr lang="en-US" sz="2600" dirty="0"/>
          </a:p>
          <a:p>
            <a:r>
              <a:rPr lang="en-US" sz="2600" dirty="0"/>
              <a:t>    where </a:t>
            </a:r>
            <a:r>
              <a:rPr lang="ru-RU" sz="2600" dirty="0" smtClean="0"/>
              <a:t> </a:t>
            </a:r>
            <a:r>
              <a:rPr lang="en-US" sz="2600" dirty="0" err="1" smtClean="0"/>
              <a:t>st.City</a:t>
            </a:r>
            <a:r>
              <a:rPr lang="en-US" sz="2600" dirty="0" smtClean="0"/>
              <a:t> </a:t>
            </a:r>
            <a:r>
              <a:rPr lang="en-US" sz="2600" dirty="0"/>
              <a:t>== </a:t>
            </a:r>
            <a:r>
              <a:rPr lang="en-US" sz="2600" dirty="0" smtClean="0"/>
              <a:t>"</a:t>
            </a:r>
            <a:r>
              <a:rPr lang="ru-RU" sz="2600" dirty="0" smtClean="0"/>
              <a:t>Москва</a:t>
            </a:r>
            <a:r>
              <a:rPr lang="en-US" sz="2600" dirty="0" smtClean="0"/>
              <a:t>"</a:t>
            </a:r>
            <a:endParaRPr lang="en-US" sz="2600" dirty="0"/>
          </a:p>
          <a:p>
            <a:r>
              <a:rPr lang="en-US" sz="2600" dirty="0"/>
              <a:t>    select </a:t>
            </a:r>
            <a:r>
              <a:rPr lang="ru-RU" sz="2600" dirty="0" smtClean="0"/>
              <a:t> </a:t>
            </a:r>
            <a:r>
              <a:rPr lang="en-US" sz="2600" dirty="0" err="1" smtClean="0"/>
              <a:t>st</a:t>
            </a:r>
            <a:r>
              <a:rPr lang="en-US" sz="2600" dirty="0" smtClean="0"/>
              <a:t>;</a:t>
            </a:r>
          </a:p>
          <a:p>
            <a:endParaRPr lang="en-US" sz="2600" dirty="0"/>
          </a:p>
          <a:p>
            <a:r>
              <a:rPr lang="en-US" sz="2600" b="1" dirty="0"/>
              <a:t>var </a:t>
            </a:r>
            <a:r>
              <a:rPr lang="ru-RU" sz="2600" b="1" dirty="0" smtClean="0"/>
              <a:t> </a:t>
            </a:r>
            <a:r>
              <a:rPr lang="en-US" sz="2600" dirty="0" err="1" smtClean="0"/>
              <a:t>studentInMoskow</a:t>
            </a:r>
            <a:r>
              <a:rPr lang="en-US" sz="2600" dirty="0" smtClean="0"/>
              <a:t> </a:t>
            </a:r>
            <a:r>
              <a:rPr lang="en-US" sz="2600" dirty="0"/>
              <a:t>= </a:t>
            </a:r>
          </a:p>
          <a:p>
            <a:r>
              <a:rPr lang="en-US" sz="2600" dirty="0"/>
              <a:t>    from </a:t>
            </a:r>
            <a:r>
              <a:rPr lang="ru-RU" sz="2600" dirty="0" smtClean="0"/>
              <a:t> </a:t>
            </a:r>
            <a:r>
              <a:rPr lang="en-US" sz="2600" dirty="0" err="1" smtClean="0"/>
              <a:t>st</a:t>
            </a:r>
            <a:r>
              <a:rPr lang="en-US" sz="2600" dirty="0" smtClean="0"/>
              <a:t> </a:t>
            </a:r>
            <a:r>
              <a:rPr lang="ru-RU" sz="2600" dirty="0" smtClean="0"/>
              <a:t> </a:t>
            </a:r>
            <a:r>
              <a:rPr lang="en-US" sz="2600" dirty="0" smtClean="0"/>
              <a:t>in </a:t>
            </a:r>
            <a:r>
              <a:rPr lang="ru-RU" sz="2600" dirty="0" smtClean="0"/>
              <a:t> </a:t>
            </a:r>
            <a:r>
              <a:rPr lang="en-US" sz="2600" dirty="0" smtClean="0"/>
              <a:t>student  </a:t>
            </a:r>
            <a:endParaRPr lang="en-US" sz="2600" dirty="0"/>
          </a:p>
          <a:p>
            <a:r>
              <a:rPr lang="en-US" sz="2600" dirty="0"/>
              <a:t>    where </a:t>
            </a:r>
            <a:r>
              <a:rPr lang="ru-RU" sz="2600" dirty="0" smtClean="0"/>
              <a:t> </a:t>
            </a:r>
            <a:r>
              <a:rPr lang="en-US" sz="2600" dirty="0" err="1" smtClean="0"/>
              <a:t>st.City</a:t>
            </a:r>
            <a:r>
              <a:rPr lang="en-US" sz="2600" dirty="0" smtClean="0"/>
              <a:t> </a:t>
            </a:r>
            <a:r>
              <a:rPr lang="en-US" sz="2600" dirty="0"/>
              <a:t>== </a:t>
            </a:r>
            <a:r>
              <a:rPr lang="en-US" sz="2600" dirty="0" smtClean="0"/>
              <a:t>"</a:t>
            </a:r>
            <a:r>
              <a:rPr lang="ru-RU" sz="2600" dirty="0" smtClean="0"/>
              <a:t>Москва</a:t>
            </a:r>
            <a:r>
              <a:rPr lang="en-US" sz="2600" dirty="0" smtClean="0"/>
              <a:t>"</a:t>
            </a:r>
            <a:endParaRPr lang="en-US" sz="2600" dirty="0"/>
          </a:p>
          <a:p>
            <a:r>
              <a:rPr lang="en-US" sz="2600" dirty="0"/>
              <a:t>    select </a:t>
            </a:r>
            <a:r>
              <a:rPr lang="ru-RU" sz="2600" dirty="0" smtClean="0"/>
              <a:t> </a:t>
            </a:r>
            <a:r>
              <a:rPr lang="en-US" sz="2600" dirty="0" err="1" smtClean="0"/>
              <a:t>st</a:t>
            </a:r>
            <a:r>
              <a:rPr lang="en-US" sz="2600" dirty="0" smtClean="0"/>
              <a:t>;</a:t>
            </a:r>
            <a:endParaRPr lang="ru-RU" sz="2600" dirty="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683568" y="477253"/>
            <a:ext cx="26356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Запросы </a:t>
            </a:r>
            <a:r>
              <a:rPr lang="en-US" sz="3200" b="1" dirty="0" smtClean="0">
                <a:solidFill>
                  <a:schemeClr val="tx2"/>
                </a:solidFill>
              </a:rPr>
              <a:t>LINQ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84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467544" y="1534140"/>
            <a:ext cx="83801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Оператор запроса (query operator)</a:t>
            </a:r>
            <a:r>
              <a:rPr lang="ru-RU" sz="2800" dirty="0"/>
              <a:t> </a:t>
            </a:r>
            <a:r>
              <a:rPr lang="ru-RU" sz="2800" dirty="0" smtClean="0"/>
              <a:t>– метод, </a:t>
            </a:r>
            <a:r>
              <a:rPr lang="ru-RU" sz="2800" dirty="0"/>
              <a:t>преобразующий последовательность. </a:t>
            </a:r>
            <a:endParaRPr lang="en-US" sz="2800" dirty="0" smtClean="0"/>
          </a:p>
          <a:p>
            <a:endParaRPr lang="en-US" sz="2800" dirty="0"/>
          </a:p>
          <a:p>
            <a:r>
              <a:rPr lang="ru-RU" sz="2800" dirty="0" smtClean="0"/>
              <a:t>Обычно </a:t>
            </a:r>
            <a:r>
              <a:rPr lang="ru-RU" sz="2800" dirty="0"/>
              <a:t>операторы запроса принимают 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i="1" dirty="0" smtClean="0"/>
              <a:t>входящую </a:t>
            </a:r>
            <a:r>
              <a:rPr lang="ru-RU" sz="2800" i="1" dirty="0"/>
              <a:t>последовательность</a:t>
            </a:r>
            <a:r>
              <a:rPr lang="ru-RU" sz="2800" dirty="0"/>
              <a:t> и возвращают преобразованную </a:t>
            </a:r>
            <a:r>
              <a:rPr lang="ru-RU" sz="2800" i="1" dirty="0"/>
              <a:t>исходящую последовательность</a:t>
            </a:r>
            <a:r>
              <a:rPr lang="ru-RU" sz="2800" dirty="0"/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477253"/>
            <a:ext cx="3701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</a:t>
            </a:r>
            <a:r>
              <a:rPr lang="ru-RU" sz="3200" b="1" dirty="0">
                <a:solidFill>
                  <a:schemeClr val="tx2"/>
                </a:solidFill>
              </a:rPr>
              <a:t>ы</a:t>
            </a:r>
            <a:r>
              <a:rPr lang="ru-RU" sz="3200" b="1" dirty="0" smtClean="0">
                <a:solidFill>
                  <a:schemeClr val="tx2"/>
                </a:solidFill>
              </a:rPr>
              <a:t> запроса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01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68356" y="1404640"/>
            <a:ext cx="866814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Извлечь </a:t>
            </a:r>
            <a:r>
              <a:rPr lang="ru-RU" sz="2800" b="1" dirty="0"/>
              <a:t>из простого массива все имена, </a:t>
            </a:r>
            <a:r>
              <a:rPr lang="ru-RU" sz="2800" b="1" dirty="0" smtClean="0"/>
              <a:t>длиной </a:t>
            </a:r>
            <a:r>
              <a:rPr lang="ru-RU" sz="2800" b="1" dirty="0"/>
              <a:t>как минимум </a:t>
            </a:r>
            <a:r>
              <a:rPr lang="ru-RU" sz="2800" b="1" dirty="0" smtClean="0"/>
              <a:t>6 символов.</a:t>
            </a:r>
          </a:p>
          <a:p>
            <a:endParaRPr lang="ru-RU" sz="2800" dirty="0"/>
          </a:p>
          <a:p>
            <a:r>
              <a:rPr lang="en-US" sz="2600" dirty="0"/>
              <a:t>string[] names = { </a:t>
            </a:r>
            <a:r>
              <a:rPr lang="ru-RU" sz="2600" dirty="0" smtClean="0"/>
              <a:t>«Петр»</a:t>
            </a:r>
            <a:r>
              <a:rPr lang="en-US" sz="2600" dirty="0" smtClean="0"/>
              <a:t>, </a:t>
            </a:r>
            <a:r>
              <a:rPr lang="ru-RU" sz="2600" dirty="0" smtClean="0"/>
              <a:t>«Николай»</a:t>
            </a:r>
            <a:r>
              <a:rPr lang="en-US" sz="2600" dirty="0" smtClean="0"/>
              <a:t>, </a:t>
            </a:r>
            <a:r>
              <a:rPr lang="ru-RU" sz="2600" dirty="0" smtClean="0"/>
              <a:t>«Алексей»</a:t>
            </a:r>
            <a:r>
              <a:rPr lang="en-US" sz="2600" dirty="0" smtClean="0"/>
              <a:t> </a:t>
            </a:r>
            <a:r>
              <a:rPr lang="en-US" sz="2600" dirty="0"/>
              <a:t>};</a:t>
            </a:r>
            <a:br>
              <a:rPr lang="en-US" sz="2600" dirty="0"/>
            </a:br>
            <a:endParaRPr lang="en-US" sz="2600" dirty="0" smtClean="0"/>
          </a:p>
          <a:p>
            <a:r>
              <a:rPr lang="en-US" sz="2600" dirty="0" err="1" smtClean="0"/>
              <a:t>IEnumerable</a:t>
            </a:r>
            <a:r>
              <a:rPr lang="en-US" sz="2600" dirty="0" smtClean="0"/>
              <a:t>&lt;string</a:t>
            </a:r>
            <a:r>
              <a:rPr lang="en-US" sz="2600" dirty="0"/>
              <a:t>&gt; </a:t>
            </a:r>
            <a:r>
              <a:rPr lang="ru-RU" sz="2600" dirty="0" smtClean="0"/>
              <a:t> </a:t>
            </a:r>
            <a:r>
              <a:rPr lang="en-US" sz="2600" dirty="0" smtClean="0"/>
              <a:t>query </a:t>
            </a:r>
            <a:r>
              <a:rPr lang="en-US" sz="2600" dirty="0"/>
              <a:t>=</a:t>
            </a:r>
            <a:br>
              <a:rPr lang="en-US" sz="2600" dirty="0"/>
            </a:br>
            <a:r>
              <a:rPr lang="en-US" sz="2600" dirty="0"/>
              <a:t>    </a:t>
            </a:r>
            <a:r>
              <a:rPr lang="en-US" sz="2600" b="1" dirty="0" err="1" smtClean="0"/>
              <a:t>Enumerable.Where</a:t>
            </a:r>
            <a:r>
              <a:rPr lang="en-US" sz="2600" b="1" dirty="0" smtClean="0"/>
              <a:t>(names</a:t>
            </a:r>
            <a:r>
              <a:rPr lang="en-US" sz="2600" b="1" dirty="0"/>
              <a:t>, n =&gt; n.Length </a:t>
            </a:r>
            <a:r>
              <a:rPr lang="en-US" sz="2600" b="1" dirty="0" smtClean="0"/>
              <a:t>&gt; </a:t>
            </a:r>
            <a:r>
              <a:rPr lang="en-US" sz="2600" b="1" dirty="0"/>
              <a:t>5</a:t>
            </a:r>
            <a:r>
              <a:rPr lang="en-US" sz="2600" b="1" dirty="0" smtClean="0"/>
              <a:t>);</a:t>
            </a:r>
          </a:p>
          <a:p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>foreach (string </a:t>
            </a:r>
            <a:r>
              <a:rPr lang="ru-RU" sz="2600" dirty="0" smtClean="0"/>
              <a:t> </a:t>
            </a:r>
            <a:r>
              <a:rPr lang="en-US" sz="2600" dirty="0"/>
              <a:t>k</a:t>
            </a:r>
            <a:r>
              <a:rPr lang="en-US" sz="2600" dirty="0" smtClean="0"/>
              <a:t> </a:t>
            </a:r>
            <a:r>
              <a:rPr lang="ru-RU" sz="2600" dirty="0" smtClean="0"/>
              <a:t> </a:t>
            </a:r>
            <a:r>
              <a:rPr lang="en-US" sz="2600" dirty="0" smtClean="0"/>
              <a:t>in  query</a:t>
            </a:r>
            <a:r>
              <a:rPr lang="en-US" sz="2600" dirty="0"/>
              <a:t>)</a:t>
            </a:r>
            <a:br>
              <a:rPr lang="en-US" sz="2600" dirty="0"/>
            </a:br>
            <a:r>
              <a:rPr lang="en-US" sz="2600" dirty="0"/>
              <a:t>    </a:t>
            </a:r>
            <a:r>
              <a:rPr lang="en-US" sz="2600" dirty="0" err="1" smtClean="0"/>
              <a:t>Console.WriteLine</a:t>
            </a:r>
            <a:r>
              <a:rPr lang="en-US" sz="2600" dirty="0" smtClean="0"/>
              <a:t> (k); </a:t>
            </a:r>
            <a:endParaRPr lang="en-US" sz="2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31456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 </a:t>
            </a:r>
            <a:r>
              <a:rPr lang="en-US" sz="3200" b="1" dirty="0">
                <a:solidFill>
                  <a:schemeClr val="tx2"/>
                </a:solidFill>
              </a:rPr>
              <a:t>Where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19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68356" y="1759456"/>
            <a:ext cx="86681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IEnumerable&lt;string</a:t>
            </a:r>
            <a:r>
              <a:rPr lang="en-US" sz="2800" dirty="0"/>
              <a:t>&gt; </a:t>
            </a:r>
            <a:r>
              <a:rPr lang="en-US" sz="2800" dirty="0" smtClean="0"/>
              <a:t> query </a:t>
            </a:r>
            <a:r>
              <a:rPr lang="en-US" sz="2800" dirty="0"/>
              <a:t>=</a:t>
            </a:r>
            <a:br>
              <a:rPr lang="en-US" sz="2800" dirty="0"/>
            </a:br>
            <a:r>
              <a:rPr lang="en-US" sz="2800" dirty="0"/>
              <a:t>    </a:t>
            </a:r>
            <a:r>
              <a:rPr lang="en-US" sz="2800" dirty="0" smtClean="0"/>
              <a:t>Enumerable.Where(names</a:t>
            </a:r>
            <a:r>
              <a:rPr lang="en-US" sz="2800" dirty="0"/>
              <a:t>, n =&gt; n.Length </a:t>
            </a:r>
            <a:r>
              <a:rPr lang="en-US" sz="2800" dirty="0" smtClean="0"/>
              <a:t>&gt; </a:t>
            </a:r>
            <a:r>
              <a:rPr lang="en-US" sz="2800" dirty="0"/>
              <a:t>5</a:t>
            </a:r>
            <a:r>
              <a:rPr lang="en-US" sz="2800" dirty="0" smtClean="0"/>
              <a:t>);</a:t>
            </a:r>
          </a:p>
          <a:p>
            <a:endParaRPr lang="ru-RU" sz="2800" dirty="0" smtClean="0"/>
          </a:p>
          <a:p>
            <a:endParaRPr lang="en-US" sz="2800" dirty="0" smtClean="0"/>
          </a:p>
          <a:p>
            <a:r>
              <a:rPr lang="ru-RU" sz="2800" dirty="0" smtClean="0"/>
              <a:t>Можно вызывать метод </a:t>
            </a:r>
            <a:r>
              <a:rPr lang="en-US" sz="2800" dirty="0" smtClean="0"/>
              <a:t>Where</a:t>
            </a:r>
            <a:r>
              <a:rPr lang="ru-RU" sz="2800" dirty="0" smtClean="0"/>
              <a:t> как </a:t>
            </a:r>
            <a:r>
              <a:rPr lang="ru-RU" sz="2800" b="1" dirty="0" smtClean="0"/>
              <a:t>экземплярный</a:t>
            </a:r>
            <a:r>
              <a:rPr lang="ru-RU" sz="2800" dirty="0" smtClean="0"/>
              <a:t>:</a:t>
            </a:r>
          </a:p>
          <a:p>
            <a:endParaRPr lang="ru-RU" sz="2800" dirty="0" smtClean="0"/>
          </a:p>
          <a:p>
            <a:r>
              <a:rPr lang="en-US" sz="2800" dirty="0" smtClean="0"/>
              <a:t>IEnumerable&lt;string</a:t>
            </a:r>
            <a:r>
              <a:rPr lang="en-US" sz="2800" dirty="0"/>
              <a:t>&gt; </a:t>
            </a:r>
            <a:r>
              <a:rPr lang="en-US" sz="2800" dirty="0" smtClean="0"/>
              <a:t> query </a:t>
            </a:r>
            <a:r>
              <a:rPr lang="en-US" sz="2800" dirty="0"/>
              <a:t>= </a:t>
            </a:r>
            <a:endParaRPr lang="en-US" sz="2800" dirty="0" smtClean="0"/>
          </a:p>
          <a:p>
            <a:r>
              <a:rPr lang="en-US" sz="2800" dirty="0"/>
              <a:t> </a:t>
            </a:r>
            <a:r>
              <a:rPr lang="en-US" sz="2800" dirty="0" smtClean="0"/>
              <a:t>   names.Where(n </a:t>
            </a:r>
            <a:r>
              <a:rPr lang="en-US" sz="2800" dirty="0"/>
              <a:t>=&gt; n.Length &gt; 5</a:t>
            </a:r>
            <a:r>
              <a:rPr lang="en-US" sz="2800" dirty="0" smtClean="0"/>
              <a:t>);</a:t>
            </a:r>
            <a:endParaRPr lang="ru-RU" sz="2800" dirty="0" smtClean="0"/>
          </a:p>
        </p:txBody>
      </p:sp>
      <p:sp>
        <p:nvSpPr>
          <p:cNvPr id="10" name="Прямоугольник 9"/>
          <p:cNvSpPr/>
          <p:nvPr/>
        </p:nvSpPr>
        <p:spPr>
          <a:xfrm>
            <a:off x="683568" y="477253"/>
            <a:ext cx="31456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 </a:t>
            </a:r>
            <a:r>
              <a:rPr lang="en-US" sz="3200" b="1" dirty="0">
                <a:solidFill>
                  <a:schemeClr val="tx2"/>
                </a:solidFill>
              </a:rPr>
              <a:t>Where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75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477228"/>
            <a:ext cx="86681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Агрегирующие операторы </a:t>
            </a:r>
            <a:r>
              <a:rPr lang="ru-RU" sz="2800" b="1" dirty="0" err="1"/>
              <a:t>Count</a:t>
            </a:r>
            <a:r>
              <a:rPr lang="ru-RU" sz="2800" b="1" dirty="0"/>
              <a:t>, </a:t>
            </a:r>
            <a:r>
              <a:rPr lang="ru-RU" sz="2800" b="1" dirty="0" err="1"/>
              <a:t>Min</a:t>
            </a:r>
            <a:r>
              <a:rPr lang="ru-RU" sz="2800" b="1" dirty="0"/>
              <a:t>, </a:t>
            </a:r>
            <a:r>
              <a:rPr lang="ru-RU" sz="2800" b="1" dirty="0" err="1" smtClean="0"/>
              <a:t>Max</a:t>
            </a:r>
            <a:r>
              <a:rPr lang="en-US" sz="2800" b="1" dirty="0" smtClean="0"/>
              <a:t>, Sum</a:t>
            </a:r>
            <a:r>
              <a:rPr lang="ru-RU" sz="2800" b="1" dirty="0" smtClean="0"/>
              <a:t> </a:t>
            </a:r>
            <a:r>
              <a:rPr lang="ru-RU" sz="2800" b="1" dirty="0"/>
              <a:t>и </a:t>
            </a:r>
            <a:r>
              <a:rPr lang="ru-RU" sz="2800" b="1" dirty="0" err="1"/>
              <a:t>Average</a:t>
            </a:r>
            <a:r>
              <a:rPr lang="ru-RU" sz="2800" dirty="0"/>
              <a:t> </a:t>
            </a:r>
            <a:r>
              <a:rPr lang="ru-RU" sz="2800" dirty="0" smtClean="0"/>
              <a:t>возвращают </a:t>
            </a:r>
            <a:r>
              <a:rPr lang="ru-RU" sz="2800" dirty="0"/>
              <a:t>скалярное значение </a:t>
            </a:r>
            <a:r>
              <a:rPr lang="ru-RU" sz="2800" dirty="0" smtClean="0"/>
              <a:t>числового </a:t>
            </a:r>
            <a:r>
              <a:rPr lang="ru-RU" sz="2800" dirty="0"/>
              <a:t>типа. </a:t>
            </a:r>
            <a:endParaRPr lang="en-US" sz="2800" dirty="0" smtClean="0"/>
          </a:p>
          <a:p>
            <a:r>
              <a:rPr lang="en-US" sz="2800" dirty="0" err="1" smtClean="0"/>
              <a:t>int</a:t>
            </a:r>
            <a:r>
              <a:rPr lang="en-US" sz="2800" dirty="0"/>
              <a:t>[] numbers = { 10, 9, 8, 7, 6 };</a:t>
            </a:r>
            <a:br>
              <a:rPr lang="en-US" sz="2800" dirty="0"/>
            </a:br>
            <a:endParaRPr lang="en-US" sz="2800" dirty="0" smtClean="0"/>
          </a:p>
          <a:p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/>
              <a:t>count = </a:t>
            </a:r>
            <a:r>
              <a:rPr lang="en-US" sz="2800" dirty="0" err="1"/>
              <a:t>numbers.</a:t>
            </a:r>
            <a:r>
              <a:rPr lang="en-US" sz="2800" b="1" dirty="0" err="1"/>
              <a:t>Count</a:t>
            </a:r>
            <a:r>
              <a:rPr lang="en-US" sz="2800" dirty="0"/>
              <a:t>(); </a:t>
            </a:r>
            <a:r>
              <a:rPr lang="en-US" sz="2800" dirty="0" smtClean="0"/>
              <a:t> </a:t>
            </a:r>
            <a:r>
              <a:rPr lang="en-US" sz="2800" i="1" dirty="0" smtClean="0"/>
              <a:t>// </a:t>
            </a:r>
            <a:r>
              <a:rPr lang="en-US" sz="2800" i="1" dirty="0"/>
              <a:t>5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/>
              <a:t>int</a:t>
            </a:r>
            <a:r>
              <a:rPr lang="en-US" sz="2800" dirty="0"/>
              <a:t> min = </a:t>
            </a:r>
            <a:r>
              <a:rPr lang="en-US" sz="2800" dirty="0" err="1"/>
              <a:t>numbers.</a:t>
            </a:r>
            <a:r>
              <a:rPr lang="en-US" sz="2800" b="1" dirty="0" err="1"/>
              <a:t>Min</a:t>
            </a:r>
            <a:r>
              <a:rPr lang="en-US" sz="2800" dirty="0"/>
              <a:t>(); </a:t>
            </a:r>
            <a:r>
              <a:rPr lang="en-US" sz="2800" dirty="0" smtClean="0"/>
              <a:t> </a:t>
            </a:r>
            <a:r>
              <a:rPr lang="en-US" sz="2800" i="1" dirty="0" smtClean="0"/>
              <a:t>// </a:t>
            </a:r>
            <a:r>
              <a:rPr lang="en-US" sz="2800" i="1" dirty="0"/>
              <a:t>6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/>
              <a:t>int</a:t>
            </a:r>
            <a:r>
              <a:rPr lang="en-US" sz="2800" dirty="0"/>
              <a:t> max = </a:t>
            </a:r>
            <a:r>
              <a:rPr lang="en-US" sz="2800" dirty="0" err="1"/>
              <a:t>numbers.</a:t>
            </a:r>
            <a:r>
              <a:rPr lang="en-US" sz="2800" b="1" dirty="0" err="1"/>
              <a:t>Max</a:t>
            </a:r>
            <a:r>
              <a:rPr lang="en-US" sz="2800" dirty="0"/>
              <a:t>(); </a:t>
            </a:r>
            <a:r>
              <a:rPr lang="en-US" sz="2800" dirty="0" smtClean="0"/>
              <a:t> </a:t>
            </a:r>
            <a:r>
              <a:rPr lang="en-US" sz="2800" i="1" dirty="0" smtClean="0"/>
              <a:t>// </a:t>
            </a:r>
            <a:r>
              <a:rPr lang="en-US" sz="2800" i="1" dirty="0"/>
              <a:t>10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double </a:t>
            </a:r>
            <a:r>
              <a:rPr lang="en-US" sz="2800" dirty="0" err="1"/>
              <a:t>avg</a:t>
            </a:r>
            <a:r>
              <a:rPr lang="en-US" sz="2800" dirty="0"/>
              <a:t> = </a:t>
            </a:r>
            <a:r>
              <a:rPr lang="en-US" sz="2800" dirty="0" err="1"/>
              <a:t>numbers.</a:t>
            </a:r>
            <a:r>
              <a:rPr lang="en-US" sz="2800" b="1" dirty="0" err="1"/>
              <a:t>Average</a:t>
            </a:r>
            <a:r>
              <a:rPr lang="en-US" sz="2800" dirty="0"/>
              <a:t>(); </a:t>
            </a:r>
            <a:r>
              <a:rPr lang="en-US" sz="2800" dirty="0" smtClean="0"/>
              <a:t> </a:t>
            </a:r>
            <a:r>
              <a:rPr lang="en-US" sz="2800" i="1" dirty="0" smtClean="0"/>
              <a:t>// 8</a:t>
            </a:r>
          </a:p>
          <a:p>
            <a:endParaRPr lang="en-US" sz="2800" i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9092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Агрегирующие операторы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73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477228"/>
            <a:ext cx="86681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К</a:t>
            </a:r>
            <a:r>
              <a:rPr lang="ru-RU" sz="2800" dirty="0" smtClean="0"/>
              <a:t>ванторы </a:t>
            </a:r>
            <a:r>
              <a:rPr lang="ru-RU" sz="2800" dirty="0"/>
              <a:t>в LINQ возвращают логическое </a:t>
            </a:r>
            <a:r>
              <a:rPr lang="ru-RU" sz="2800" dirty="0" smtClean="0"/>
              <a:t>значение</a:t>
            </a:r>
            <a:r>
              <a:rPr lang="ru-RU" sz="2800" dirty="0"/>
              <a:t>. </a:t>
            </a:r>
            <a:endParaRPr lang="ru-RU" sz="2800" dirty="0" smtClean="0"/>
          </a:p>
          <a:p>
            <a:r>
              <a:rPr lang="ru-RU" sz="2800" dirty="0" smtClean="0"/>
              <a:t>К </a:t>
            </a:r>
            <a:r>
              <a:rPr lang="ru-RU" sz="2800" dirty="0"/>
              <a:t>ним относятся </a:t>
            </a:r>
            <a:r>
              <a:rPr lang="ru-RU" sz="2800" b="1" dirty="0" err="1" smtClean="0"/>
              <a:t>Contains</a:t>
            </a:r>
            <a:r>
              <a:rPr lang="ru-RU" sz="2800" b="1" dirty="0" smtClean="0"/>
              <a:t>, </a:t>
            </a:r>
            <a:r>
              <a:rPr lang="ru-RU" sz="2800" b="1" dirty="0" err="1" smtClean="0"/>
              <a:t>Any</a:t>
            </a:r>
            <a:r>
              <a:rPr lang="ru-RU" sz="2800" b="1" dirty="0" smtClean="0"/>
              <a:t>, </a:t>
            </a:r>
            <a:r>
              <a:rPr lang="ru-RU" sz="2800" b="1" dirty="0" err="1" smtClean="0"/>
              <a:t>All</a:t>
            </a:r>
            <a:r>
              <a:rPr lang="ru-RU" sz="2800" b="1" dirty="0" smtClean="0"/>
              <a:t>, </a:t>
            </a:r>
            <a:r>
              <a:rPr lang="ru-RU" sz="2800" b="1" dirty="0" err="1" smtClean="0"/>
              <a:t>SequenceEquals</a:t>
            </a:r>
            <a:r>
              <a:rPr lang="ru-RU" sz="2800" dirty="0" smtClean="0"/>
              <a:t>:</a:t>
            </a:r>
          </a:p>
          <a:p>
            <a:endParaRPr lang="ru-RU" sz="2800" i="1" dirty="0"/>
          </a:p>
          <a:p>
            <a:r>
              <a:rPr lang="en-US" sz="2800" dirty="0" err="1"/>
              <a:t>int</a:t>
            </a:r>
            <a:r>
              <a:rPr lang="en-US" sz="2800" dirty="0"/>
              <a:t>[] numbers = { 10, 9, 8, 7, 6 };</a:t>
            </a:r>
            <a:br>
              <a:rPr lang="en-US" sz="2800" dirty="0"/>
            </a:br>
            <a:endParaRPr lang="ru-RU" sz="2800" dirty="0" smtClean="0"/>
          </a:p>
          <a:p>
            <a:r>
              <a:rPr lang="en-US" sz="2800" dirty="0" err="1" smtClean="0"/>
              <a:t>bool</a:t>
            </a:r>
            <a:r>
              <a:rPr lang="en-US" sz="2800" dirty="0" smtClean="0"/>
              <a:t> </a:t>
            </a:r>
            <a:r>
              <a:rPr lang="ru-RU" sz="2800" dirty="0" smtClean="0"/>
              <a:t> </a:t>
            </a:r>
            <a:r>
              <a:rPr lang="en-US" sz="2800" dirty="0" err="1" smtClean="0"/>
              <a:t>hasTheNum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numbers.</a:t>
            </a:r>
            <a:r>
              <a:rPr lang="en-US" sz="2800" b="1" dirty="0" err="1"/>
              <a:t>Contains</a:t>
            </a:r>
            <a:r>
              <a:rPr lang="en-US" sz="2800" dirty="0"/>
              <a:t> (9); </a:t>
            </a:r>
            <a:br>
              <a:rPr lang="en-US" sz="2800" dirty="0"/>
            </a:br>
            <a:r>
              <a:rPr lang="en-US" sz="2800" dirty="0" err="1"/>
              <a:t>bool</a:t>
            </a:r>
            <a:r>
              <a:rPr lang="en-US" sz="2800" dirty="0"/>
              <a:t> </a:t>
            </a:r>
            <a:r>
              <a:rPr lang="ru-RU" sz="2800" dirty="0" smtClean="0"/>
              <a:t> </a:t>
            </a:r>
            <a:r>
              <a:rPr lang="en-US" sz="2800" dirty="0" err="1" smtClean="0"/>
              <a:t>hasMoreThanZeroElements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numbers.</a:t>
            </a:r>
            <a:r>
              <a:rPr lang="en-US" sz="2800" b="1" dirty="0" err="1"/>
              <a:t>Any</a:t>
            </a:r>
            <a:r>
              <a:rPr lang="en-US" sz="2800" dirty="0"/>
              <a:t>(); </a:t>
            </a:r>
            <a:br>
              <a:rPr lang="en-US" sz="2800" dirty="0"/>
            </a:br>
            <a:r>
              <a:rPr lang="en-US" sz="2800" dirty="0" err="1"/>
              <a:t>bool</a:t>
            </a:r>
            <a:r>
              <a:rPr lang="en-US" sz="2800" dirty="0"/>
              <a:t> </a:t>
            </a:r>
            <a:r>
              <a:rPr lang="ru-RU" sz="2800" dirty="0" smtClean="0"/>
              <a:t> </a:t>
            </a:r>
            <a:r>
              <a:rPr lang="en-US" sz="2800" dirty="0" err="1" smtClean="0"/>
              <a:t>hasOddNum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numbers.</a:t>
            </a:r>
            <a:r>
              <a:rPr lang="en-US" sz="2800" b="1" dirty="0" err="1"/>
              <a:t>Any</a:t>
            </a:r>
            <a:r>
              <a:rPr lang="en-US" sz="2800" dirty="0"/>
              <a:t> (n =&gt; n % 2 == 1); </a:t>
            </a:r>
            <a:br>
              <a:rPr lang="en-US" sz="2800" dirty="0"/>
            </a:br>
            <a:r>
              <a:rPr lang="en-US" sz="2800" dirty="0" err="1"/>
              <a:t>bool</a:t>
            </a:r>
            <a:r>
              <a:rPr lang="en-US" sz="2800" dirty="0"/>
              <a:t> </a:t>
            </a:r>
            <a:r>
              <a:rPr lang="ru-RU" sz="2800" dirty="0" smtClean="0"/>
              <a:t> </a:t>
            </a:r>
            <a:r>
              <a:rPr lang="en-US" sz="2800" dirty="0" err="1" smtClean="0"/>
              <a:t>allOddNums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numbers.</a:t>
            </a:r>
            <a:r>
              <a:rPr lang="en-US" sz="2800" b="1" dirty="0" err="1"/>
              <a:t>All</a:t>
            </a:r>
            <a:r>
              <a:rPr lang="en-US" sz="2800" dirty="0"/>
              <a:t> (n =&gt; n % 2 == 1); </a:t>
            </a:r>
            <a:endParaRPr lang="en-US" sz="2800" i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1934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Кванторы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74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477228"/>
            <a:ext cx="86681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Операторы комплектовщики </a:t>
            </a:r>
            <a:r>
              <a:rPr lang="en-US" sz="2800" b="1" dirty="0" err="1"/>
              <a:t>Concat</a:t>
            </a:r>
            <a:r>
              <a:rPr lang="en-US" sz="2800" b="1" dirty="0"/>
              <a:t> </a:t>
            </a:r>
            <a:r>
              <a:rPr lang="ru-RU" sz="2800" b="1" dirty="0" smtClean="0"/>
              <a:t>и</a:t>
            </a:r>
            <a:r>
              <a:rPr lang="en-US" sz="2800" b="1" dirty="0"/>
              <a:t> Union </a:t>
            </a:r>
            <a:r>
              <a:rPr lang="ru-RU" sz="2800" dirty="0" smtClean="0"/>
              <a:t>принимают </a:t>
            </a:r>
            <a:r>
              <a:rPr lang="ru-RU" sz="2800" dirty="0"/>
              <a:t>две входящие последовательности одного </a:t>
            </a:r>
            <a:r>
              <a:rPr lang="ru-RU" sz="2800" dirty="0" smtClean="0"/>
              <a:t>типа </a:t>
            </a:r>
            <a:r>
              <a:rPr lang="ru-RU" sz="2800" dirty="0"/>
              <a:t>и образуют </a:t>
            </a:r>
            <a:r>
              <a:rPr lang="ru-RU" sz="2800" dirty="0" smtClean="0"/>
              <a:t>новую, присоединяя </a:t>
            </a:r>
            <a:r>
              <a:rPr lang="ru-RU" sz="2800" dirty="0"/>
              <a:t>одну последовательность к </a:t>
            </a:r>
            <a:r>
              <a:rPr lang="ru-RU" sz="2800" dirty="0" smtClean="0"/>
              <a:t>другой:</a:t>
            </a:r>
          </a:p>
          <a:p>
            <a:endParaRPr lang="ru-RU" sz="2800" i="1" dirty="0" smtClean="0"/>
          </a:p>
          <a:p>
            <a:r>
              <a:rPr lang="en-US" sz="2800" dirty="0" err="1"/>
              <a:t>int</a:t>
            </a:r>
            <a:r>
              <a:rPr lang="en-US" sz="2800" dirty="0"/>
              <a:t>[] </a:t>
            </a:r>
            <a:r>
              <a:rPr lang="ru-RU" sz="2800" dirty="0" smtClean="0"/>
              <a:t> </a:t>
            </a:r>
            <a:r>
              <a:rPr lang="en-US" sz="2800" dirty="0" smtClean="0"/>
              <a:t>seq1 </a:t>
            </a:r>
            <a:r>
              <a:rPr lang="en-US" sz="2800" dirty="0"/>
              <a:t>= { 1, 2, 3 }, </a:t>
            </a:r>
            <a:r>
              <a:rPr lang="ru-RU" sz="2800" dirty="0" smtClean="0"/>
              <a:t> </a:t>
            </a:r>
            <a:r>
              <a:rPr lang="en-US" sz="2800" dirty="0" smtClean="0"/>
              <a:t>seq2 </a:t>
            </a:r>
            <a:r>
              <a:rPr lang="en-US" sz="2800" dirty="0"/>
              <a:t>= { 3, 4, 5 </a:t>
            </a:r>
            <a:r>
              <a:rPr lang="en-US" sz="2800" dirty="0" smtClean="0"/>
              <a:t>};</a:t>
            </a:r>
            <a:endParaRPr lang="ru-RU" sz="2800" dirty="0" smtClean="0"/>
          </a:p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err="1"/>
              <a:t>IEnumerable</a:t>
            </a:r>
            <a:r>
              <a:rPr lang="en-US" sz="2800" dirty="0"/>
              <a:t>&lt;</a:t>
            </a:r>
            <a:r>
              <a:rPr lang="en-US" sz="2800" dirty="0" err="1"/>
              <a:t>int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    </a:t>
            </a:r>
            <a:r>
              <a:rPr lang="en-US" sz="2800" dirty="0" err="1"/>
              <a:t>concat</a:t>
            </a:r>
            <a:r>
              <a:rPr lang="en-US" sz="2800" dirty="0"/>
              <a:t> = seq1.</a:t>
            </a:r>
            <a:r>
              <a:rPr lang="en-US" sz="2800" b="1" dirty="0"/>
              <a:t>Concat</a:t>
            </a:r>
            <a:r>
              <a:rPr lang="en-US" sz="2800" dirty="0"/>
              <a:t> (seq2), </a:t>
            </a:r>
            <a:r>
              <a:rPr lang="en-US" sz="2800" i="1" dirty="0"/>
              <a:t>// { 1, 2, 3, 3, 4, 5 }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    union = seq1.</a:t>
            </a:r>
            <a:r>
              <a:rPr lang="en-US" sz="2800" b="1" dirty="0"/>
              <a:t>Union</a:t>
            </a:r>
            <a:r>
              <a:rPr lang="en-US" sz="2800" dirty="0"/>
              <a:t> (seq2), </a:t>
            </a:r>
            <a:r>
              <a:rPr lang="en-US" sz="2800" i="1" dirty="0"/>
              <a:t>// { 1, 2, 3, 4, 5 }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54160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Операторы комплектовщики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90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477228"/>
            <a:ext cx="86681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[] </a:t>
            </a:r>
            <a:r>
              <a:rPr lang="ru-RU" sz="2800" dirty="0"/>
              <a:t> </a:t>
            </a:r>
            <a:r>
              <a:rPr lang="en-US" sz="2800" dirty="0"/>
              <a:t>seq1 = { 1, 2, 3 }, </a:t>
            </a:r>
            <a:r>
              <a:rPr lang="ru-RU" sz="2800" dirty="0"/>
              <a:t> </a:t>
            </a:r>
            <a:r>
              <a:rPr lang="en-US" sz="2800" dirty="0"/>
              <a:t>seq2 = { 3, 4, 5 };</a:t>
            </a:r>
            <a:endParaRPr lang="ru-RU" sz="2800" dirty="0"/>
          </a:p>
          <a:p>
            <a:endParaRPr lang="ru-RU" sz="2800" dirty="0"/>
          </a:p>
          <a:p>
            <a:r>
              <a:rPr lang="en-US" sz="2800" dirty="0" err="1" smtClean="0"/>
              <a:t>IEnumerable</a:t>
            </a:r>
            <a:r>
              <a:rPr lang="en-US" sz="2800" dirty="0" smtClean="0"/>
              <a:t>&lt;</a:t>
            </a:r>
            <a:r>
              <a:rPr lang="en-US" sz="2800" dirty="0" err="1" smtClean="0"/>
              <a:t>int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    commonality = seq1.</a:t>
            </a:r>
            <a:r>
              <a:rPr lang="en-US" sz="2800" b="1" dirty="0"/>
              <a:t>Intersect</a:t>
            </a:r>
            <a:r>
              <a:rPr lang="en-US" sz="2800" dirty="0"/>
              <a:t> (seq2), </a:t>
            </a:r>
            <a:r>
              <a:rPr lang="en-US" sz="2800" i="1" dirty="0"/>
              <a:t>// { 3 }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    difference1 = seq1.</a:t>
            </a:r>
            <a:r>
              <a:rPr lang="en-US" sz="2800" b="1" dirty="0"/>
              <a:t>Except</a:t>
            </a:r>
            <a:r>
              <a:rPr lang="en-US" sz="2800" dirty="0"/>
              <a:t> (seq2), </a:t>
            </a:r>
            <a:r>
              <a:rPr lang="en-US" sz="2800" i="1" dirty="0"/>
              <a:t>// { 1, 2 }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    difference2 = seq2.</a:t>
            </a:r>
            <a:r>
              <a:rPr lang="en-US" sz="2800" b="1" dirty="0"/>
              <a:t>Except</a:t>
            </a:r>
            <a:r>
              <a:rPr lang="en-US" sz="2800" dirty="0"/>
              <a:t> (seq1); </a:t>
            </a:r>
            <a:r>
              <a:rPr lang="en-US" sz="2800" i="1" dirty="0"/>
              <a:t>// { 4, 5 }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54160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Операторы комплектовщики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12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440364" y="1124744"/>
            <a:ext cx="866814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Операторы </a:t>
            </a:r>
            <a:r>
              <a:rPr lang="ru-RU" sz="2800" dirty="0"/>
              <a:t>запроса </a:t>
            </a:r>
            <a:r>
              <a:rPr lang="ru-RU" sz="2800" dirty="0" smtClean="0"/>
              <a:t>выполняются </a:t>
            </a:r>
            <a:r>
              <a:rPr lang="ru-RU" sz="2800" dirty="0"/>
              <a:t>не в момент их создания, а в момент перечисления исходящей </a:t>
            </a:r>
            <a:r>
              <a:rPr lang="ru-RU" sz="2800" dirty="0" smtClean="0"/>
              <a:t>последовательности:</a:t>
            </a:r>
          </a:p>
          <a:p>
            <a:endParaRPr lang="ru-RU" sz="2800" i="1" dirty="0"/>
          </a:p>
          <a:p>
            <a:r>
              <a:rPr lang="en-US" sz="2800" dirty="0"/>
              <a:t>var numbers = new List&lt;</a:t>
            </a:r>
            <a:r>
              <a:rPr lang="en-US" sz="2800" dirty="0" err="1"/>
              <a:t>int</a:t>
            </a:r>
            <a:r>
              <a:rPr lang="en-US" sz="2800" dirty="0"/>
              <a:t>&gt; { 3 }; </a:t>
            </a:r>
          </a:p>
          <a:p>
            <a:r>
              <a:rPr lang="en-US" sz="2800" dirty="0" err="1" smtClean="0"/>
              <a:t>numbers.Add</a:t>
            </a:r>
            <a:r>
              <a:rPr lang="en-US" sz="2800" dirty="0" smtClean="0"/>
              <a:t>(5</a:t>
            </a:r>
            <a:r>
              <a:rPr lang="en-US" sz="2800" dirty="0"/>
              <a:t>); </a:t>
            </a:r>
          </a:p>
          <a:p>
            <a:endParaRPr lang="ru-RU" sz="2800" dirty="0" smtClean="0"/>
          </a:p>
          <a:p>
            <a:r>
              <a:rPr lang="en-US" sz="2800" dirty="0" err="1" smtClean="0"/>
              <a:t>IEnumerable</a:t>
            </a:r>
            <a:r>
              <a:rPr lang="en-US" sz="2800" dirty="0" smtClean="0"/>
              <a:t>&lt;</a:t>
            </a:r>
            <a:r>
              <a:rPr lang="en-US" sz="2800" dirty="0" err="1" smtClean="0"/>
              <a:t>int</a:t>
            </a:r>
            <a:r>
              <a:rPr lang="en-US" sz="2800" dirty="0"/>
              <a:t>&gt; query = </a:t>
            </a:r>
            <a:r>
              <a:rPr lang="en-US" sz="2800" dirty="0" err="1"/>
              <a:t>numbers.Select</a:t>
            </a:r>
            <a:r>
              <a:rPr lang="en-US" sz="2800" dirty="0"/>
              <a:t>(n =&gt; n * 10); </a:t>
            </a:r>
          </a:p>
          <a:p>
            <a:endParaRPr lang="ru-RU" sz="2800" dirty="0" smtClean="0"/>
          </a:p>
          <a:p>
            <a:r>
              <a:rPr lang="ru-RU" sz="2800" dirty="0" err="1" smtClean="0"/>
              <a:t>numbers.Add</a:t>
            </a:r>
            <a:r>
              <a:rPr lang="ru-RU" sz="2800" dirty="0" smtClean="0"/>
              <a:t>(9</a:t>
            </a:r>
            <a:r>
              <a:rPr lang="ru-RU" sz="2800" dirty="0"/>
              <a:t>); // д</a:t>
            </a:r>
            <a:r>
              <a:rPr lang="ru-RU" sz="2800" dirty="0" smtClean="0"/>
              <a:t>обавляем элемент</a:t>
            </a:r>
            <a:endParaRPr lang="ru-RU" sz="2800" dirty="0"/>
          </a:p>
          <a:p>
            <a:endParaRPr lang="ru-RU" sz="2800" dirty="0" smtClean="0"/>
          </a:p>
          <a:p>
            <a:r>
              <a:rPr lang="en-US" sz="2800" dirty="0" smtClean="0"/>
              <a:t>foreach </a:t>
            </a:r>
            <a:r>
              <a:rPr lang="en-US" sz="2800" dirty="0"/>
              <a:t>(</a:t>
            </a: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ru-RU" sz="2800" dirty="0" smtClean="0"/>
              <a:t> </a:t>
            </a:r>
            <a:r>
              <a:rPr lang="en-US" sz="2800" dirty="0" smtClean="0"/>
              <a:t>k </a:t>
            </a:r>
            <a:r>
              <a:rPr lang="ru-RU" sz="2800" dirty="0" smtClean="0"/>
              <a:t> </a:t>
            </a:r>
            <a:r>
              <a:rPr lang="en-US" sz="2800" dirty="0" smtClean="0"/>
              <a:t>in </a:t>
            </a:r>
            <a:r>
              <a:rPr lang="ru-RU" sz="2800" dirty="0" smtClean="0"/>
              <a:t> </a:t>
            </a:r>
            <a:r>
              <a:rPr lang="en-US" sz="2800" dirty="0" smtClean="0"/>
              <a:t>query</a:t>
            </a:r>
            <a:r>
              <a:rPr lang="en-US" sz="2800" dirty="0"/>
              <a:t>)</a:t>
            </a:r>
          </a:p>
          <a:p>
            <a:r>
              <a:rPr lang="en-US" sz="2800" dirty="0"/>
              <a:t>        </a:t>
            </a:r>
            <a:r>
              <a:rPr lang="en-US" sz="2800" dirty="0" err="1" smtClean="0"/>
              <a:t>MessageBox.Show</a:t>
            </a:r>
            <a:r>
              <a:rPr lang="en-US" sz="2800" dirty="0" smtClean="0"/>
              <a:t>(</a:t>
            </a:r>
            <a:r>
              <a:rPr lang="en-US" sz="2800" dirty="0" err="1"/>
              <a:t>k</a:t>
            </a:r>
            <a:r>
              <a:rPr lang="en-US" sz="2800" dirty="0" err="1" smtClean="0"/>
              <a:t>.ToString</a:t>
            </a:r>
            <a:r>
              <a:rPr lang="en-US" sz="2800" dirty="0"/>
              <a:t>());</a:t>
            </a:r>
            <a:endParaRPr lang="en-US" sz="2800" i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7500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Отложенное выполнение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37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440364" y="1399416"/>
            <a:ext cx="84521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dirty="0"/>
              <a:t>Фильтрующие </a:t>
            </a:r>
            <a:r>
              <a:rPr lang="ru-RU" sz="2800" dirty="0" smtClean="0"/>
              <a:t>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Проецирующие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Объединяющие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Упорядочивающие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Группирующие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Операторы </a:t>
            </a:r>
            <a:r>
              <a:rPr lang="ru-RU" sz="2800" dirty="0" smtClean="0"/>
              <a:t>комплектовщики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Элементные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Агрегирующие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Операторы кванторы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Преобразующие-импортирующие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Преобразующие-экспортирующие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Генерирующие </a:t>
            </a:r>
            <a:r>
              <a:rPr lang="ru-RU" sz="2800" dirty="0" smtClean="0"/>
              <a:t>операторы</a:t>
            </a:r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60869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Стандартные операторы запроса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29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124744"/>
            <a:ext cx="874846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err="1" smtClean="0"/>
              <a:t>Where</a:t>
            </a:r>
            <a:r>
              <a:rPr lang="ru-RU" sz="2600" b="1" dirty="0" smtClean="0"/>
              <a:t> </a:t>
            </a:r>
            <a:r>
              <a:rPr lang="ru-RU" sz="2600" dirty="0"/>
              <a:t>- </a:t>
            </a:r>
            <a:r>
              <a:rPr lang="ru-RU" sz="2600" dirty="0" smtClean="0"/>
              <a:t>возвращает подмножество </a:t>
            </a:r>
            <a:r>
              <a:rPr lang="ru-RU" sz="2600" dirty="0"/>
              <a:t>элементов, удовлетворяющих переданному условию</a:t>
            </a:r>
          </a:p>
          <a:p>
            <a:r>
              <a:rPr lang="ru-RU" sz="2600" b="1" dirty="0" err="1"/>
              <a:t>Take</a:t>
            </a:r>
            <a:r>
              <a:rPr lang="ru-RU" sz="2600" b="1" dirty="0"/>
              <a:t> </a:t>
            </a:r>
            <a:r>
              <a:rPr lang="ru-RU" sz="2600" dirty="0"/>
              <a:t>- </a:t>
            </a:r>
            <a:r>
              <a:rPr lang="ru-RU" sz="2600" dirty="0" smtClean="0"/>
              <a:t>возвращает первые</a:t>
            </a:r>
            <a:r>
              <a:rPr lang="ru-RU" sz="2600" dirty="0"/>
              <a:t> </a:t>
            </a:r>
            <a:r>
              <a:rPr lang="ru-RU" sz="2600" i="1" dirty="0"/>
              <a:t>n</a:t>
            </a:r>
            <a:r>
              <a:rPr lang="ru-RU" sz="2600" dirty="0"/>
              <a:t> элементов, отбрасывая остальные</a:t>
            </a:r>
          </a:p>
          <a:p>
            <a:r>
              <a:rPr lang="ru-RU" sz="2600" b="1" dirty="0" err="1"/>
              <a:t>Skip</a:t>
            </a:r>
            <a:r>
              <a:rPr lang="ru-RU" sz="2600" b="1" dirty="0"/>
              <a:t> </a:t>
            </a:r>
            <a:r>
              <a:rPr lang="ru-RU" sz="2600" dirty="0"/>
              <a:t>- отбрасывает первые </a:t>
            </a:r>
            <a:r>
              <a:rPr lang="ru-RU" sz="2600" i="1" dirty="0"/>
              <a:t>n</a:t>
            </a:r>
            <a:r>
              <a:rPr lang="ru-RU" sz="2600" dirty="0"/>
              <a:t> элементов и возвращает оставшиеся</a:t>
            </a:r>
          </a:p>
          <a:p>
            <a:r>
              <a:rPr lang="ru-RU" sz="2600" b="1" dirty="0" err="1"/>
              <a:t>TakeWhile</a:t>
            </a:r>
            <a:r>
              <a:rPr lang="ru-RU" sz="2600" b="1" dirty="0"/>
              <a:t> </a:t>
            </a:r>
            <a:r>
              <a:rPr lang="ru-RU" sz="2600" dirty="0"/>
              <a:t>- извлекает элементы из входящей последовательности пока переданный предикат возвращает </a:t>
            </a:r>
            <a:r>
              <a:rPr lang="ru-RU" sz="2600" dirty="0" err="1"/>
              <a:t>true</a:t>
            </a:r>
            <a:endParaRPr lang="ru-RU" sz="2600" dirty="0"/>
          </a:p>
          <a:p>
            <a:r>
              <a:rPr lang="ru-RU" sz="2600" b="1" dirty="0" err="1"/>
              <a:t>SkipWhile</a:t>
            </a:r>
            <a:r>
              <a:rPr lang="ru-RU" sz="2600" b="1" dirty="0"/>
              <a:t> </a:t>
            </a:r>
            <a:r>
              <a:rPr lang="ru-RU" sz="2600" dirty="0"/>
              <a:t>- отбрасывает элементы из входящей последовательности пока переданный предикат возвращает </a:t>
            </a:r>
            <a:r>
              <a:rPr lang="ru-RU" sz="2600" dirty="0" err="1"/>
              <a:t>true</a:t>
            </a:r>
            <a:r>
              <a:rPr lang="ru-RU" sz="2600" dirty="0"/>
              <a:t>, затем возвращает остаток</a:t>
            </a:r>
          </a:p>
          <a:p>
            <a:r>
              <a:rPr lang="ru-RU" sz="2600" b="1" dirty="0" err="1"/>
              <a:t>Distinct</a:t>
            </a:r>
            <a:r>
              <a:rPr lang="ru-RU" sz="2600" b="1" dirty="0"/>
              <a:t> </a:t>
            </a:r>
            <a:r>
              <a:rPr lang="ru-RU" sz="2600" dirty="0"/>
              <a:t>- возвращает коллекцию с исключенными повторами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8063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Фильтрующие операторы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05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534140"/>
            <a:ext cx="845211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/>
              <a:t>Select</a:t>
            </a:r>
            <a:r>
              <a:rPr lang="ru-RU" sz="2800" b="1" dirty="0" smtClean="0"/>
              <a:t> </a:t>
            </a:r>
            <a:r>
              <a:rPr lang="ru-RU" sz="2800" dirty="0"/>
              <a:t>- преобразует каждый элемент входящей последовательности с помощью переданного лямбда </a:t>
            </a:r>
            <a:r>
              <a:rPr lang="ru-RU" sz="2800" dirty="0" smtClean="0"/>
              <a:t>выражения</a:t>
            </a:r>
          </a:p>
          <a:p>
            <a:endParaRPr lang="ru-RU" sz="2800" dirty="0"/>
          </a:p>
          <a:p>
            <a:r>
              <a:rPr lang="ru-RU" sz="2800" b="1" dirty="0" err="1"/>
              <a:t>SelectMany</a:t>
            </a:r>
            <a:r>
              <a:rPr lang="ru-RU" sz="2800" b="1" dirty="0"/>
              <a:t> </a:t>
            </a:r>
            <a:r>
              <a:rPr lang="ru-RU" sz="2800" dirty="0"/>
              <a:t>- преобразует элементы нескольких входящих последовательностей и объединяет получившиеся последовательности в одну (одноуровневую)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50792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Проецирующие операторы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56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340768"/>
            <a:ext cx="84521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/>
              <a:t>Join</a:t>
            </a:r>
            <a:r>
              <a:rPr lang="ru-RU" sz="2800" b="1" dirty="0" smtClean="0"/>
              <a:t> </a:t>
            </a:r>
            <a:r>
              <a:rPr lang="ru-RU" sz="2800" dirty="0"/>
              <a:t>- объединяет элементы из двух последовательностей в один одноуровневый </a:t>
            </a:r>
            <a:r>
              <a:rPr lang="ru-RU" sz="2800" dirty="0" smtClean="0"/>
              <a:t>набор</a:t>
            </a:r>
          </a:p>
          <a:p>
            <a:endParaRPr lang="ru-RU" sz="2800" dirty="0"/>
          </a:p>
          <a:p>
            <a:r>
              <a:rPr lang="ru-RU" sz="2800" b="1" dirty="0" err="1"/>
              <a:t>GroupJoin</a:t>
            </a:r>
            <a:r>
              <a:rPr lang="ru-RU" sz="2800" b="1" dirty="0"/>
              <a:t> </a:t>
            </a:r>
            <a:r>
              <a:rPr lang="ru-RU" sz="2800" dirty="0"/>
              <a:t>- объединяет элементы из двух последовательностей в один иерархический (многоуровневый) набор</a:t>
            </a:r>
          </a:p>
          <a:p>
            <a:endParaRPr lang="ru-RU" sz="2800" b="1" dirty="0" smtClean="0"/>
          </a:p>
          <a:p>
            <a:r>
              <a:rPr lang="ru-RU" sz="2800" b="1" dirty="0" err="1" smtClean="0"/>
              <a:t>Zip</a:t>
            </a:r>
            <a:r>
              <a:rPr lang="ru-RU" sz="2800" dirty="0" smtClean="0"/>
              <a:t> </a:t>
            </a:r>
            <a:r>
              <a:rPr lang="ru-RU" sz="2800" dirty="0"/>
              <a:t>- перебирает две последовательности за один проход и возвращает последовательность, содержащую результаты выполнения функции (переданной в качестве аргумента) над парами элементов из двух </a:t>
            </a:r>
            <a:r>
              <a:rPr lang="ru-RU" sz="2800" dirty="0" smtClean="0"/>
              <a:t>последовательностей</a:t>
            </a:r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51273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Объединяющие операторы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14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534140"/>
            <a:ext cx="845211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Упорядочивающие </a:t>
            </a:r>
            <a:r>
              <a:rPr lang="ru-RU" sz="2400" b="1" dirty="0" smtClean="0"/>
              <a:t>операторы:</a:t>
            </a:r>
          </a:p>
          <a:p>
            <a:endParaRPr lang="ru-RU" sz="2400" b="1" dirty="0"/>
          </a:p>
          <a:p>
            <a:r>
              <a:rPr lang="ru-RU" sz="2400" b="1" dirty="0" err="1"/>
              <a:t>OrderBy</a:t>
            </a:r>
            <a:r>
              <a:rPr lang="ru-RU" sz="2400" dirty="0"/>
              <a:t>, </a:t>
            </a:r>
            <a:r>
              <a:rPr lang="ru-RU" sz="2400" b="1" dirty="0" err="1"/>
              <a:t>ThenBy</a:t>
            </a:r>
            <a:r>
              <a:rPr lang="ru-RU" sz="2400" b="1" dirty="0"/>
              <a:t> </a:t>
            </a:r>
            <a:r>
              <a:rPr lang="ru-RU" sz="2400" dirty="0"/>
              <a:t>- возвращают элементы отсортированные в возрастающем порядке</a:t>
            </a:r>
          </a:p>
          <a:p>
            <a:r>
              <a:rPr lang="ru-RU" sz="2400" b="1" dirty="0" err="1"/>
              <a:t>OrderByDescending</a:t>
            </a:r>
            <a:r>
              <a:rPr lang="ru-RU" sz="2400" dirty="0"/>
              <a:t>, </a:t>
            </a:r>
            <a:r>
              <a:rPr lang="ru-RU" sz="2400" b="1" dirty="0" err="1"/>
              <a:t>ThenByDescending</a:t>
            </a:r>
            <a:r>
              <a:rPr lang="ru-RU" sz="2400" dirty="0"/>
              <a:t> - возвращают элементы отсортированный в убывающем порядке</a:t>
            </a:r>
          </a:p>
          <a:p>
            <a:r>
              <a:rPr lang="ru-RU" sz="2400" b="1" dirty="0" err="1"/>
              <a:t>Reverse</a:t>
            </a:r>
            <a:r>
              <a:rPr lang="ru-RU" sz="2400" b="1" dirty="0"/>
              <a:t> </a:t>
            </a:r>
            <a:r>
              <a:rPr lang="ru-RU" sz="2400" dirty="0"/>
              <a:t>- возвращает элементы в обратном </a:t>
            </a:r>
            <a:r>
              <a:rPr lang="ru-RU" sz="2400" dirty="0" smtClean="0"/>
              <a:t>порядке</a:t>
            </a:r>
          </a:p>
          <a:p>
            <a:endParaRPr lang="ru-RU" sz="2400" dirty="0" smtClean="0"/>
          </a:p>
          <a:p>
            <a:endParaRPr lang="ru-RU" sz="2400" dirty="0"/>
          </a:p>
          <a:p>
            <a:r>
              <a:rPr lang="ru-RU" sz="2400" b="1" dirty="0"/>
              <a:t>Группирующие операторы:</a:t>
            </a:r>
          </a:p>
          <a:p>
            <a:endParaRPr lang="ru-RU" sz="2400" b="1" dirty="0"/>
          </a:p>
          <a:p>
            <a:r>
              <a:rPr lang="ru-RU" sz="2400" b="1" dirty="0" err="1"/>
              <a:t>GroupBy</a:t>
            </a:r>
            <a:r>
              <a:rPr lang="ru-RU" sz="2400" b="1" dirty="0"/>
              <a:t> </a:t>
            </a:r>
            <a:r>
              <a:rPr lang="ru-RU" sz="2400" dirty="0"/>
              <a:t>- группирует элементы последовательности в подмножества (</a:t>
            </a:r>
            <a:r>
              <a:rPr lang="ru-RU" sz="2400" dirty="0" err="1"/>
              <a:t>подпоследовательности</a:t>
            </a:r>
            <a:r>
              <a:rPr lang="ru-RU" sz="2400" dirty="0" smtClean="0"/>
              <a:t>)</a:t>
            </a: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39244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Операторы запросов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00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534140"/>
            <a:ext cx="845211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/>
              <a:t>Concat</a:t>
            </a:r>
            <a:r>
              <a:rPr lang="ru-RU" sz="2800" b="1" dirty="0" smtClean="0"/>
              <a:t> </a:t>
            </a:r>
            <a:r>
              <a:rPr lang="ru-RU" sz="2800" dirty="0" smtClean="0"/>
              <a:t>– объединяет</a:t>
            </a:r>
            <a:r>
              <a:rPr lang="en-US" sz="2800" dirty="0" smtClean="0"/>
              <a:t> </a:t>
            </a:r>
            <a:r>
              <a:rPr lang="ru-RU" sz="2800" dirty="0" smtClean="0"/>
              <a:t>две последовательности</a:t>
            </a:r>
          </a:p>
          <a:p>
            <a:endParaRPr lang="ru-RU" sz="2800" dirty="0"/>
          </a:p>
          <a:p>
            <a:r>
              <a:rPr lang="ru-RU" sz="2800" b="1" dirty="0" err="1"/>
              <a:t>Union</a:t>
            </a:r>
            <a:r>
              <a:rPr lang="ru-RU" sz="2800" b="1" dirty="0"/>
              <a:t> </a:t>
            </a:r>
            <a:r>
              <a:rPr lang="ru-RU" sz="2800" dirty="0" smtClean="0"/>
              <a:t>– объединяет</a:t>
            </a:r>
            <a:r>
              <a:rPr lang="en-US" sz="2800" dirty="0" smtClean="0"/>
              <a:t> </a:t>
            </a:r>
            <a:r>
              <a:rPr lang="ru-RU" sz="2800" dirty="0" smtClean="0"/>
              <a:t>две </a:t>
            </a:r>
            <a:r>
              <a:rPr lang="ru-RU" sz="2800" dirty="0"/>
              <a:t>последовательности, удаляя повторы</a:t>
            </a:r>
          </a:p>
          <a:p>
            <a:endParaRPr lang="ru-RU" sz="2800" b="1" dirty="0" smtClean="0"/>
          </a:p>
          <a:p>
            <a:r>
              <a:rPr lang="ru-RU" sz="2800" b="1" dirty="0" err="1" smtClean="0"/>
              <a:t>Intersect</a:t>
            </a:r>
            <a:r>
              <a:rPr lang="ru-RU" sz="2800" dirty="0" smtClean="0"/>
              <a:t> – возвращает</a:t>
            </a:r>
            <a:r>
              <a:rPr lang="en-US" sz="2800" dirty="0" smtClean="0"/>
              <a:t> </a:t>
            </a:r>
            <a:r>
              <a:rPr lang="ru-RU" sz="2800" dirty="0" smtClean="0"/>
              <a:t>элементы</a:t>
            </a:r>
            <a:r>
              <a:rPr lang="ru-RU" sz="2800" dirty="0"/>
              <a:t>, присутствующие в обеих последовательностях</a:t>
            </a:r>
          </a:p>
          <a:p>
            <a:endParaRPr lang="ru-RU" sz="2800" b="1" dirty="0" smtClean="0"/>
          </a:p>
          <a:p>
            <a:r>
              <a:rPr lang="ru-RU" sz="2800" b="1" dirty="0" err="1" smtClean="0"/>
              <a:t>Except</a:t>
            </a:r>
            <a:r>
              <a:rPr lang="ru-RU" sz="2800" b="1" dirty="0" smtClean="0"/>
              <a:t> </a:t>
            </a:r>
            <a:r>
              <a:rPr lang="ru-RU" sz="2800" dirty="0" smtClean="0"/>
              <a:t>– возвращает</a:t>
            </a:r>
            <a:r>
              <a:rPr lang="en-US" sz="2800" dirty="0" smtClean="0"/>
              <a:t> </a:t>
            </a:r>
            <a:r>
              <a:rPr lang="ru-RU" sz="2800" dirty="0" smtClean="0"/>
              <a:t>элементы </a:t>
            </a:r>
            <a:r>
              <a:rPr lang="ru-RU" sz="2800" dirty="0"/>
              <a:t>первой последовательности, отсутствующие во второй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54160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Операторы комплектовщики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15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124744"/>
            <a:ext cx="874846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err="1" smtClean="0"/>
              <a:t>First</a:t>
            </a:r>
            <a:r>
              <a:rPr lang="ru-RU" sz="2600" dirty="0"/>
              <a:t>, </a:t>
            </a:r>
            <a:r>
              <a:rPr lang="ru-RU" sz="2600" b="1" dirty="0" err="1"/>
              <a:t>FirstOrDefault</a:t>
            </a:r>
            <a:r>
              <a:rPr lang="ru-RU" sz="2600" b="1" dirty="0"/>
              <a:t> </a:t>
            </a:r>
            <a:r>
              <a:rPr lang="ru-RU" sz="2600" dirty="0" smtClean="0"/>
              <a:t>– возвращают</a:t>
            </a:r>
            <a:r>
              <a:rPr lang="en-US" sz="2600" dirty="0" smtClean="0"/>
              <a:t> </a:t>
            </a:r>
            <a:r>
              <a:rPr lang="ru-RU" sz="2600" dirty="0" smtClean="0"/>
              <a:t>первый </a:t>
            </a:r>
            <a:r>
              <a:rPr lang="ru-RU" sz="2600" dirty="0"/>
              <a:t>элемент последовательности или первый элемент, удовлетворяющий переданному </a:t>
            </a:r>
            <a:r>
              <a:rPr lang="ru-RU" sz="2600" dirty="0" smtClean="0"/>
              <a:t>предикату</a:t>
            </a:r>
            <a:r>
              <a:rPr lang="en-US" sz="2600" dirty="0" smtClean="0"/>
              <a:t>.</a:t>
            </a:r>
            <a:endParaRPr lang="ru-RU" sz="2600" dirty="0"/>
          </a:p>
          <a:p>
            <a:r>
              <a:rPr lang="ru-RU" sz="2600" b="1" dirty="0" err="1"/>
              <a:t>Last</a:t>
            </a:r>
            <a:r>
              <a:rPr lang="ru-RU" sz="2600" dirty="0"/>
              <a:t>, </a:t>
            </a:r>
            <a:r>
              <a:rPr lang="ru-RU" sz="2600" b="1" dirty="0" err="1"/>
              <a:t>LastOrDefault</a:t>
            </a:r>
            <a:r>
              <a:rPr lang="ru-RU" sz="2600" b="1" dirty="0"/>
              <a:t> </a:t>
            </a:r>
            <a:r>
              <a:rPr lang="ru-RU" sz="2600" dirty="0" smtClean="0"/>
              <a:t>–</a:t>
            </a:r>
            <a:r>
              <a:rPr lang="ru-RU" sz="2600" dirty="0"/>
              <a:t> </a:t>
            </a:r>
            <a:r>
              <a:rPr lang="ru-RU" sz="2600" dirty="0" smtClean="0"/>
              <a:t>возвращают</a:t>
            </a:r>
            <a:r>
              <a:rPr lang="en-US" sz="2600" dirty="0" smtClean="0"/>
              <a:t> </a:t>
            </a:r>
            <a:r>
              <a:rPr lang="ru-RU" sz="2600" dirty="0" smtClean="0"/>
              <a:t>последний</a:t>
            </a:r>
            <a:r>
              <a:rPr lang="ru-RU" sz="2600" dirty="0"/>
              <a:t> элемент последовательности или последний элемент, удовлетворяющий переданному </a:t>
            </a:r>
            <a:r>
              <a:rPr lang="ru-RU" sz="2600" dirty="0" smtClean="0"/>
              <a:t>предикату</a:t>
            </a:r>
            <a:r>
              <a:rPr lang="en-US" sz="2600" dirty="0" smtClean="0"/>
              <a:t>.</a:t>
            </a:r>
            <a:endParaRPr lang="ru-RU" sz="2600" dirty="0"/>
          </a:p>
          <a:p>
            <a:r>
              <a:rPr lang="ru-RU" sz="2600" b="1" dirty="0" err="1"/>
              <a:t>Single</a:t>
            </a:r>
            <a:r>
              <a:rPr lang="ru-RU" sz="2600" dirty="0"/>
              <a:t>, </a:t>
            </a:r>
            <a:r>
              <a:rPr lang="ru-RU" sz="2600" b="1" dirty="0" err="1"/>
              <a:t>SingleOrDefault</a:t>
            </a:r>
            <a:r>
              <a:rPr lang="ru-RU" sz="2600" dirty="0"/>
              <a:t> – эквивалент </a:t>
            </a:r>
            <a:r>
              <a:rPr lang="ru-RU" sz="2600" dirty="0" err="1"/>
              <a:t>First</a:t>
            </a:r>
            <a:r>
              <a:rPr lang="ru-RU" sz="2600" dirty="0"/>
              <a:t>/</a:t>
            </a:r>
            <a:r>
              <a:rPr lang="ru-RU" sz="2600" dirty="0" err="1"/>
              <a:t>FirstOrDefault</a:t>
            </a:r>
            <a:r>
              <a:rPr lang="ru-RU" sz="2600" dirty="0"/>
              <a:t>, </a:t>
            </a:r>
            <a:r>
              <a:rPr lang="ru-RU" sz="2600" dirty="0" smtClean="0"/>
              <a:t>если </a:t>
            </a:r>
            <a:r>
              <a:rPr lang="ru-RU" sz="2600" dirty="0"/>
              <a:t>совпадений больше </a:t>
            </a:r>
            <a:r>
              <a:rPr lang="ru-RU" sz="2600" dirty="0" smtClean="0"/>
              <a:t>одного, </a:t>
            </a:r>
            <a:r>
              <a:rPr lang="ru-RU" sz="2600" dirty="0"/>
              <a:t>выбрасывает </a:t>
            </a:r>
            <a:r>
              <a:rPr lang="ru-RU" sz="2600" dirty="0" smtClean="0"/>
              <a:t>исключение</a:t>
            </a:r>
            <a:r>
              <a:rPr lang="en-US" sz="2600" dirty="0" smtClean="0"/>
              <a:t>.</a:t>
            </a:r>
            <a:endParaRPr lang="ru-RU" sz="2600" dirty="0"/>
          </a:p>
          <a:p>
            <a:r>
              <a:rPr lang="ru-RU" sz="2600" b="1" dirty="0" err="1"/>
              <a:t>ElementAt</a:t>
            </a:r>
            <a:r>
              <a:rPr lang="ru-RU" sz="2600" dirty="0"/>
              <a:t>, </a:t>
            </a:r>
            <a:r>
              <a:rPr lang="ru-RU" sz="2600" b="1" dirty="0" err="1"/>
              <a:t>ElementAtOrDefault</a:t>
            </a:r>
            <a:r>
              <a:rPr lang="ru-RU" sz="2600" b="1" dirty="0"/>
              <a:t> </a:t>
            </a:r>
            <a:r>
              <a:rPr lang="ru-RU" sz="2600" dirty="0"/>
              <a:t>– возвращает элемент с указанной </a:t>
            </a:r>
            <a:r>
              <a:rPr lang="ru-RU" sz="2600" dirty="0" smtClean="0"/>
              <a:t>позицией</a:t>
            </a:r>
            <a:r>
              <a:rPr lang="en-US" sz="2600" dirty="0" smtClean="0"/>
              <a:t>.</a:t>
            </a:r>
            <a:endParaRPr lang="ru-RU" sz="2600" dirty="0"/>
          </a:p>
          <a:p>
            <a:r>
              <a:rPr lang="ru-RU" sz="2600" b="1" dirty="0" err="1"/>
              <a:t>DefaultIfEmpty</a:t>
            </a:r>
            <a:r>
              <a:rPr lang="ru-RU" sz="2600" b="1" dirty="0"/>
              <a:t> </a:t>
            </a:r>
            <a:r>
              <a:rPr lang="ru-RU" sz="2600" dirty="0"/>
              <a:t>– возвращает элементы последовательности </a:t>
            </a:r>
            <a:r>
              <a:rPr lang="ru-RU" sz="2600" dirty="0" err="1"/>
              <a:t>илиодноэлементную</a:t>
            </a:r>
            <a:r>
              <a:rPr lang="ru-RU" sz="2600" dirty="0"/>
              <a:t> коллекцию со значением по умолчанию – </a:t>
            </a:r>
            <a:r>
              <a:rPr lang="ru-RU" sz="2600" dirty="0" err="1"/>
              <a:t>default</a:t>
            </a:r>
            <a:r>
              <a:rPr lang="ru-RU" sz="2600" dirty="0"/>
              <a:t>(</a:t>
            </a:r>
            <a:r>
              <a:rPr lang="ru-RU" sz="2600" dirty="0" err="1"/>
              <a:t>TSource</a:t>
            </a:r>
            <a:r>
              <a:rPr lang="ru-RU" sz="2600" dirty="0" smtClean="0"/>
              <a:t>),</a:t>
            </a:r>
            <a:r>
              <a:rPr lang="en-US" sz="2600" dirty="0" smtClean="0"/>
              <a:t> </a:t>
            </a:r>
            <a:r>
              <a:rPr lang="ru-RU" sz="2600" dirty="0" smtClean="0"/>
              <a:t>если </a:t>
            </a:r>
            <a:r>
              <a:rPr lang="ru-RU" sz="2600" dirty="0"/>
              <a:t>последовательность </a:t>
            </a:r>
            <a:r>
              <a:rPr lang="ru-RU" sz="2600" dirty="0" smtClean="0"/>
              <a:t>пуста</a:t>
            </a:r>
            <a:r>
              <a:rPr lang="en-US" sz="2600" dirty="0"/>
              <a:t>.</a:t>
            </a:r>
            <a:endParaRPr lang="ru-RU" sz="2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4757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Элементные операторы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47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262365"/>
            <a:ext cx="864096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/>
              <a:t>Count</a:t>
            </a:r>
            <a:r>
              <a:rPr lang="ru-RU" sz="2800" dirty="0"/>
              <a:t>, </a:t>
            </a:r>
            <a:r>
              <a:rPr lang="ru-RU" sz="2800" b="1" dirty="0" err="1"/>
              <a:t>LongCount</a:t>
            </a:r>
            <a:r>
              <a:rPr lang="ru-RU" sz="2800" b="1" dirty="0"/>
              <a:t> </a:t>
            </a:r>
            <a:r>
              <a:rPr lang="ru-RU" sz="2800" dirty="0" smtClean="0"/>
              <a:t>- </a:t>
            </a:r>
            <a:r>
              <a:rPr lang="ru-RU" sz="2800" dirty="0"/>
              <a:t>возвращает общее число элементов во входящей последовательности или </a:t>
            </a:r>
            <a:r>
              <a:rPr lang="ru-RU" sz="2800" dirty="0" smtClean="0"/>
              <a:t>число</a:t>
            </a:r>
            <a:r>
              <a:rPr lang="en-US" sz="2800" dirty="0" smtClean="0"/>
              <a:t>.</a:t>
            </a:r>
            <a:r>
              <a:rPr lang="ru-RU" sz="2800" dirty="0" smtClean="0"/>
              <a:t> </a:t>
            </a:r>
            <a:r>
              <a:rPr lang="ru-RU" sz="2800" dirty="0"/>
              <a:t>элементов, удовлетворяющих переданному предикату</a:t>
            </a:r>
          </a:p>
          <a:p>
            <a:r>
              <a:rPr lang="ru-RU" sz="2800" b="1" dirty="0" err="1"/>
              <a:t>Min</a:t>
            </a:r>
            <a:r>
              <a:rPr lang="ru-RU" sz="2800" b="1" dirty="0"/>
              <a:t> </a:t>
            </a:r>
            <a:r>
              <a:rPr lang="ru-RU" sz="2800" dirty="0"/>
              <a:t>– возвращает наименьший элемент в </a:t>
            </a:r>
            <a:r>
              <a:rPr lang="ru-RU" sz="2800" dirty="0" smtClean="0"/>
              <a:t>последовательности</a:t>
            </a:r>
            <a:r>
              <a:rPr lang="en-US" sz="2800" dirty="0" smtClean="0"/>
              <a:t>.</a:t>
            </a:r>
            <a:endParaRPr lang="ru-RU" sz="2800" dirty="0"/>
          </a:p>
          <a:p>
            <a:r>
              <a:rPr lang="ru-RU" sz="2800" b="1" dirty="0" err="1"/>
              <a:t>Max</a:t>
            </a:r>
            <a:r>
              <a:rPr lang="ru-RU" sz="2800" dirty="0"/>
              <a:t> –  возвращает наибольший элемент в </a:t>
            </a:r>
            <a:r>
              <a:rPr lang="ru-RU" sz="2800" dirty="0" smtClean="0"/>
              <a:t>последовательности</a:t>
            </a:r>
            <a:r>
              <a:rPr lang="en-US" sz="2800" dirty="0" smtClean="0"/>
              <a:t>.</a:t>
            </a:r>
            <a:endParaRPr lang="ru-RU" sz="2800" dirty="0"/>
          </a:p>
          <a:p>
            <a:r>
              <a:rPr lang="ru-RU" sz="2800" b="1" dirty="0" err="1"/>
              <a:t>Sum</a:t>
            </a:r>
            <a:r>
              <a:rPr lang="ru-RU" sz="2800" b="1" dirty="0"/>
              <a:t> </a:t>
            </a:r>
            <a:r>
              <a:rPr lang="ru-RU" sz="2800" dirty="0"/>
              <a:t>– вычисляет сумму элементов в </a:t>
            </a:r>
            <a:r>
              <a:rPr lang="ru-RU" sz="2800" dirty="0" smtClean="0"/>
              <a:t>последовательности</a:t>
            </a:r>
            <a:r>
              <a:rPr lang="en-US" sz="2800" dirty="0" smtClean="0"/>
              <a:t>.</a:t>
            </a:r>
            <a:endParaRPr lang="ru-RU" sz="2800" dirty="0"/>
          </a:p>
          <a:p>
            <a:r>
              <a:rPr lang="ru-RU" sz="2800" b="1" dirty="0" err="1"/>
              <a:t>Average</a:t>
            </a:r>
            <a:r>
              <a:rPr lang="ru-RU" sz="2800" b="1" dirty="0"/>
              <a:t> </a:t>
            </a:r>
            <a:r>
              <a:rPr lang="ru-RU" sz="2800" dirty="0"/>
              <a:t>– вычисляет среднее значение элементов в </a:t>
            </a:r>
            <a:r>
              <a:rPr lang="ru-RU" sz="2800" dirty="0" smtClean="0"/>
              <a:t>последовательности</a:t>
            </a:r>
            <a:r>
              <a:rPr lang="en-US" sz="2800" dirty="0" smtClean="0"/>
              <a:t>.</a:t>
            </a:r>
            <a:endParaRPr lang="ru-RU" sz="2800" dirty="0"/>
          </a:p>
          <a:p>
            <a:r>
              <a:rPr lang="ru-RU" sz="2800" b="1" dirty="0" err="1"/>
              <a:t>Aggregate</a:t>
            </a:r>
            <a:r>
              <a:rPr lang="ru-RU" sz="2800" b="1" dirty="0"/>
              <a:t> </a:t>
            </a:r>
            <a:r>
              <a:rPr lang="ru-RU" sz="2800" dirty="0"/>
              <a:t>– выполняет пользовательскую </a:t>
            </a:r>
            <a:r>
              <a:rPr lang="ru-RU" sz="2800" dirty="0" smtClean="0"/>
              <a:t>агрегацию</a:t>
            </a:r>
            <a:r>
              <a:rPr lang="en-US" sz="2800" dirty="0" smtClean="0"/>
              <a:t>.</a:t>
            </a:r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9092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Агрегирующие операторы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60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196752"/>
            <a:ext cx="84521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/>
              <a:t>Contains</a:t>
            </a:r>
            <a:r>
              <a:rPr lang="ru-RU" sz="2800" b="1" dirty="0" smtClean="0"/>
              <a:t> </a:t>
            </a:r>
            <a:r>
              <a:rPr lang="ru-RU" sz="2800" dirty="0"/>
              <a:t>– возвращает </a:t>
            </a:r>
            <a:r>
              <a:rPr lang="ru-RU" sz="2800" dirty="0" err="1"/>
              <a:t>true</a:t>
            </a:r>
            <a:r>
              <a:rPr lang="ru-RU" sz="2800" dirty="0"/>
              <a:t> если входящая последовательность содержит переданный </a:t>
            </a:r>
            <a:r>
              <a:rPr lang="ru-RU" sz="2800" dirty="0" smtClean="0"/>
              <a:t>элемент</a:t>
            </a:r>
            <a:r>
              <a:rPr lang="en-US" sz="2800" dirty="0" smtClean="0"/>
              <a:t>.</a:t>
            </a:r>
            <a:endParaRPr lang="ru-RU" sz="2800" dirty="0"/>
          </a:p>
          <a:p>
            <a:r>
              <a:rPr lang="ru-RU" sz="2800" b="1" dirty="0" err="1"/>
              <a:t>Any</a:t>
            </a:r>
            <a:r>
              <a:rPr lang="ru-RU" sz="2800" b="1" dirty="0"/>
              <a:t> </a:t>
            </a:r>
            <a:r>
              <a:rPr lang="ru-RU" sz="2800" dirty="0"/>
              <a:t>– возвращает </a:t>
            </a:r>
            <a:r>
              <a:rPr lang="ru-RU" sz="2800" dirty="0" err="1"/>
              <a:t>true</a:t>
            </a:r>
            <a:r>
              <a:rPr lang="ru-RU" sz="2800" dirty="0"/>
              <a:t> если хотя бы один элемент последовательности удовлетворяет переданному </a:t>
            </a:r>
            <a:r>
              <a:rPr lang="ru-RU" sz="2800" dirty="0" smtClean="0"/>
              <a:t>предикату</a:t>
            </a:r>
            <a:r>
              <a:rPr lang="en-US" sz="2800" dirty="0" smtClean="0"/>
              <a:t>.</a:t>
            </a:r>
            <a:endParaRPr lang="ru-RU" sz="2800" dirty="0"/>
          </a:p>
          <a:p>
            <a:r>
              <a:rPr lang="ru-RU" sz="2800" b="1" dirty="0" err="1"/>
              <a:t>All</a:t>
            </a:r>
            <a:r>
              <a:rPr lang="ru-RU" sz="2800" b="1" dirty="0"/>
              <a:t> </a:t>
            </a:r>
            <a:r>
              <a:rPr lang="ru-RU" sz="2800" dirty="0"/>
              <a:t>– возвращает </a:t>
            </a:r>
            <a:r>
              <a:rPr lang="ru-RU" sz="2800" dirty="0" err="1"/>
              <a:t>true</a:t>
            </a:r>
            <a:r>
              <a:rPr lang="ru-RU" sz="2800" dirty="0"/>
              <a:t> если все элементы последовательности удовлетворяют переданному </a:t>
            </a:r>
            <a:r>
              <a:rPr lang="ru-RU" sz="2800" dirty="0" smtClean="0"/>
              <a:t>предикату</a:t>
            </a:r>
            <a:r>
              <a:rPr lang="en-US" sz="2800" dirty="0" smtClean="0"/>
              <a:t>.</a:t>
            </a:r>
            <a:endParaRPr lang="ru-RU" sz="2800" dirty="0"/>
          </a:p>
          <a:p>
            <a:r>
              <a:rPr lang="ru-RU" sz="2800" b="1" dirty="0" err="1"/>
              <a:t>SequenceEqual</a:t>
            </a:r>
            <a:r>
              <a:rPr lang="ru-RU" sz="2800" b="1" dirty="0"/>
              <a:t> </a:t>
            </a:r>
            <a:r>
              <a:rPr lang="ru-RU" sz="2800" dirty="0"/>
              <a:t>– возвращает </a:t>
            </a:r>
            <a:r>
              <a:rPr lang="ru-RU" sz="2800" dirty="0" err="1"/>
              <a:t>true</a:t>
            </a:r>
            <a:r>
              <a:rPr lang="ru-RU" sz="2800" dirty="0"/>
              <a:t> если вторая (переданная в качестве аргумента) последовательность содержит элементы идентичные элементам входящей </a:t>
            </a:r>
            <a:r>
              <a:rPr lang="ru-RU" sz="2800" dirty="0" smtClean="0"/>
              <a:t>последовательности</a:t>
            </a:r>
            <a:r>
              <a:rPr lang="en-US" sz="2800" dirty="0" smtClean="0"/>
              <a:t>.</a:t>
            </a:r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0140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Операторы кванторы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79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51520" y="1343665"/>
            <a:ext cx="871296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OfType</a:t>
            </a:r>
            <a:r>
              <a:rPr lang="en-US" sz="2400" b="1" dirty="0" smtClean="0"/>
              <a:t> </a:t>
            </a:r>
            <a:r>
              <a:rPr lang="ru-RU" sz="2400" dirty="0"/>
              <a:t>–</a:t>
            </a:r>
            <a:r>
              <a:rPr lang="en-US" sz="2400" dirty="0" smtClean="0"/>
              <a:t> </a:t>
            </a:r>
            <a:r>
              <a:rPr lang="ru-RU" sz="2400" dirty="0"/>
              <a:t>преобразует </a:t>
            </a:r>
            <a:r>
              <a:rPr lang="en-US" sz="2400" dirty="0"/>
              <a:t>IEnumerable </a:t>
            </a:r>
            <a:r>
              <a:rPr lang="ru-RU" sz="2400" dirty="0"/>
              <a:t>в </a:t>
            </a:r>
            <a:r>
              <a:rPr lang="en-US" sz="2400" dirty="0" err="1"/>
              <a:t>IEnumerable</a:t>
            </a:r>
            <a:r>
              <a:rPr lang="en-US" sz="2400" dirty="0"/>
              <a:t>&lt;T&gt;, </a:t>
            </a:r>
            <a:r>
              <a:rPr lang="ru-RU" sz="2400" dirty="0"/>
              <a:t>отбрасывая элементы неподходящего </a:t>
            </a:r>
            <a:r>
              <a:rPr lang="ru-RU" sz="2400" dirty="0" smtClean="0"/>
              <a:t>типа</a:t>
            </a:r>
            <a:r>
              <a:rPr lang="en-US" sz="2400" dirty="0" smtClean="0"/>
              <a:t>.</a:t>
            </a:r>
            <a:endParaRPr lang="ru-RU" sz="2400" dirty="0"/>
          </a:p>
          <a:p>
            <a:r>
              <a:rPr lang="en-US" sz="2400" b="1" dirty="0"/>
              <a:t>Cast </a:t>
            </a:r>
            <a:r>
              <a:rPr lang="ru-RU" sz="2400" dirty="0"/>
              <a:t>– </a:t>
            </a:r>
            <a:r>
              <a:rPr lang="en-US" sz="2400" dirty="0"/>
              <a:t> </a:t>
            </a:r>
            <a:r>
              <a:rPr lang="ru-RU" sz="2400" dirty="0"/>
              <a:t>преобразует </a:t>
            </a:r>
            <a:r>
              <a:rPr lang="en-US" sz="2400" dirty="0"/>
              <a:t>IEnumerable </a:t>
            </a:r>
            <a:r>
              <a:rPr lang="ru-RU" sz="2400" dirty="0"/>
              <a:t>в </a:t>
            </a:r>
            <a:r>
              <a:rPr lang="en-US" sz="2400" dirty="0" err="1"/>
              <a:t>IEnumerable</a:t>
            </a:r>
            <a:r>
              <a:rPr lang="en-US" sz="2400" dirty="0"/>
              <a:t>&lt;T&gt;, </a:t>
            </a:r>
            <a:r>
              <a:rPr lang="ru-RU" sz="2400" dirty="0"/>
              <a:t>выбрасывая исключение если встречаются элементы неподходящего </a:t>
            </a:r>
            <a:r>
              <a:rPr lang="ru-RU" sz="2400" dirty="0" smtClean="0"/>
              <a:t>типа</a:t>
            </a:r>
            <a:r>
              <a:rPr lang="en-US" sz="2400" dirty="0" smtClean="0"/>
              <a:t>.</a:t>
            </a:r>
            <a:endParaRPr lang="ru-RU" sz="2400" dirty="0" smtClean="0"/>
          </a:p>
          <a:p>
            <a:r>
              <a:rPr lang="en-US" sz="2400" b="1" dirty="0" err="1" smtClean="0"/>
              <a:t>ToArray</a:t>
            </a:r>
            <a:r>
              <a:rPr lang="en-US" sz="2400" b="1" dirty="0" smtClean="0"/>
              <a:t> </a:t>
            </a:r>
            <a:r>
              <a:rPr lang="ru-RU" sz="2400" dirty="0"/>
              <a:t>–</a:t>
            </a:r>
            <a:r>
              <a:rPr lang="en-US" sz="2400" dirty="0" smtClean="0"/>
              <a:t> </a:t>
            </a:r>
            <a:r>
              <a:rPr lang="ru-RU" sz="2400" dirty="0"/>
              <a:t>преобразует </a:t>
            </a:r>
            <a:r>
              <a:rPr lang="en-US" sz="2400" dirty="0" err="1"/>
              <a:t>IEnumerable</a:t>
            </a:r>
            <a:r>
              <a:rPr lang="en-US" sz="2400" dirty="0"/>
              <a:t>&lt;T&gt; </a:t>
            </a:r>
            <a:r>
              <a:rPr lang="ru-RU" sz="2400" dirty="0"/>
              <a:t>в </a:t>
            </a:r>
            <a:r>
              <a:rPr lang="en-US" sz="2400" dirty="0"/>
              <a:t>T[]</a:t>
            </a:r>
          </a:p>
          <a:p>
            <a:r>
              <a:rPr lang="en-US" sz="2400" b="1" dirty="0" err="1"/>
              <a:t>ToList</a:t>
            </a:r>
            <a:r>
              <a:rPr lang="en-US" sz="2400" b="1" dirty="0"/>
              <a:t> </a:t>
            </a:r>
            <a:r>
              <a:rPr lang="ru-RU" sz="2400" dirty="0"/>
              <a:t>–</a:t>
            </a:r>
            <a:r>
              <a:rPr lang="en-US" sz="2400" dirty="0" smtClean="0"/>
              <a:t> </a:t>
            </a:r>
            <a:r>
              <a:rPr lang="ru-RU" sz="2400" dirty="0"/>
              <a:t>преобразует </a:t>
            </a:r>
            <a:r>
              <a:rPr lang="en-US" sz="2400" dirty="0" err="1"/>
              <a:t>IEnumerable</a:t>
            </a:r>
            <a:r>
              <a:rPr lang="en-US" sz="2400" dirty="0"/>
              <a:t>&lt;T&gt; </a:t>
            </a:r>
            <a:r>
              <a:rPr lang="ru-RU" sz="2400" dirty="0"/>
              <a:t>в </a:t>
            </a:r>
            <a:r>
              <a:rPr lang="en-US" sz="2400" dirty="0"/>
              <a:t>List&lt;T&gt;</a:t>
            </a:r>
          </a:p>
          <a:p>
            <a:r>
              <a:rPr lang="en-US" sz="2400" b="1" dirty="0" err="1"/>
              <a:t>ToDictionary</a:t>
            </a:r>
            <a:r>
              <a:rPr lang="en-US" sz="2400" b="1" dirty="0"/>
              <a:t> </a:t>
            </a:r>
            <a:r>
              <a:rPr lang="ru-RU" sz="2400" dirty="0"/>
              <a:t>–</a:t>
            </a:r>
            <a:r>
              <a:rPr lang="en-US" sz="2400" dirty="0" smtClean="0"/>
              <a:t> </a:t>
            </a:r>
            <a:r>
              <a:rPr lang="ru-RU" sz="2400" dirty="0"/>
              <a:t>преобразует </a:t>
            </a:r>
            <a:r>
              <a:rPr lang="en-US" sz="2400" dirty="0" err="1"/>
              <a:t>IEnumerable</a:t>
            </a:r>
            <a:r>
              <a:rPr lang="en-US" sz="2400" dirty="0"/>
              <a:t>&lt;T&gt; </a:t>
            </a:r>
            <a:r>
              <a:rPr lang="ru-RU" sz="2400" dirty="0" smtClean="0"/>
              <a:t>в </a:t>
            </a:r>
            <a:r>
              <a:rPr lang="en-US" sz="2400" dirty="0" smtClean="0"/>
              <a:t>Dictionary&lt;</a:t>
            </a:r>
            <a:r>
              <a:rPr lang="en-US" sz="2400" dirty="0" err="1" smtClean="0"/>
              <a:t>TKey,TValue</a:t>
            </a:r>
            <a:r>
              <a:rPr lang="en-US" sz="2400" dirty="0"/>
              <a:t>&gt;</a:t>
            </a:r>
          </a:p>
          <a:p>
            <a:r>
              <a:rPr lang="en-US" sz="2400" b="1" dirty="0" err="1"/>
              <a:t>ToLookup</a:t>
            </a:r>
            <a:r>
              <a:rPr lang="en-US" sz="2400" dirty="0"/>
              <a:t> </a:t>
            </a:r>
            <a:r>
              <a:rPr lang="ru-RU" sz="2400" dirty="0"/>
              <a:t>–</a:t>
            </a:r>
            <a:r>
              <a:rPr lang="en-US" sz="2400" dirty="0" smtClean="0"/>
              <a:t> </a:t>
            </a:r>
            <a:r>
              <a:rPr lang="ru-RU" sz="2400" dirty="0"/>
              <a:t>преобразует </a:t>
            </a:r>
            <a:r>
              <a:rPr lang="en-US" sz="2400" dirty="0" err="1"/>
              <a:t>IEnumerable</a:t>
            </a:r>
            <a:r>
              <a:rPr lang="en-US" sz="2400" dirty="0"/>
              <a:t>&lt;T&gt; </a:t>
            </a:r>
            <a:r>
              <a:rPr lang="ru-RU" sz="2400" dirty="0"/>
              <a:t>в </a:t>
            </a:r>
            <a:r>
              <a:rPr lang="en-US" sz="2400" dirty="0" err="1"/>
              <a:t>ILookup</a:t>
            </a:r>
            <a:r>
              <a:rPr lang="en-US" sz="2400" dirty="0"/>
              <a:t>&lt;</a:t>
            </a:r>
            <a:r>
              <a:rPr lang="en-US" sz="2400" dirty="0" err="1"/>
              <a:t>TKey,TElement</a:t>
            </a:r>
            <a:r>
              <a:rPr lang="en-US" sz="2400" dirty="0"/>
              <a:t>&gt;</a:t>
            </a:r>
          </a:p>
          <a:p>
            <a:r>
              <a:rPr lang="en-US" sz="2400" b="1" dirty="0" err="1"/>
              <a:t>AsEnumerable</a:t>
            </a:r>
            <a:r>
              <a:rPr lang="en-US" sz="2400" b="1" dirty="0"/>
              <a:t> </a:t>
            </a:r>
            <a:r>
              <a:rPr lang="ru-RU" sz="2400" dirty="0"/>
              <a:t>–</a:t>
            </a:r>
            <a:r>
              <a:rPr lang="en-US" sz="2400" dirty="0" smtClean="0"/>
              <a:t> </a:t>
            </a:r>
            <a:r>
              <a:rPr lang="ru-RU" sz="2400" dirty="0"/>
              <a:t>приводит последовательность к </a:t>
            </a:r>
            <a:r>
              <a:rPr lang="en-US" sz="2400" dirty="0" err="1" smtClean="0"/>
              <a:t>IEnumerable</a:t>
            </a:r>
            <a:r>
              <a:rPr lang="en-US" sz="2400" dirty="0" smtClean="0"/>
              <a:t>&lt;T</a:t>
            </a:r>
            <a:r>
              <a:rPr lang="en-US" sz="2400" dirty="0"/>
              <a:t>&gt;</a:t>
            </a:r>
          </a:p>
          <a:p>
            <a:r>
              <a:rPr lang="en-US" sz="2400" b="1" dirty="0" err="1"/>
              <a:t>AsQueryable</a:t>
            </a:r>
            <a:r>
              <a:rPr lang="en-US" sz="2400" b="1" dirty="0"/>
              <a:t> </a:t>
            </a:r>
            <a:r>
              <a:rPr lang="ru-RU" sz="2400" dirty="0"/>
              <a:t>–</a:t>
            </a:r>
            <a:r>
              <a:rPr lang="en-US" sz="2400" dirty="0" smtClean="0"/>
              <a:t> </a:t>
            </a:r>
            <a:r>
              <a:rPr lang="ru-RU" sz="2400" dirty="0"/>
              <a:t>приводит последовательность к типу </a:t>
            </a:r>
            <a:r>
              <a:rPr lang="en-US" sz="2400" dirty="0" err="1"/>
              <a:t>IQueryable</a:t>
            </a:r>
            <a:r>
              <a:rPr lang="en-US" sz="2400" dirty="0"/>
              <a:t>&lt;T</a:t>
            </a:r>
            <a:r>
              <a:rPr lang="en-US" sz="2400" dirty="0" smtClean="0"/>
              <a:t>&gt;</a:t>
            </a:r>
            <a:endParaRPr lang="en-US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52161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Преобразующие операторы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45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340768"/>
            <a:ext cx="8712968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Вывести в алфавитном порядке все имена, в составе букв которых содержится буква «а».</a:t>
            </a:r>
          </a:p>
          <a:p>
            <a:endParaRPr lang="ru-RU" sz="2400" dirty="0" smtClean="0"/>
          </a:p>
          <a:p>
            <a:r>
              <a:rPr lang="en-US" sz="2400" dirty="0" smtClean="0"/>
              <a:t>string</a:t>
            </a:r>
            <a:r>
              <a:rPr lang="en-US" sz="2400" dirty="0"/>
              <a:t>[] names = { "</a:t>
            </a:r>
            <a:r>
              <a:rPr lang="ru-RU" sz="2400" dirty="0"/>
              <a:t>Толя", "Маша", "Даша", "Оля", "Алина" }; </a:t>
            </a:r>
            <a:endParaRPr lang="ru-RU" sz="2400" dirty="0" smtClean="0"/>
          </a:p>
          <a:p>
            <a:endParaRPr lang="ru-RU" sz="2400" dirty="0"/>
          </a:p>
          <a:p>
            <a:r>
              <a:rPr lang="en-US" sz="2400" dirty="0" err="1" smtClean="0"/>
              <a:t>IEnumerable</a:t>
            </a:r>
            <a:r>
              <a:rPr lang="en-US" sz="2400" dirty="0" smtClean="0"/>
              <a:t>&lt;string</a:t>
            </a:r>
            <a:r>
              <a:rPr lang="en-US" sz="2400" dirty="0"/>
              <a:t>&gt; </a:t>
            </a:r>
            <a:r>
              <a:rPr lang="ru-RU" sz="2400" dirty="0" smtClean="0"/>
              <a:t> </a:t>
            </a:r>
            <a:r>
              <a:rPr lang="en-US" sz="2400" dirty="0" smtClean="0"/>
              <a:t>query </a:t>
            </a:r>
            <a:r>
              <a:rPr lang="en-US" sz="2400" dirty="0"/>
              <a:t>= names</a:t>
            </a:r>
          </a:p>
          <a:p>
            <a:r>
              <a:rPr lang="en-US" sz="2400" dirty="0" smtClean="0"/>
              <a:t>           </a:t>
            </a:r>
            <a:r>
              <a:rPr lang="en-US" sz="2400" dirty="0"/>
              <a:t>.Where(n =&gt; </a:t>
            </a:r>
            <a:r>
              <a:rPr lang="en-US" sz="2400" dirty="0" err="1"/>
              <a:t>n.Contains</a:t>
            </a:r>
            <a:r>
              <a:rPr lang="en-US" sz="2400" dirty="0"/>
              <a:t>("</a:t>
            </a:r>
            <a:r>
              <a:rPr lang="ru-RU" sz="2400" dirty="0"/>
              <a:t>а"))</a:t>
            </a:r>
          </a:p>
          <a:p>
            <a:r>
              <a:rPr lang="en-US" sz="2400" dirty="0" smtClean="0"/>
              <a:t>           </a:t>
            </a:r>
            <a:r>
              <a:rPr lang="en-US" sz="2400" dirty="0"/>
              <a:t>.</a:t>
            </a:r>
            <a:r>
              <a:rPr lang="en-US" sz="2400" dirty="0" err="1"/>
              <a:t>OrderBy</a:t>
            </a:r>
            <a:r>
              <a:rPr lang="en-US" sz="2400" dirty="0"/>
              <a:t>(n =&gt; n)</a:t>
            </a:r>
          </a:p>
          <a:p>
            <a:r>
              <a:rPr lang="en-US" sz="2400" dirty="0" smtClean="0"/>
              <a:t>           </a:t>
            </a:r>
            <a:r>
              <a:rPr lang="en-US" sz="2400" dirty="0"/>
              <a:t>.Select(n =&gt; n); </a:t>
            </a:r>
            <a:endParaRPr lang="ru-RU" sz="2400" dirty="0" smtClean="0"/>
          </a:p>
          <a:p>
            <a:endParaRPr lang="en-US" sz="2400" dirty="0"/>
          </a:p>
          <a:p>
            <a:r>
              <a:rPr lang="en-US" sz="2400" dirty="0" smtClean="0"/>
              <a:t>foreach </a:t>
            </a:r>
            <a:r>
              <a:rPr lang="en-US" sz="2400" dirty="0"/>
              <a:t>(string </a:t>
            </a:r>
            <a:r>
              <a:rPr lang="ru-RU" sz="2400" dirty="0" smtClean="0"/>
              <a:t> </a:t>
            </a:r>
            <a:r>
              <a:rPr lang="en-US" sz="2400" dirty="0" smtClean="0"/>
              <a:t>name </a:t>
            </a:r>
            <a:r>
              <a:rPr lang="ru-RU" sz="2400" dirty="0" smtClean="0"/>
              <a:t> </a:t>
            </a:r>
            <a:r>
              <a:rPr lang="en-US" sz="2400" dirty="0" smtClean="0"/>
              <a:t>in </a:t>
            </a:r>
            <a:r>
              <a:rPr lang="ru-RU" sz="2400" dirty="0" smtClean="0"/>
              <a:t> </a:t>
            </a:r>
            <a:r>
              <a:rPr lang="en-US" sz="2400" dirty="0" smtClean="0"/>
              <a:t>query) </a:t>
            </a:r>
            <a:endParaRPr lang="en-US" sz="2400" dirty="0"/>
          </a:p>
          <a:p>
            <a:r>
              <a:rPr lang="en-US" sz="2400" dirty="0" smtClean="0"/>
              <a:t>           </a:t>
            </a:r>
            <a:r>
              <a:rPr lang="en-US" sz="2400" dirty="0" err="1"/>
              <a:t>MessageBox.Show</a:t>
            </a:r>
            <a:r>
              <a:rPr lang="en-US" sz="2400" dirty="0"/>
              <a:t>(name);</a:t>
            </a: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26356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Запросы </a:t>
            </a:r>
            <a:r>
              <a:rPr lang="en-US" sz="3200" b="1" dirty="0" smtClean="0">
                <a:solidFill>
                  <a:schemeClr val="tx2"/>
                </a:solidFill>
              </a:rPr>
              <a:t>LINQ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97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473746"/>
            <a:ext cx="849694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Ключевое слово </a:t>
            </a:r>
            <a:r>
              <a:rPr lang="en-US" sz="2800" b="1" dirty="0"/>
              <a:t>let </a:t>
            </a:r>
            <a:r>
              <a:rPr lang="ru-RU" sz="2800" dirty="0"/>
              <a:t>вводит новую переменную параллельно переменной диапазона</a:t>
            </a:r>
            <a:r>
              <a:rPr lang="ru-RU" sz="2800" dirty="0" smtClean="0"/>
              <a:t>:</a:t>
            </a:r>
            <a:endParaRPr lang="en-US" sz="2800" dirty="0" smtClean="0"/>
          </a:p>
          <a:p>
            <a:endParaRPr lang="ru-RU" sz="2800" dirty="0"/>
          </a:p>
          <a:p>
            <a:r>
              <a:rPr lang="ru-RU" sz="2800" dirty="0" err="1"/>
              <a:t>string</a:t>
            </a:r>
            <a:r>
              <a:rPr lang="ru-RU" sz="2800" dirty="0"/>
              <a:t>[] </a:t>
            </a:r>
            <a:r>
              <a:rPr lang="ru-RU" sz="2800" dirty="0" smtClean="0"/>
              <a:t> </a:t>
            </a:r>
            <a:r>
              <a:rPr lang="ru-RU" sz="2800" dirty="0" err="1" smtClean="0"/>
              <a:t>names</a:t>
            </a:r>
            <a:r>
              <a:rPr lang="ru-RU" sz="2800" dirty="0" smtClean="0"/>
              <a:t> </a:t>
            </a:r>
            <a:r>
              <a:rPr lang="ru-RU" sz="2800" dirty="0"/>
              <a:t>= { "Петр", "Маша", "Марина", "Олег" </a:t>
            </a:r>
            <a:r>
              <a:rPr lang="ru-RU" sz="2800" dirty="0" smtClean="0"/>
              <a:t>};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err="1" smtClean="0"/>
              <a:t>IEnumerable</a:t>
            </a:r>
            <a:r>
              <a:rPr lang="en-US" sz="2800" dirty="0" smtClean="0"/>
              <a:t>&lt;string&gt;</a:t>
            </a:r>
            <a:r>
              <a:rPr lang="ru-RU" sz="2800" dirty="0" smtClean="0"/>
              <a:t> </a:t>
            </a:r>
            <a:r>
              <a:rPr lang="en-US" sz="2800" dirty="0" smtClean="0"/>
              <a:t> query </a:t>
            </a:r>
            <a:r>
              <a:rPr lang="en-US" sz="2800" dirty="0"/>
              <a:t>= </a:t>
            </a:r>
          </a:p>
          <a:p>
            <a:r>
              <a:rPr lang="en-US" sz="2800" dirty="0"/>
              <a:t>                from </a:t>
            </a:r>
            <a:r>
              <a:rPr lang="ru-RU" sz="2800" dirty="0" smtClean="0"/>
              <a:t> </a:t>
            </a:r>
            <a:r>
              <a:rPr lang="en-US" sz="2800" dirty="0" smtClean="0"/>
              <a:t>n </a:t>
            </a:r>
            <a:r>
              <a:rPr lang="ru-RU" sz="2800" dirty="0" smtClean="0"/>
              <a:t> </a:t>
            </a:r>
            <a:r>
              <a:rPr lang="en-US" sz="2800" dirty="0" smtClean="0"/>
              <a:t>in </a:t>
            </a:r>
            <a:r>
              <a:rPr lang="ru-RU" sz="2800" dirty="0" smtClean="0"/>
              <a:t> </a:t>
            </a:r>
            <a:r>
              <a:rPr lang="en-US" sz="2800" dirty="0" smtClean="0"/>
              <a:t>names </a:t>
            </a:r>
            <a:endParaRPr lang="en-US" sz="2800" dirty="0"/>
          </a:p>
          <a:p>
            <a:r>
              <a:rPr lang="en-US" sz="2800" dirty="0"/>
              <a:t>                </a:t>
            </a:r>
            <a:r>
              <a:rPr lang="en-US" sz="2800" b="1" dirty="0"/>
              <a:t>let 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n_new</a:t>
            </a:r>
            <a:r>
              <a:rPr lang="en-US" sz="2800" b="1" dirty="0" smtClean="0"/>
              <a:t> </a:t>
            </a:r>
            <a:r>
              <a:rPr lang="en-US" sz="2800" b="1" dirty="0"/>
              <a:t>= </a:t>
            </a:r>
            <a:r>
              <a:rPr lang="en-US" sz="2800" b="1" dirty="0" err="1"/>
              <a:t>n.Replace</a:t>
            </a:r>
            <a:r>
              <a:rPr lang="en-US" sz="2800" b="1" dirty="0"/>
              <a:t>("</a:t>
            </a:r>
            <a:r>
              <a:rPr lang="ru-RU" sz="2800" b="1" dirty="0"/>
              <a:t>а", "") </a:t>
            </a:r>
          </a:p>
          <a:p>
            <a:r>
              <a:rPr lang="en-US" sz="2800" dirty="0"/>
              <a:t>                orderby </a:t>
            </a:r>
            <a:r>
              <a:rPr lang="ru-RU" sz="2800" dirty="0" smtClean="0"/>
              <a:t> </a:t>
            </a:r>
            <a:r>
              <a:rPr lang="en-US" sz="2800" dirty="0" err="1" smtClean="0"/>
              <a:t>n_new</a:t>
            </a:r>
            <a:endParaRPr lang="en-US" sz="2800" dirty="0"/>
          </a:p>
          <a:p>
            <a:r>
              <a:rPr lang="en-US" sz="2800" dirty="0"/>
              <a:t>                select </a:t>
            </a:r>
            <a:r>
              <a:rPr lang="ru-RU" sz="2800" dirty="0" smtClean="0"/>
              <a:t> </a:t>
            </a:r>
            <a:r>
              <a:rPr lang="en-US" sz="2800" dirty="0" smtClean="0"/>
              <a:t>n </a:t>
            </a:r>
            <a:r>
              <a:rPr lang="en-US" sz="2800" dirty="0"/>
              <a:t>+ " - " + </a:t>
            </a:r>
            <a:r>
              <a:rPr lang="en-US" sz="2800" dirty="0" err="1"/>
              <a:t>n_new</a:t>
            </a:r>
            <a:r>
              <a:rPr lang="en-US" sz="2800" dirty="0"/>
              <a:t>;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3647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Ключевое слово </a:t>
            </a:r>
            <a:r>
              <a:rPr lang="en-US" sz="3200" b="1" dirty="0">
                <a:solidFill>
                  <a:schemeClr val="tx2"/>
                </a:solidFill>
              </a:rPr>
              <a:t>let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53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268760"/>
            <a:ext cx="84969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Найти детей с максимальным значением возраста:</a:t>
            </a:r>
            <a:br>
              <a:rPr lang="ru-RU" sz="2800" dirty="0" smtClean="0"/>
            </a:br>
            <a:endParaRPr lang="ru-RU" sz="2800" dirty="0" smtClean="0"/>
          </a:p>
          <a:p>
            <a:r>
              <a:rPr lang="en-US" sz="2800" dirty="0" err="1"/>
              <a:t>var</a:t>
            </a:r>
            <a:r>
              <a:rPr lang="en-US" sz="2800" dirty="0"/>
              <a:t> children = new[]</a:t>
            </a:r>
          </a:p>
          <a:p>
            <a:r>
              <a:rPr lang="en-US" sz="2800" dirty="0" smtClean="0"/>
              <a:t>{</a:t>
            </a:r>
            <a:endParaRPr lang="ru-RU" sz="2800" dirty="0" smtClean="0"/>
          </a:p>
          <a:p>
            <a:r>
              <a:rPr lang="ru-RU" sz="2800" dirty="0"/>
              <a:t>	</a:t>
            </a:r>
            <a:r>
              <a:rPr lang="en-US" sz="2800" dirty="0" smtClean="0"/>
              <a:t>new </a:t>
            </a:r>
            <a:r>
              <a:rPr lang="en-US" sz="2800" dirty="0"/>
              <a:t>{ </a:t>
            </a:r>
            <a:r>
              <a:rPr lang="en-US" sz="2800" dirty="0" err="1"/>
              <a:t>id_ch</a:t>
            </a:r>
            <a:r>
              <a:rPr lang="en-US" sz="2800" dirty="0"/>
              <a:t> = 15, name = "</a:t>
            </a:r>
            <a:r>
              <a:rPr lang="ru-RU" sz="2800" dirty="0"/>
              <a:t>Оля", </a:t>
            </a:r>
            <a:r>
              <a:rPr lang="en-US" sz="2800" dirty="0"/>
              <a:t>age = 7 },</a:t>
            </a:r>
          </a:p>
          <a:p>
            <a:r>
              <a:rPr lang="ru-RU" sz="2800" dirty="0"/>
              <a:t>	</a:t>
            </a:r>
            <a:r>
              <a:rPr lang="en-US" sz="2800" dirty="0" smtClean="0"/>
              <a:t>new </a:t>
            </a:r>
            <a:r>
              <a:rPr lang="en-US" sz="2800" dirty="0"/>
              <a:t>{ </a:t>
            </a:r>
            <a:r>
              <a:rPr lang="en-US" sz="2800" dirty="0" err="1"/>
              <a:t>id_ch</a:t>
            </a:r>
            <a:r>
              <a:rPr lang="en-US" sz="2800" dirty="0"/>
              <a:t> = 18, name = "</a:t>
            </a:r>
            <a:r>
              <a:rPr lang="ru-RU" sz="2800" dirty="0"/>
              <a:t>Петя", </a:t>
            </a:r>
            <a:r>
              <a:rPr lang="en-US" sz="2800" dirty="0"/>
              <a:t>age = 7 },</a:t>
            </a:r>
          </a:p>
          <a:p>
            <a:r>
              <a:rPr lang="ru-RU" sz="2800" dirty="0" smtClean="0"/>
              <a:t>	</a:t>
            </a:r>
            <a:r>
              <a:rPr lang="en-US" sz="2800" dirty="0" smtClean="0"/>
              <a:t>new </a:t>
            </a:r>
            <a:r>
              <a:rPr lang="en-US" sz="2800" dirty="0"/>
              <a:t>{ </a:t>
            </a:r>
            <a:r>
              <a:rPr lang="en-US" sz="2800" dirty="0" err="1"/>
              <a:t>id_ch</a:t>
            </a:r>
            <a:r>
              <a:rPr lang="en-US" sz="2800" dirty="0"/>
              <a:t> = 20, name = "</a:t>
            </a:r>
            <a:r>
              <a:rPr lang="ru-RU" sz="2800" dirty="0"/>
              <a:t>Паша", </a:t>
            </a:r>
            <a:r>
              <a:rPr lang="en-US" sz="2800" dirty="0"/>
              <a:t>age = 5 }</a:t>
            </a:r>
          </a:p>
          <a:p>
            <a:r>
              <a:rPr lang="en-US" sz="2800" dirty="0" smtClean="0"/>
              <a:t>};</a:t>
            </a:r>
            <a:endParaRPr lang="ru-RU" sz="2800" dirty="0" smtClean="0"/>
          </a:p>
          <a:p>
            <a:endParaRPr lang="en-US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3647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Ключевое слово </a:t>
            </a:r>
            <a:r>
              <a:rPr lang="en-US" sz="3200" b="1" dirty="0">
                <a:solidFill>
                  <a:schemeClr val="tx2"/>
                </a:solidFill>
              </a:rPr>
              <a:t>let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92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496973"/>
            <a:ext cx="84969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var</a:t>
            </a:r>
            <a:r>
              <a:rPr lang="en-US" sz="2400" dirty="0"/>
              <a:t> </a:t>
            </a:r>
            <a:r>
              <a:rPr lang="en-US" sz="2400" dirty="0" err="1"/>
              <a:t>maxAge</a:t>
            </a:r>
            <a:r>
              <a:rPr lang="en-US" sz="2400" dirty="0"/>
              <a:t> = </a:t>
            </a:r>
            <a:r>
              <a:rPr lang="en-US" sz="2400" dirty="0" err="1"/>
              <a:t>children.Max</a:t>
            </a:r>
            <a:r>
              <a:rPr lang="en-US" sz="2400" dirty="0"/>
              <a:t>(x =&gt; </a:t>
            </a:r>
            <a:r>
              <a:rPr lang="en-US" sz="2400" dirty="0" err="1"/>
              <a:t>x.age</a:t>
            </a:r>
            <a:r>
              <a:rPr lang="en-US" sz="2400" dirty="0"/>
              <a:t>);</a:t>
            </a:r>
          </a:p>
          <a:p>
            <a:r>
              <a:rPr lang="en-US" sz="2400" dirty="0" err="1" smtClean="0"/>
              <a:t>var</a:t>
            </a:r>
            <a:r>
              <a:rPr lang="en-US" sz="2400" dirty="0" smtClean="0"/>
              <a:t> query </a:t>
            </a:r>
            <a:r>
              <a:rPr lang="en-US" sz="2400" dirty="0"/>
              <a:t>= </a:t>
            </a:r>
            <a:r>
              <a:rPr lang="en-US" sz="2400" dirty="0" err="1"/>
              <a:t>children.Where</a:t>
            </a:r>
            <a:r>
              <a:rPr lang="en-US" sz="2400" dirty="0"/>
              <a:t>(x =&gt; </a:t>
            </a:r>
            <a:r>
              <a:rPr lang="en-US" sz="2400" dirty="0" err="1"/>
              <a:t>x.age</a:t>
            </a:r>
            <a:r>
              <a:rPr lang="en-US" sz="2400" dirty="0"/>
              <a:t> == </a:t>
            </a:r>
            <a:r>
              <a:rPr lang="en-US" sz="2400" dirty="0" err="1"/>
              <a:t>maxAge</a:t>
            </a:r>
            <a:r>
              <a:rPr lang="en-US" sz="2400" dirty="0"/>
              <a:t>);</a:t>
            </a:r>
          </a:p>
          <a:p>
            <a:endParaRPr lang="ru-RU" sz="2400" dirty="0" smtClean="0"/>
          </a:p>
          <a:p>
            <a:r>
              <a:rPr lang="en-US" sz="2400" dirty="0" err="1"/>
              <a:t>var</a:t>
            </a:r>
            <a:r>
              <a:rPr lang="en-US" sz="2400" dirty="0"/>
              <a:t> </a:t>
            </a:r>
            <a:r>
              <a:rPr lang="en-US" sz="2400" dirty="0" smtClean="0"/>
              <a:t>query</a:t>
            </a:r>
            <a:r>
              <a:rPr lang="ru-RU" sz="2400" dirty="0" smtClean="0"/>
              <a:t>2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smtClean="0"/>
              <a:t>children</a:t>
            </a:r>
            <a:endParaRPr lang="ru-RU" sz="2400" dirty="0" smtClean="0"/>
          </a:p>
          <a:p>
            <a:r>
              <a:rPr lang="ru-RU" sz="2400" dirty="0" smtClean="0"/>
              <a:t>	</a:t>
            </a:r>
            <a:r>
              <a:rPr lang="en-US" sz="2400" dirty="0" smtClean="0"/>
              <a:t>.Where(x </a:t>
            </a:r>
            <a:r>
              <a:rPr lang="en-US" sz="2400" dirty="0"/>
              <a:t>=&gt; </a:t>
            </a:r>
            <a:r>
              <a:rPr lang="en-US" sz="2400" dirty="0" err="1"/>
              <a:t>x.age</a:t>
            </a:r>
            <a:r>
              <a:rPr lang="en-US" sz="2400" dirty="0"/>
              <a:t> == </a:t>
            </a:r>
            <a:r>
              <a:rPr lang="en-US" sz="2400" dirty="0" err="1"/>
              <a:t>maxAge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r>
              <a:rPr lang="ru-RU" sz="2400" dirty="0"/>
              <a:t>	</a:t>
            </a:r>
            <a:r>
              <a:rPr lang="en-US" sz="2400" dirty="0" smtClean="0"/>
              <a:t>.</a:t>
            </a:r>
            <a:r>
              <a:rPr lang="en-US" sz="2400" dirty="0"/>
              <a:t>Select(x =&gt; new { x.name, </a:t>
            </a:r>
            <a:r>
              <a:rPr lang="en-US" sz="2400" dirty="0" err="1"/>
              <a:t>x.age</a:t>
            </a:r>
            <a:r>
              <a:rPr lang="en-US" sz="2400" dirty="0"/>
              <a:t> });</a:t>
            </a:r>
          </a:p>
          <a:p>
            <a:endParaRPr lang="ru-RU" sz="2400" dirty="0"/>
          </a:p>
          <a:p>
            <a:r>
              <a:rPr lang="en-US" sz="2400" dirty="0" err="1"/>
              <a:t>var</a:t>
            </a:r>
            <a:r>
              <a:rPr lang="en-US" sz="2400" dirty="0"/>
              <a:t> query3 =                </a:t>
            </a:r>
            <a:endParaRPr lang="ru-RU" sz="2400" dirty="0" smtClean="0"/>
          </a:p>
          <a:p>
            <a:r>
              <a:rPr lang="ru-RU" sz="2400" dirty="0"/>
              <a:t>	</a:t>
            </a:r>
            <a:r>
              <a:rPr lang="en-US" sz="2400" dirty="0" smtClean="0"/>
              <a:t>from </a:t>
            </a:r>
            <a:r>
              <a:rPr lang="en-US" sz="2400" dirty="0"/>
              <a:t>child in children</a:t>
            </a:r>
          </a:p>
          <a:p>
            <a:r>
              <a:rPr lang="ru-RU" sz="2400" dirty="0" smtClean="0"/>
              <a:t>	</a:t>
            </a:r>
            <a:r>
              <a:rPr lang="en-US" sz="2400" b="1" dirty="0" smtClean="0"/>
              <a:t>let</a:t>
            </a:r>
            <a:r>
              <a:rPr lang="en-US" sz="2400" dirty="0" smtClean="0"/>
              <a:t> </a:t>
            </a:r>
            <a:r>
              <a:rPr lang="en-US" sz="2400" dirty="0" err="1"/>
              <a:t>max_Age</a:t>
            </a:r>
            <a:r>
              <a:rPr lang="en-US" sz="2400" dirty="0"/>
              <a:t> = </a:t>
            </a:r>
            <a:r>
              <a:rPr lang="en-US" sz="2400" dirty="0" err="1"/>
              <a:t>children.Max</a:t>
            </a:r>
            <a:r>
              <a:rPr lang="en-US" sz="2400" dirty="0"/>
              <a:t>(c =&gt; </a:t>
            </a:r>
            <a:r>
              <a:rPr lang="en-US" sz="2400" dirty="0" err="1"/>
              <a:t>c.age</a:t>
            </a:r>
            <a:r>
              <a:rPr lang="en-US" sz="2400" dirty="0"/>
              <a:t>)</a:t>
            </a:r>
          </a:p>
          <a:p>
            <a:r>
              <a:rPr lang="ru-RU" sz="2400" dirty="0" smtClean="0"/>
              <a:t>	</a:t>
            </a:r>
            <a:r>
              <a:rPr lang="en-US" sz="2400" dirty="0" smtClean="0"/>
              <a:t>where </a:t>
            </a:r>
            <a:r>
              <a:rPr lang="en-US" sz="2400" dirty="0" err="1"/>
              <a:t>child.age</a:t>
            </a:r>
            <a:r>
              <a:rPr lang="en-US" sz="2400" dirty="0"/>
              <a:t> == </a:t>
            </a:r>
            <a:r>
              <a:rPr lang="en-US" sz="2400" dirty="0" err="1"/>
              <a:t>max_Age</a:t>
            </a:r>
            <a:endParaRPr lang="en-US" sz="2400" dirty="0"/>
          </a:p>
          <a:p>
            <a:r>
              <a:rPr lang="ru-RU" sz="2400" dirty="0" smtClean="0"/>
              <a:t>	</a:t>
            </a:r>
            <a:r>
              <a:rPr lang="en-US" sz="2400" dirty="0" smtClean="0"/>
              <a:t>select </a:t>
            </a:r>
            <a:r>
              <a:rPr lang="en-US" sz="2400" dirty="0"/>
              <a:t>child</a:t>
            </a:r>
            <a:r>
              <a:rPr lang="en-US" sz="2400" dirty="0" smtClean="0"/>
              <a:t>;</a:t>
            </a:r>
            <a:endParaRPr lang="en-US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3647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Ключевое слово </a:t>
            </a:r>
            <a:r>
              <a:rPr lang="en-US" sz="3200" b="1" dirty="0">
                <a:solidFill>
                  <a:schemeClr val="tx2"/>
                </a:solidFill>
              </a:rPr>
              <a:t>let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75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798394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955749"/>
            <a:ext cx="864096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Пример: Найти </a:t>
            </a:r>
            <a:r>
              <a:rPr lang="ru-RU" sz="2400" b="1" dirty="0"/>
              <a:t>в </a:t>
            </a:r>
            <a:r>
              <a:rPr lang="ru-RU" sz="2400" b="1" dirty="0" smtClean="0"/>
              <a:t>предложении все слова, начинающиеся на букву «м»:</a:t>
            </a:r>
          </a:p>
          <a:p>
            <a:r>
              <a:rPr lang="en-US" sz="2400" dirty="0" err="1" smtClean="0"/>
              <a:t>IEnumerable</a:t>
            </a:r>
            <a:r>
              <a:rPr lang="en-US" sz="2400" dirty="0" smtClean="0"/>
              <a:t>&lt;string</a:t>
            </a:r>
            <a:r>
              <a:rPr lang="en-US" sz="2400" dirty="0"/>
              <a:t>&gt; </a:t>
            </a:r>
            <a:r>
              <a:rPr lang="ru-RU" sz="2400" dirty="0" smtClean="0"/>
              <a:t> </a:t>
            </a:r>
            <a:r>
              <a:rPr lang="en-US" sz="2400" dirty="0" smtClean="0"/>
              <a:t>query </a:t>
            </a:r>
            <a:r>
              <a:rPr lang="en-US" sz="2400" dirty="0"/>
              <a:t>=</a:t>
            </a:r>
          </a:p>
          <a:p>
            <a:r>
              <a:rPr lang="en-US" sz="2400" dirty="0"/>
              <a:t>    from </a:t>
            </a:r>
            <a:r>
              <a:rPr lang="ru-RU" sz="2400" dirty="0" smtClean="0"/>
              <a:t> </a:t>
            </a:r>
            <a:r>
              <a:rPr lang="en-US" sz="2400" dirty="0" smtClean="0"/>
              <a:t>c </a:t>
            </a:r>
            <a:r>
              <a:rPr lang="ru-RU" sz="2400" dirty="0" smtClean="0"/>
              <a:t> </a:t>
            </a:r>
            <a:r>
              <a:rPr lang="en-US" sz="2400" dirty="0" smtClean="0"/>
              <a:t>in </a:t>
            </a:r>
            <a:r>
              <a:rPr lang="ru-RU" sz="2400" dirty="0" smtClean="0"/>
              <a:t> </a:t>
            </a:r>
            <a:r>
              <a:rPr lang="en-US" sz="2400" dirty="0" smtClean="0"/>
              <a:t>"</a:t>
            </a:r>
            <a:r>
              <a:rPr lang="en-US" sz="2400" dirty="0" err="1"/>
              <a:t>Мама</a:t>
            </a:r>
            <a:r>
              <a:rPr lang="en-US" sz="2400" dirty="0"/>
              <a:t> </a:t>
            </a:r>
            <a:r>
              <a:rPr lang="en-US" sz="2400" dirty="0" err="1"/>
              <a:t>мыла</a:t>
            </a:r>
            <a:r>
              <a:rPr lang="en-US" sz="2400" dirty="0"/>
              <a:t> </a:t>
            </a:r>
            <a:r>
              <a:rPr lang="en-US" sz="2400" dirty="0" err="1"/>
              <a:t>раму</a:t>
            </a:r>
            <a:r>
              <a:rPr lang="en-US" sz="2400" dirty="0"/>
              <a:t>".Split</a:t>
            </a:r>
            <a:r>
              <a:rPr lang="en-US" sz="2400" dirty="0" smtClean="0"/>
              <a:t>(‘ ’)</a:t>
            </a:r>
            <a:endParaRPr lang="en-US" sz="2400" dirty="0"/>
          </a:p>
          <a:p>
            <a:r>
              <a:rPr lang="en-US" sz="2400" dirty="0"/>
              <a:t>    where </a:t>
            </a:r>
            <a:r>
              <a:rPr lang="ru-RU" sz="2400" dirty="0" smtClean="0"/>
              <a:t> </a:t>
            </a:r>
            <a:r>
              <a:rPr lang="en-US" sz="2400" dirty="0" err="1" smtClean="0"/>
              <a:t>c.StartsWith</a:t>
            </a:r>
            <a:r>
              <a:rPr lang="en-US" sz="2400" dirty="0"/>
              <a:t>("М") || </a:t>
            </a:r>
            <a:r>
              <a:rPr lang="en-US" sz="2400" dirty="0" err="1"/>
              <a:t>c.StartsWith</a:t>
            </a:r>
            <a:r>
              <a:rPr lang="en-US" sz="2400" dirty="0"/>
              <a:t>("м")</a:t>
            </a:r>
          </a:p>
          <a:p>
            <a:r>
              <a:rPr lang="en-US" sz="2400" dirty="0"/>
              <a:t>    select </a:t>
            </a:r>
            <a:r>
              <a:rPr lang="ru-RU" sz="2400" dirty="0" smtClean="0"/>
              <a:t> </a:t>
            </a:r>
            <a:r>
              <a:rPr lang="en-US" sz="2400" dirty="0" smtClean="0"/>
              <a:t>c;</a:t>
            </a:r>
            <a:endParaRPr lang="ru-RU" sz="2400" dirty="0" smtClean="0"/>
          </a:p>
          <a:p>
            <a:r>
              <a:rPr lang="en-US" sz="2400" b="1" dirty="0" smtClean="0"/>
              <a:t>//</a:t>
            </a:r>
            <a:r>
              <a:rPr lang="ru-RU" sz="2400" b="1" dirty="0" smtClean="0"/>
              <a:t>С использованием новой переменной диапазона:</a:t>
            </a:r>
          </a:p>
          <a:p>
            <a:r>
              <a:rPr lang="en-US" sz="2400" dirty="0" err="1" smtClean="0"/>
              <a:t>IEnumerable</a:t>
            </a:r>
            <a:r>
              <a:rPr lang="en-US" sz="2400" dirty="0" smtClean="0"/>
              <a:t>&lt;string</a:t>
            </a:r>
            <a:r>
              <a:rPr lang="en-US" sz="2400" dirty="0"/>
              <a:t>&gt; query =</a:t>
            </a:r>
          </a:p>
          <a:p>
            <a:r>
              <a:rPr lang="en-US" sz="2400" dirty="0"/>
              <a:t>    from </a:t>
            </a:r>
            <a:r>
              <a:rPr lang="ru-RU" sz="2400" dirty="0" smtClean="0"/>
              <a:t> </a:t>
            </a:r>
            <a:r>
              <a:rPr lang="en-US" sz="2400" dirty="0" smtClean="0"/>
              <a:t>c </a:t>
            </a:r>
            <a:r>
              <a:rPr lang="ru-RU" sz="2400" dirty="0" smtClean="0"/>
              <a:t> </a:t>
            </a:r>
            <a:r>
              <a:rPr lang="en-US" sz="2400" dirty="0" smtClean="0"/>
              <a:t>in </a:t>
            </a:r>
            <a:r>
              <a:rPr lang="ru-RU" sz="2400" dirty="0" smtClean="0"/>
              <a:t> </a:t>
            </a:r>
            <a:r>
              <a:rPr lang="en-US" sz="2400" dirty="0" smtClean="0"/>
              <a:t>"</a:t>
            </a:r>
            <a:r>
              <a:rPr lang="en-US" sz="2400" dirty="0" err="1"/>
              <a:t>Мама</a:t>
            </a:r>
            <a:r>
              <a:rPr lang="en-US" sz="2400" dirty="0"/>
              <a:t> </a:t>
            </a:r>
            <a:r>
              <a:rPr lang="en-US" sz="2400" dirty="0" err="1"/>
              <a:t>мыла</a:t>
            </a:r>
            <a:r>
              <a:rPr lang="en-US" sz="2400" dirty="0"/>
              <a:t> </a:t>
            </a:r>
            <a:r>
              <a:rPr lang="en-US" sz="2400" dirty="0" err="1"/>
              <a:t>раму</a:t>
            </a:r>
            <a:r>
              <a:rPr lang="en-US" sz="2400" dirty="0"/>
              <a:t>".Split()</a:t>
            </a:r>
          </a:p>
          <a:p>
            <a:r>
              <a:rPr lang="en-US" sz="2400" b="1" dirty="0"/>
              <a:t>    select </a:t>
            </a:r>
            <a:r>
              <a:rPr lang="ru-RU" sz="2400" b="1" dirty="0" smtClean="0"/>
              <a:t> </a:t>
            </a:r>
            <a:r>
              <a:rPr lang="en-US" sz="2400" b="1" dirty="0" err="1" smtClean="0"/>
              <a:t>c.ToUpper</a:t>
            </a:r>
            <a:r>
              <a:rPr lang="en-US" sz="2400" b="1" dirty="0"/>
              <a:t>() </a:t>
            </a:r>
            <a:r>
              <a:rPr lang="ru-RU" sz="2400" b="1" dirty="0" smtClean="0"/>
              <a:t> </a:t>
            </a:r>
            <a:r>
              <a:rPr lang="en-US" sz="2400" b="1" dirty="0" smtClean="0"/>
              <a:t>into </a:t>
            </a:r>
            <a:r>
              <a:rPr lang="ru-RU" sz="2400" b="1" dirty="0" smtClean="0"/>
              <a:t> </a:t>
            </a:r>
            <a:r>
              <a:rPr lang="en-US" sz="2400" b="1" dirty="0" err="1" smtClean="0"/>
              <a:t>c_new</a:t>
            </a:r>
            <a:endParaRPr lang="en-US" sz="2400" b="1" dirty="0"/>
          </a:p>
          <a:p>
            <a:r>
              <a:rPr lang="en-US" sz="2400" dirty="0"/>
              <a:t>    where </a:t>
            </a:r>
            <a:r>
              <a:rPr lang="ru-RU" sz="2400" dirty="0" smtClean="0"/>
              <a:t> </a:t>
            </a:r>
            <a:r>
              <a:rPr lang="en-US" sz="2400" dirty="0" err="1" smtClean="0"/>
              <a:t>c_new.StartsWith</a:t>
            </a:r>
            <a:r>
              <a:rPr lang="en-US" sz="2400" dirty="0"/>
              <a:t>("</a:t>
            </a:r>
            <a:r>
              <a:rPr lang="ru-RU" sz="2400" dirty="0"/>
              <a:t>М")</a:t>
            </a:r>
          </a:p>
          <a:p>
            <a:r>
              <a:rPr lang="en-US" sz="2400" dirty="0"/>
              <a:t>    select </a:t>
            </a:r>
            <a:r>
              <a:rPr lang="ru-RU" sz="2400" dirty="0" smtClean="0"/>
              <a:t> </a:t>
            </a:r>
            <a:r>
              <a:rPr lang="en-US" sz="2400" dirty="0" err="1" smtClean="0"/>
              <a:t>c_new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r>
              <a:rPr lang="en-US" sz="2400" b="1" dirty="0" smtClean="0"/>
              <a:t>//</a:t>
            </a:r>
            <a:r>
              <a:rPr lang="ru-RU" sz="2400" b="1" dirty="0" smtClean="0"/>
              <a:t>Краткая запись:</a:t>
            </a:r>
            <a:endParaRPr lang="ru-RU" sz="2400" b="1" dirty="0"/>
          </a:p>
          <a:p>
            <a:r>
              <a:rPr lang="en-US" sz="2400" dirty="0" err="1"/>
              <a:t>IEnumerable</a:t>
            </a:r>
            <a:r>
              <a:rPr lang="en-US" sz="2400" dirty="0"/>
              <a:t>&lt;string&gt; query = "</a:t>
            </a:r>
            <a:r>
              <a:rPr lang="ru-RU" sz="2400" dirty="0"/>
              <a:t>Мама мыла раму".</a:t>
            </a:r>
            <a:r>
              <a:rPr lang="en-US" sz="2400" dirty="0"/>
              <a:t>Split()</a:t>
            </a:r>
          </a:p>
          <a:p>
            <a:r>
              <a:rPr lang="en-US" sz="2400" dirty="0"/>
              <a:t>    .Select(c =&gt; </a:t>
            </a:r>
            <a:r>
              <a:rPr lang="en-US" sz="2400" dirty="0" err="1"/>
              <a:t>c.ToUpper</a:t>
            </a:r>
            <a:r>
              <a:rPr lang="en-US" sz="2400" dirty="0"/>
              <a:t>())</a:t>
            </a:r>
          </a:p>
          <a:p>
            <a:r>
              <a:rPr lang="en-US" sz="2400" dirty="0"/>
              <a:t>    .Where(upper =&gt; </a:t>
            </a:r>
            <a:r>
              <a:rPr lang="en-US" sz="2400" dirty="0" err="1"/>
              <a:t>upper.StartsWith</a:t>
            </a:r>
            <a:r>
              <a:rPr lang="en-US" sz="2400" dirty="0"/>
              <a:t>("</a:t>
            </a:r>
            <a:r>
              <a:rPr lang="ru-RU" sz="2400" dirty="0"/>
              <a:t>М"));</a:t>
            </a:r>
            <a:endParaRPr lang="en-US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188640"/>
            <a:ext cx="50654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Запросы с продолжениями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44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39552" y="1196752"/>
            <a:ext cx="813690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[] arr1 = { 9, 10, 11 }; </a:t>
            </a:r>
          </a:p>
          <a:p>
            <a:r>
              <a:rPr lang="en-US" sz="2400" dirty="0"/>
              <a:t>string[] arr2 = { "</a:t>
            </a:r>
            <a:r>
              <a:rPr lang="ru-RU" sz="2400" dirty="0"/>
              <a:t>а", "б"};</a:t>
            </a:r>
          </a:p>
          <a:p>
            <a:endParaRPr lang="ru-RU" sz="2400" dirty="0" smtClean="0"/>
          </a:p>
          <a:p>
            <a:r>
              <a:rPr lang="en-US" sz="2400" dirty="0" err="1" smtClean="0"/>
              <a:t>IEnumerable</a:t>
            </a:r>
            <a:r>
              <a:rPr lang="en-US" sz="2400" dirty="0" smtClean="0"/>
              <a:t>&lt;string</a:t>
            </a:r>
            <a:r>
              <a:rPr lang="en-US" sz="2400" dirty="0"/>
              <a:t>&gt; </a:t>
            </a:r>
            <a:r>
              <a:rPr lang="en-US" sz="2400" dirty="0" smtClean="0"/>
              <a:t> query </a:t>
            </a:r>
            <a:r>
              <a:rPr lang="en-US" sz="2400" dirty="0"/>
              <a:t>= </a:t>
            </a:r>
          </a:p>
          <a:p>
            <a:r>
              <a:rPr lang="en-US" sz="2400" dirty="0"/>
              <a:t>    from </a:t>
            </a:r>
            <a:r>
              <a:rPr lang="en-US" sz="2400" dirty="0" smtClean="0"/>
              <a:t> a1  in  arr1 </a:t>
            </a:r>
            <a:endParaRPr lang="en-US" sz="2400" dirty="0"/>
          </a:p>
          <a:p>
            <a:r>
              <a:rPr lang="en-US" sz="2400" dirty="0"/>
              <a:t>    from </a:t>
            </a:r>
            <a:r>
              <a:rPr lang="en-US" sz="2400" dirty="0" smtClean="0"/>
              <a:t> a2  in  arr2 </a:t>
            </a:r>
            <a:endParaRPr lang="en-US" sz="2400" dirty="0"/>
          </a:p>
          <a:p>
            <a:r>
              <a:rPr lang="en-US" sz="2400" dirty="0"/>
              <a:t>    select </a:t>
            </a:r>
            <a:r>
              <a:rPr lang="en-US" sz="2400" dirty="0" smtClean="0"/>
              <a:t> a1.ToString</a:t>
            </a:r>
            <a:r>
              <a:rPr lang="en-US" sz="2400" dirty="0"/>
              <a:t>() + a2;</a:t>
            </a:r>
          </a:p>
          <a:p>
            <a:endParaRPr lang="ru-RU" sz="2400" dirty="0"/>
          </a:p>
          <a:p>
            <a:r>
              <a:rPr lang="en-US" sz="2400" dirty="0"/>
              <a:t>foreach (string </a:t>
            </a:r>
            <a:r>
              <a:rPr lang="en-US" sz="2400" dirty="0" smtClean="0"/>
              <a:t> name  in  query</a:t>
            </a:r>
            <a:r>
              <a:rPr lang="en-US" sz="2400" dirty="0"/>
              <a:t>)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MessageBox.Show</a:t>
            </a:r>
            <a:r>
              <a:rPr lang="en-US" sz="2400" dirty="0"/>
              <a:t>(name</a:t>
            </a:r>
            <a:r>
              <a:rPr lang="en-US" sz="2400" dirty="0" smtClean="0"/>
              <a:t>);</a:t>
            </a:r>
          </a:p>
          <a:p>
            <a:endParaRPr lang="ru-RU" sz="2400" b="1" dirty="0" smtClean="0"/>
          </a:p>
          <a:p>
            <a:r>
              <a:rPr lang="en-US" sz="2400" b="1" dirty="0" smtClean="0"/>
              <a:t>//</a:t>
            </a:r>
            <a:r>
              <a:rPr lang="ru-RU" sz="2400" b="1" dirty="0" smtClean="0"/>
              <a:t>Краткая запись запроса:</a:t>
            </a:r>
            <a:endParaRPr lang="en-US" sz="2400" b="1" dirty="0"/>
          </a:p>
          <a:p>
            <a:r>
              <a:rPr lang="en-US" sz="2400" dirty="0" err="1"/>
              <a:t>IEnumerable</a:t>
            </a:r>
            <a:r>
              <a:rPr lang="en-US" sz="2400" dirty="0"/>
              <a:t>&lt;string&gt; </a:t>
            </a:r>
            <a:r>
              <a:rPr lang="en-US" sz="2400" dirty="0" smtClean="0"/>
              <a:t> query </a:t>
            </a:r>
            <a:r>
              <a:rPr lang="en-US" sz="2400" dirty="0"/>
              <a:t>= </a:t>
            </a:r>
            <a:r>
              <a:rPr lang="en-US" sz="2400" dirty="0" smtClean="0"/>
              <a:t> arr1.SelectMany (</a:t>
            </a:r>
            <a:endParaRPr lang="en-US" sz="2400" dirty="0"/>
          </a:p>
          <a:p>
            <a:r>
              <a:rPr lang="en-US" sz="2400" dirty="0"/>
              <a:t>    a1 =&gt; arr2,</a:t>
            </a:r>
          </a:p>
          <a:p>
            <a:r>
              <a:rPr lang="en-US" sz="2400" dirty="0"/>
              <a:t>    (a1, a2) =&gt; (a1.ToString() + a2));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53591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Множественные генераторы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1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467544" y="1333212"/>
            <a:ext cx="82809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Оператор объединения </a:t>
            </a:r>
            <a:r>
              <a:rPr lang="ru-RU" sz="2800" b="1" dirty="0" err="1" smtClean="0"/>
              <a:t>Join</a:t>
            </a:r>
            <a:r>
              <a:rPr lang="ru-RU" sz="2800" b="1" dirty="0" smtClean="0"/>
              <a:t> </a:t>
            </a:r>
            <a:r>
              <a:rPr lang="ru-RU" sz="2800" dirty="0" smtClean="0"/>
              <a:t>поддерживает эквивалентное </a:t>
            </a:r>
            <a:r>
              <a:rPr lang="ru-RU" sz="2800" dirty="0"/>
              <a:t>объединение (т.е. объединяющее условие должно использовать оператор эквивалентности). </a:t>
            </a:r>
            <a:endParaRPr lang="ru-RU" sz="2800" dirty="0" smtClean="0"/>
          </a:p>
          <a:p>
            <a:endParaRPr lang="ru-RU" sz="2800" dirty="0" smtClean="0"/>
          </a:p>
          <a:p>
            <a:r>
              <a:rPr lang="ru-RU" sz="2800" dirty="0" smtClean="0"/>
              <a:t>Синтаксис:</a:t>
            </a:r>
          </a:p>
          <a:p>
            <a:r>
              <a:rPr lang="ru-RU" sz="2400" b="1" dirty="0" err="1" smtClean="0"/>
              <a:t>from</a:t>
            </a:r>
            <a:r>
              <a:rPr lang="en-US" sz="2400" b="1" dirty="0" smtClean="0"/>
              <a:t> </a:t>
            </a:r>
            <a:r>
              <a:rPr lang="ru-RU" sz="2400" b="1" dirty="0" smtClean="0"/>
              <a:t> </a:t>
            </a:r>
            <a:r>
              <a:rPr lang="en-US" sz="2400" dirty="0"/>
              <a:t>&lt;</a:t>
            </a:r>
            <a:r>
              <a:rPr lang="ru-RU" sz="2400" dirty="0" err="1" smtClean="0"/>
              <a:t>внешн</a:t>
            </a:r>
            <a:r>
              <a:rPr lang="ru-RU" sz="2400" dirty="0" smtClean="0"/>
              <a:t>-переменная</a:t>
            </a:r>
            <a:r>
              <a:rPr lang="en-US" sz="2400" dirty="0" smtClean="0"/>
              <a:t>&gt; </a:t>
            </a:r>
            <a:r>
              <a:rPr lang="ru-RU" sz="2400" dirty="0"/>
              <a:t> </a:t>
            </a:r>
            <a:r>
              <a:rPr lang="ru-RU" sz="2400" b="1" dirty="0" err="1" smtClean="0"/>
              <a:t>in</a:t>
            </a:r>
            <a:r>
              <a:rPr lang="en-US" sz="2400" b="1" dirty="0" smtClean="0"/>
              <a:t> </a:t>
            </a:r>
            <a:r>
              <a:rPr lang="ru-RU" sz="2400" dirty="0"/>
              <a:t> </a:t>
            </a:r>
            <a:r>
              <a:rPr lang="en-US" sz="2400" dirty="0" smtClean="0"/>
              <a:t>&lt;</a:t>
            </a:r>
            <a:r>
              <a:rPr lang="ru-RU" sz="2400" dirty="0" err="1" smtClean="0"/>
              <a:t>внешн</a:t>
            </a:r>
            <a:r>
              <a:rPr lang="ru-RU" sz="2400" dirty="0" smtClean="0"/>
              <a:t>-последовательность</a:t>
            </a:r>
            <a:r>
              <a:rPr lang="en-US" sz="2400" dirty="0" smtClean="0"/>
              <a:t>&gt;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b="1" dirty="0" err="1"/>
              <a:t>join</a:t>
            </a:r>
            <a:r>
              <a:rPr lang="ru-RU" sz="2400" b="1" dirty="0"/>
              <a:t> </a:t>
            </a:r>
            <a:r>
              <a:rPr lang="en-US" sz="2400" b="1" dirty="0" smtClean="0"/>
              <a:t> </a:t>
            </a:r>
            <a:r>
              <a:rPr lang="en-US" sz="2400" dirty="0" smtClean="0"/>
              <a:t>&lt;</a:t>
            </a:r>
            <a:r>
              <a:rPr lang="ru-RU" sz="2400" dirty="0" err="1" smtClean="0"/>
              <a:t>внутр</a:t>
            </a:r>
            <a:r>
              <a:rPr lang="ru-RU" sz="2400" dirty="0" smtClean="0"/>
              <a:t>-переменная</a:t>
            </a:r>
            <a:r>
              <a:rPr lang="en-US" sz="2400" dirty="0" smtClean="0"/>
              <a:t>&gt;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r>
              <a:rPr lang="ru-RU" sz="2400" b="1" dirty="0" err="1" smtClean="0"/>
              <a:t>in</a:t>
            </a:r>
            <a:r>
              <a:rPr lang="ru-RU" sz="2400" b="1" dirty="0" smtClean="0"/>
              <a:t> </a:t>
            </a:r>
            <a:r>
              <a:rPr lang="en-US" sz="2400" b="1" dirty="0" smtClean="0"/>
              <a:t> </a:t>
            </a:r>
            <a:r>
              <a:rPr lang="en-US" sz="2400" dirty="0" smtClean="0"/>
              <a:t>&lt;</a:t>
            </a:r>
            <a:r>
              <a:rPr lang="ru-RU" sz="2400" dirty="0" err="1" smtClean="0"/>
              <a:t>внутр</a:t>
            </a:r>
            <a:r>
              <a:rPr lang="ru-RU" sz="2400" dirty="0" smtClean="0"/>
              <a:t>-последовательность</a:t>
            </a:r>
            <a:r>
              <a:rPr lang="en-US" sz="2400" dirty="0" smtClean="0"/>
              <a:t>&gt;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b="1" dirty="0" err="1"/>
              <a:t>on</a:t>
            </a:r>
            <a:r>
              <a:rPr lang="ru-RU" sz="2400" b="1" dirty="0"/>
              <a:t> </a:t>
            </a:r>
            <a:r>
              <a:rPr lang="en-US" sz="2400" b="1" dirty="0" smtClean="0"/>
              <a:t> </a:t>
            </a:r>
            <a:r>
              <a:rPr lang="en-US" sz="2400" dirty="0" smtClean="0"/>
              <a:t>&lt;</a:t>
            </a:r>
            <a:r>
              <a:rPr lang="ru-RU" sz="2400" dirty="0" err="1" smtClean="0"/>
              <a:t>внешн</a:t>
            </a:r>
            <a:r>
              <a:rPr lang="ru-RU" sz="2400" dirty="0" smtClean="0"/>
              <a:t>-ключ</a:t>
            </a:r>
            <a:r>
              <a:rPr lang="en-US" sz="2400" dirty="0" smtClean="0"/>
              <a:t>&gt;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r>
              <a:rPr lang="ru-RU" sz="2400" b="1" dirty="0" err="1" smtClean="0"/>
              <a:t>equals</a:t>
            </a:r>
            <a:r>
              <a:rPr lang="ru-RU" sz="2400" b="1" dirty="0" smtClean="0"/>
              <a:t> </a:t>
            </a:r>
            <a:r>
              <a:rPr lang="en-US" sz="2400" b="1" dirty="0" smtClean="0"/>
              <a:t> </a:t>
            </a:r>
            <a:r>
              <a:rPr lang="en-US" sz="2400" dirty="0" smtClean="0"/>
              <a:t>&lt;</a:t>
            </a:r>
            <a:r>
              <a:rPr lang="ru-RU" sz="2400" dirty="0" smtClean="0"/>
              <a:t>внутренний-ключ</a:t>
            </a:r>
            <a:r>
              <a:rPr lang="en-US" sz="2400" dirty="0" smtClean="0"/>
              <a:t>&gt;</a:t>
            </a: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718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Операторы объединения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91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196752"/>
            <a:ext cx="864096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Вывести список продуктов, купленных детьми:</a:t>
            </a:r>
          </a:p>
          <a:p>
            <a:endParaRPr lang="ru-RU" sz="2800" b="1" dirty="0" smtClean="0"/>
          </a:p>
          <a:p>
            <a:r>
              <a:rPr lang="en-US" sz="2400" dirty="0" err="1"/>
              <a:t>var</a:t>
            </a:r>
            <a:r>
              <a:rPr lang="en-US" sz="2400" dirty="0"/>
              <a:t> children = new[]</a:t>
            </a:r>
          </a:p>
          <a:p>
            <a:r>
              <a:rPr lang="ru-RU" sz="2400" dirty="0" smtClean="0"/>
              <a:t>{</a:t>
            </a:r>
            <a:endParaRPr lang="ru-RU" sz="2400" dirty="0"/>
          </a:p>
          <a:p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en-US" sz="2400" dirty="0" smtClean="0"/>
              <a:t>new </a:t>
            </a:r>
            <a:r>
              <a:rPr lang="en-US" sz="2400" dirty="0"/>
              <a:t>{ </a:t>
            </a:r>
            <a:r>
              <a:rPr lang="en-US" sz="2400" dirty="0" err="1"/>
              <a:t>id_ch</a:t>
            </a:r>
            <a:r>
              <a:rPr lang="en-US" sz="2400" dirty="0"/>
              <a:t> = 15, name = "</a:t>
            </a:r>
            <a:r>
              <a:rPr lang="en-US" sz="2400" dirty="0" err="1"/>
              <a:t>Оля</a:t>
            </a:r>
            <a:r>
              <a:rPr lang="en-US" sz="2400" dirty="0"/>
              <a:t>" },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en-US" sz="2400" dirty="0" smtClean="0"/>
              <a:t>new </a:t>
            </a:r>
            <a:r>
              <a:rPr lang="en-US" sz="2400" dirty="0"/>
              <a:t>{ </a:t>
            </a:r>
            <a:r>
              <a:rPr lang="en-US" sz="2400" dirty="0" err="1"/>
              <a:t>id_ch</a:t>
            </a:r>
            <a:r>
              <a:rPr lang="en-US" sz="2400" dirty="0"/>
              <a:t> = 20, name = "</a:t>
            </a:r>
            <a:r>
              <a:rPr lang="en-US" sz="2400" dirty="0" err="1"/>
              <a:t>Паша</a:t>
            </a:r>
            <a:r>
              <a:rPr lang="en-US" sz="2400" dirty="0"/>
              <a:t>" }</a:t>
            </a:r>
          </a:p>
          <a:p>
            <a:r>
              <a:rPr lang="ru-RU" sz="2400" dirty="0" smtClean="0"/>
              <a:t>};</a:t>
            </a:r>
            <a:endParaRPr lang="ru-RU" sz="2400" dirty="0"/>
          </a:p>
          <a:p>
            <a:endParaRPr lang="ru-RU" sz="2400" dirty="0"/>
          </a:p>
          <a:p>
            <a:r>
              <a:rPr lang="en-US" sz="2400" dirty="0" err="1" smtClean="0"/>
              <a:t>var</a:t>
            </a:r>
            <a:r>
              <a:rPr lang="en-US" sz="2400" dirty="0" smtClean="0"/>
              <a:t> </a:t>
            </a:r>
            <a:r>
              <a:rPr lang="en-US" sz="2400" dirty="0"/>
              <a:t>items = new[]</a:t>
            </a:r>
          </a:p>
          <a:p>
            <a:r>
              <a:rPr lang="ru-RU" sz="2400" dirty="0" smtClean="0"/>
              <a:t>{</a:t>
            </a:r>
            <a:endParaRPr lang="ru-RU" sz="2400" dirty="0"/>
          </a:p>
          <a:p>
            <a:r>
              <a:rPr lang="ru-RU" sz="2400" dirty="0" smtClean="0"/>
              <a:t>    </a:t>
            </a:r>
            <a:r>
              <a:rPr lang="en-US" sz="2400" dirty="0" smtClean="0"/>
              <a:t>new </a:t>
            </a:r>
            <a:r>
              <a:rPr lang="en-US" sz="2400" dirty="0"/>
              <a:t>{ </a:t>
            </a:r>
            <a:r>
              <a:rPr lang="en-US" sz="2400" dirty="0" err="1"/>
              <a:t>id_items</a:t>
            </a:r>
            <a:r>
              <a:rPr lang="en-US" sz="2400" dirty="0"/>
              <a:t> = 1, </a:t>
            </a:r>
            <a:r>
              <a:rPr lang="en-US" sz="2400" dirty="0" err="1"/>
              <a:t>id_ch</a:t>
            </a:r>
            <a:r>
              <a:rPr lang="en-US" sz="2400" dirty="0"/>
              <a:t> = 15, name = "</a:t>
            </a:r>
            <a:r>
              <a:rPr lang="en-US" sz="2400" dirty="0" err="1"/>
              <a:t>Кукла</a:t>
            </a:r>
            <a:r>
              <a:rPr lang="en-US" sz="2400" dirty="0"/>
              <a:t>" },</a:t>
            </a:r>
          </a:p>
          <a:p>
            <a:r>
              <a:rPr lang="ru-RU" sz="2400" dirty="0" smtClean="0"/>
              <a:t>    </a:t>
            </a:r>
            <a:r>
              <a:rPr lang="en-US" sz="2400" dirty="0" smtClean="0"/>
              <a:t>new </a:t>
            </a:r>
            <a:r>
              <a:rPr lang="en-US" sz="2400" dirty="0"/>
              <a:t>{ </a:t>
            </a:r>
            <a:r>
              <a:rPr lang="en-US" sz="2400" dirty="0" err="1"/>
              <a:t>id_items</a:t>
            </a:r>
            <a:r>
              <a:rPr lang="en-US" sz="2400" dirty="0"/>
              <a:t> = 2, </a:t>
            </a:r>
            <a:r>
              <a:rPr lang="en-US" sz="2400" dirty="0" err="1"/>
              <a:t>id_ch</a:t>
            </a:r>
            <a:r>
              <a:rPr lang="en-US" sz="2400" dirty="0"/>
              <a:t> = 20, name = "</a:t>
            </a:r>
            <a:r>
              <a:rPr lang="en-US" sz="2400" dirty="0" err="1"/>
              <a:t>Кораблик</a:t>
            </a:r>
            <a:r>
              <a:rPr lang="en-US" sz="2400" dirty="0"/>
              <a:t>" },</a:t>
            </a:r>
          </a:p>
          <a:p>
            <a:r>
              <a:rPr lang="ru-RU" sz="2400" dirty="0" smtClean="0"/>
              <a:t>    </a:t>
            </a:r>
            <a:r>
              <a:rPr lang="en-US" sz="2400" dirty="0" smtClean="0"/>
              <a:t>new </a:t>
            </a:r>
            <a:r>
              <a:rPr lang="en-US" sz="2400" dirty="0"/>
              <a:t>{ </a:t>
            </a:r>
            <a:r>
              <a:rPr lang="en-US" sz="2400" dirty="0" err="1"/>
              <a:t>id_items</a:t>
            </a:r>
            <a:r>
              <a:rPr lang="en-US" sz="2400" dirty="0"/>
              <a:t> = 3, </a:t>
            </a:r>
            <a:r>
              <a:rPr lang="en-US" sz="2400" dirty="0" err="1"/>
              <a:t>id_ch</a:t>
            </a:r>
            <a:r>
              <a:rPr lang="en-US" sz="2400" dirty="0"/>
              <a:t> = 15, name = "</a:t>
            </a:r>
            <a:r>
              <a:rPr lang="en-US" sz="2400" dirty="0" err="1"/>
              <a:t>Мяч</a:t>
            </a:r>
            <a:r>
              <a:rPr lang="en-US" sz="2400" dirty="0"/>
              <a:t>" }</a:t>
            </a:r>
          </a:p>
          <a:p>
            <a:r>
              <a:rPr lang="ru-RU" sz="2400" dirty="0" smtClean="0"/>
              <a:t>};</a:t>
            </a:r>
            <a:endParaRPr lang="ru-RU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718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Операторы объединения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70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683568" y="477253"/>
            <a:ext cx="4718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Операторы объединения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11560" y="1334373"/>
            <a:ext cx="799288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/>
              <a:t>var</a:t>
            </a:r>
            <a:r>
              <a:rPr lang="en-US" sz="2800" dirty="0"/>
              <a:t> query =</a:t>
            </a:r>
          </a:p>
          <a:p>
            <a:r>
              <a:rPr lang="ru-RU" sz="2800" dirty="0"/>
              <a:t> </a:t>
            </a:r>
            <a:r>
              <a:rPr lang="ru-RU" sz="2800" dirty="0" smtClean="0"/>
              <a:t>   </a:t>
            </a:r>
            <a:r>
              <a:rPr lang="en-US" sz="2800" dirty="0" smtClean="0"/>
              <a:t>from </a:t>
            </a:r>
            <a:r>
              <a:rPr lang="en-US" sz="2800" dirty="0" err="1"/>
              <a:t>ch</a:t>
            </a:r>
            <a:r>
              <a:rPr lang="en-US" sz="2800" dirty="0"/>
              <a:t> in children</a:t>
            </a:r>
          </a:p>
          <a:p>
            <a:r>
              <a:rPr lang="ru-RU" sz="2800" dirty="0" smtClean="0"/>
              <a:t>    </a:t>
            </a:r>
            <a:r>
              <a:rPr lang="en-US" sz="2800" dirty="0" smtClean="0"/>
              <a:t>join </a:t>
            </a:r>
            <a:r>
              <a:rPr lang="en-US" sz="2800" dirty="0"/>
              <a:t>item in items</a:t>
            </a:r>
          </a:p>
          <a:p>
            <a:r>
              <a:rPr lang="ru-RU" sz="2800" dirty="0" smtClean="0"/>
              <a:t>    </a:t>
            </a:r>
            <a:r>
              <a:rPr lang="en-US" sz="2800" dirty="0" smtClean="0"/>
              <a:t>on </a:t>
            </a:r>
            <a:r>
              <a:rPr lang="en-US" sz="2800" dirty="0" err="1"/>
              <a:t>ch.id_ch</a:t>
            </a:r>
            <a:r>
              <a:rPr lang="en-US" sz="2800" dirty="0"/>
              <a:t> equals </a:t>
            </a:r>
            <a:r>
              <a:rPr lang="en-US" sz="2800" dirty="0" err="1"/>
              <a:t>item.id_ch</a:t>
            </a:r>
            <a:endParaRPr lang="en-US" sz="2800" dirty="0"/>
          </a:p>
          <a:p>
            <a:r>
              <a:rPr lang="ru-RU" sz="2800" dirty="0" smtClean="0"/>
              <a:t>    </a:t>
            </a:r>
            <a:r>
              <a:rPr lang="en-US" sz="2800" dirty="0" smtClean="0"/>
              <a:t>select </a:t>
            </a:r>
            <a:r>
              <a:rPr lang="en-US" sz="2800" dirty="0"/>
              <a:t>$"</a:t>
            </a:r>
            <a:r>
              <a:rPr lang="ru-RU" sz="2800" dirty="0"/>
              <a:t>Покупки: {</a:t>
            </a:r>
            <a:r>
              <a:rPr lang="en-US" sz="2800" dirty="0"/>
              <a:t>ch.name} - {item.name}";</a:t>
            </a:r>
          </a:p>
          <a:p>
            <a:endParaRPr lang="en-US" sz="2800" dirty="0"/>
          </a:p>
          <a:p>
            <a:r>
              <a:rPr lang="en-US" sz="2800" dirty="0" err="1" smtClean="0"/>
              <a:t>foreach</a:t>
            </a:r>
            <a:r>
              <a:rPr lang="en-US" sz="2800" dirty="0" smtClean="0"/>
              <a:t> </a:t>
            </a:r>
            <a:r>
              <a:rPr lang="en-US" sz="2800" dirty="0"/>
              <a:t>(string </a:t>
            </a:r>
            <a:r>
              <a:rPr lang="en-US" sz="2800" dirty="0" err="1"/>
              <a:t>str</a:t>
            </a:r>
            <a:r>
              <a:rPr lang="en-US" sz="2800" dirty="0"/>
              <a:t> in query)</a:t>
            </a:r>
          </a:p>
          <a:p>
            <a:r>
              <a:rPr lang="en-US" sz="2800" dirty="0" smtClean="0"/>
              <a:t>{</a:t>
            </a:r>
            <a:endParaRPr lang="en-US" sz="2800" dirty="0"/>
          </a:p>
          <a:p>
            <a:r>
              <a:rPr lang="en-US" sz="2800" dirty="0" smtClean="0"/>
              <a:t>    </a:t>
            </a:r>
            <a:r>
              <a:rPr lang="en-US" sz="2800" dirty="0" err="1" smtClean="0"/>
              <a:t>Console.WriteLine</a:t>
            </a:r>
            <a:r>
              <a:rPr lang="en-US" sz="2800" dirty="0" smtClean="0"/>
              <a:t>(</a:t>
            </a:r>
            <a:r>
              <a:rPr lang="en-US" sz="2800" dirty="0" err="1" smtClean="0"/>
              <a:t>str</a:t>
            </a:r>
            <a:r>
              <a:rPr lang="en-US" sz="2800" dirty="0"/>
              <a:t>);</a:t>
            </a:r>
          </a:p>
          <a:p>
            <a:r>
              <a:rPr lang="en-US" sz="2800" dirty="0" smtClean="0"/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2069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23528" y="1190357"/>
            <a:ext cx="86409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</a:t>
            </a:r>
            <a:r>
              <a:rPr lang="ru-RU" sz="2400" dirty="0" smtClean="0"/>
              <a:t>ростейший </a:t>
            </a:r>
            <a:r>
              <a:rPr lang="ru-RU" sz="2400" dirty="0"/>
              <a:t>оператор </a:t>
            </a:r>
            <a:r>
              <a:rPr lang="ru-RU" sz="2400" dirty="0" smtClean="0"/>
              <a:t>объединения </a:t>
            </a:r>
            <a:r>
              <a:rPr lang="en-US" sz="2400" b="1" dirty="0"/>
              <a:t>Zip</a:t>
            </a:r>
            <a:r>
              <a:rPr lang="en-US" sz="2400" dirty="0"/>
              <a:t> </a:t>
            </a:r>
            <a:r>
              <a:rPr lang="en-US" sz="2400" dirty="0" smtClean="0"/>
              <a:t>– </a:t>
            </a:r>
            <a:r>
              <a:rPr lang="ru-RU" sz="2400" dirty="0" smtClean="0"/>
              <a:t>перебирает две </a:t>
            </a:r>
            <a:r>
              <a:rPr lang="ru-RU" sz="2400" dirty="0"/>
              <a:t>последовательности за один проход и возвращает </a:t>
            </a:r>
            <a:r>
              <a:rPr lang="ru-RU" sz="2400" dirty="0" smtClean="0"/>
              <a:t>новую последовательность – результат выполнения </a:t>
            </a:r>
            <a:r>
              <a:rPr lang="ru-RU" sz="2400" dirty="0"/>
              <a:t>функции </a:t>
            </a:r>
            <a:r>
              <a:rPr lang="ru-RU" sz="2400" dirty="0" smtClean="0"/>
              <a:t>над соответствующими парами элементов</a:t>
            </a:r>
            <a:r>
              <a:rPr lang="ru-RU" sz="2400" dirty="0"/>
              <a:t> п</a:t>
            </a:r>
            <a:r>
              <a:rPr lang="ru-RU" sz="2400" dirty="0" smtClean="0"/>
              <a:t>оследовательностей:</a:t>
            </a:r>
            <a:r>
              <a:rPr lang="en-US" sz="2400" dirty="0" smtClean="0"/>
              <a:t> </a:t>
            </a:r>
            <a:endParaRPr lang="ru-RU" sz="2400" dirty="0" smtClean="0"/>
          </a:p>
          <a:p>
            <a:endParaRPr lang="ru-RU" sz="2400" dirty="0"/>
          </a:p>
          <a:p>
            <a:r>
              <a:rPr lang="en-US" sz="2400" dirty="0" err="1"/>
              <a:t>int</a:t>
            </a:r>
            <a:r>
              <a:rPr lang="en-US" sz="2400" dirty="0"/>
              <a:t>[] </a:t>
            </a:r>
            <a:r>
              <a:rPr lang="en-US" sz="2400" dirty="0" smtClean="0"/>
              <a:t> numbers </a:t>
            </a:r>
            <a:r>
              <a:rPr lang="en-US" sz="2400" dirty="0"/>
              <a:t>= { 3, </a:t>
            </a:r>
            <a:r>
              <a:rPr lang="en-US" sz="2400" dirty="0" smtClean="0"/>
              <a:t>5</a:t>
            </a:r>
            <a:r>
              <a:rPr lang="en-US" sz="2400" dirty="0"/>
              <a:t> </a:t>
            </a:r>
            <a:r>
              <a:rPr lang="en-US" sz="2400" dirty="0" smtClean="0"/>
              <a:t>};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string[] </a:t>
            </a:r>
            <a:r>
              <a:rPr lang="en-US" sz="2400" dirty="0" smtClean="0"/>
              <a:t> words </a:t>
            </a:r>
            <a:r>
              <a:rPr lang="en-US" sz="2400" dirty="0"/>
              <a:t>= </a:t>
            </a:r>
            <a:r>
              <a:rPr lang="en-US" sz="2400" dirty="0" smtClean="0"/>
              <a:t>{</a:t>
            </a:r>
            <a:r>
              <a:rPr lang="en-US" sz="2400" dirty="0"/>
              <a:t>"</a:t>
            </a:r>
            <a:r>
              <a:rPr lang="ru-RU" sz="2400" dirty="0" smtClean="0"/>
              <a:t>три</a:t>
            </a:r>
            <a:r>
              <a:rPr lang="en-US" sz="2400" dirty="0" smtClean="0"/>
              <a:t>", </a:t>
            </a:r>
            <a:r>
              <a:rPr lang="en-US" sz="2400" dirty="0"/>
              <a:t>"</a:t>
            </a:r>
            <a:r>
              <a:rPr lang="ru-RU" sz="2400" dirty="0" smtClean="0"/>
              <a:t>пять</a:t>
            </a:r>
            <a:r>
              <a:rPr lang="en-US" sz="2400" dirty="0" smtClean="0"/>
              <a:t>", </a:t>
            </a:r>
            <a:r>
              <a:rPr lang="en-US" sz="2400" dirty="0"/>
              <a:t>"</a:t>
            </a:r>
            <a:r>
              <a:rPr lang="ru-RU" sz="2400" dirty="0" smtClean="0"/>
              <a:t>семь</a:t>
            </a:r>
            <a:r>
              <a:rPr lang="en-US" sz="2400" dirty="0" smtClean="0"/>
              <a:t>" };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IEnumerable</a:t>
            </a:r>
            <a:r>
              <a:rPr lang="en-US" sz="2400" dirty="0"/>
              <a:t>&lt;string&gt; </a:t>
            </a:r>
            <a:r>
              <a:rPr lang="en-US" sz="2400" dirty="0" smtClean="0"/>
              <a:t> query </a:t>
            </a:r>
            <a:r>
              <a:rPr lang="en-US" sz="2400" dirty="0"/>
              <a:t>=</a:t>
            </a:r>
            <a:br>
              <a:rPr lang="en-US" sz="2400" dirty="0"/>
            </a:br>
            <a:r>
              <a:rPr lang="en-US" sz="2400" dirty="0"/>
              <a:t>    </a:t>
            </a:r>
            <a:r>
              <a:rPr lang="en-US" sz="2400" dirty="0" err="1" smtClean="0"/>
              <a:t>numbers.Zip</a:t>
            </a:r>
            <a:r>
              <a:rPr lang="en-US" sz="2400" dirty="0" smtClean="0"/>
              <a:t>(words</a:t>
            </a:r>
            <a:r>
              <a:rPr lang="en-US" sz="2400" dirty="0"/>
              <a:t>, </a:t>
            </a:r>
            <a:r>
              <a:rPr lang="en-US" sz="2400" dirty="0" smtClean="0"/>
              <a:t> (</a:t>
            </a:r>
            <a:r>
              <a:rPr lang="en-US" sz="2400" dirty="0"/>
              <a:t>n, w) =&gt; n + "</a:t>
            </a:r>
            <a:r>
              <a:rPr lang="en-US" sz="2400" dirty="0" smtClean="0"/>
              <a:t> = " + </a:t>
            </a:r>
            <a:r>
              <a:rPr lang="en-US" sz="2400" dirty="0"/>
              <a:t>w</a:t>
            </a:r>
            <a:r>
              <a:rPr lang="en-US" sz="2400" dirty="0" smtClean="0"/>
              <a:t>);</a:t>
            </a:r>
            <a:endParaRPr lang="ru-RU" sz="2400" dirty="0" smtClean="0"/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foreach</a:t>
            </a:r>
            <a:r>
              <a:rPr lang="en-US" sz="2400" dirty="0"/>
              <a:t> (string s in query)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Console.WriteLine</a:t>
            </a:r>
            <a:r>
              <a:rPr lang="en-US" sz="2400" dirty="0" smtClean="0"/>
              <a:t>(s</a:t>
            </a:r>
            <a:r>
              <a:rPr lang="en-US" sz="2400" dirty="0"/>
              <a:t>);</a:t>
            </a:r>
            <a:endParaRPr lang="en-US" sz="2400" dirty="0" smtClean="0"/>
          </a:p>
          <a:p>
            <a:r>
              <a:rPr lang="ru-RU" sz="2400" dirty="0"/>
              <a:t/>
            </a:r>
            <a:br>
              <a:rPr lang="ru-RU" sz="2400" dirty="0"/>
            </a:br>
            <a:r>
              <a:rPr lang="en-US" sz="2400" dirty="0" smtClean="0"/>
              <a:t>//</a:t>
            </a:r>
            <a:r>
              <a:rPr lang="ru-RU" sz="2400" dirty="0" smtClean="0"/>
              <a:t>3</a:t>
            </a:r>
            <a:r>
              <a:rPr lang="en-US" sz="2400" dirty="0" smtClean="0"/>
              <a:t> </a:t>
            </a:r>
            <a:r>
              <a:rPr lang="ru-RU" sz="2400" dirty="0" smtClean="0"/>
              <a:t>=</a:t>
            </a:r>
            <a:r>
              <a:rPr lang="en-US" sz="2400" dirty="0" smtClean="0"/>
              <a:t> </a:t>
            </a:r>
            <a:r>
              <a:rPr lang="ru-RU" sz="2400" dirty="0" smtClean="0"/>
              <a:t>три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//5 = </a:t>
            </a:r>
            <a:r>
              <a:rPr lang="ru-RU" sz="2400" dirty="0" smtClean="0"/>
              <a:t>пять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718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Операторы объединения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92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052736"/>
            <a:ext cx="864096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Оператор </a:t>
            </a:r>
            <a:r>
              <a:rPr lang="ru-RU" sz="2400" b="1" dirty="0" err="1"/>
              <a:t>GroupBy</a:t>
            </a:r>
            <a:r>
              <a:rPr lang="ru-RU" sz="2400" dirty="0"/>
              <a:t> группирует одноуровневую входящую последовательность в последовательность </a:t>
            </a:r>
            <a:r>
              <a:rPr lang="ru-RU" sz="2400" i="1" dirty="0" smtClean="0"/>
              <a:t>групп:</a:t>
            </a:r>
          </a:p>
          <a:p>
            <a:endParaRPr lang="ru-RU" sz="2400" dirty="0" smtClean="0"/>
          </a:p>
          <a:p>
            <a:r>
              <a:rPr lang="en-US" sz="2400" dirty="0"/>
              <a:t>string[] nm = { "</a:t>
            </a:r>
            <a:r>
              <a:rPr lang="ru-RU" sz="2400" dirty="0"/>
              <a:t>Миша", "Маша", "Ольга", "Зоя", "Тим" };</a:t>
            </a:r>
          </a:p>
          <a:p>
            <a:r>
              <a:rPr lang="en-US" sz="2400" dirty="0"/>
              <a:t>var query =</a:t>
            </a:r>
          </a:p>
          <a:p>
            <a:r>
              <a:rPr lang="en-US" sz="2400" dirty="0"/>
              <a:t>    from name in nm</a:t>
            </a:r>
          </a:p>
          <a:p>
            <a:r>
              <a:rPr lang="en-US" sz="2400" dirty="0"/>
              <a:t>    </a:t>
            </a:r>
            <a:r>
              <a:rPr lang="en-US" sz="2400" b="1" dirty="0"/>
              <a:t>group </a:t>
            </a:r>
            <a:r>
              <a:rPr lang="en-US" sz="2400" dirty="0"/>
              <a:t>name </a:t>
            </a:r>
            <a:r>
              <a:rPr lang="en-US" sz="2400" b="1" dirty="0"/>
              <a:t>by</a:t>
            </a:r>
            <a:r>
              <a:rPr lang="en-US" sz="2400" dirty="0"/>
              <a:t> </a:t>
            </a:r>
            <a:r>
              <a:rPr lang="en-US" sz="2400" dirty="0" err="1"/>
              <a:t>name.Length</a:t>
            </a:r>
            <a:r>
              <a:rPr lang="en-US" sz="2400" dirty="0"/>
              <a:t>;</a:t>
            </a:r>
          </a:p>
          <a:p>
            <a:endParaRPr lang="ru-RU" sz="2400" dirty="0"/>
          </a:p>
          <a:p>
            <a:r>
              <a:rPr lang="en-US" sz="2400" dirty="0" smtClean="0"/>
              <a:t>string </a:t>
            </a:r>
            <a:r>
              <a:rPr lang="en-US" sz="2400" dirty="0" err="1"/>
              <a:t>str</a:t>
            </a:r>
            <a:r>
              <a:rPr lang="en-US" sz="2400" dirty="0"/>
              <a:t> = "";</a:t>
            </a:r>
          </a:p>
          <a:p>
            <a:r>
              <a:rPr lang="en-US" sz="2400" dirty="0"/>
              <a:t>foreach (</a:t>
            </a:r>
            <a:r>
              <a:rPr lang="en-US" sz="2400" dirty="0" err="1"/>
              <a:t>IGrouping</a:t>
            </a:r>
            <a:r>
              <a:rPr lang="en-US" sz="2400" dirty="0"/>
              <a:t>&lt;</a:t>
            </a:r>
            <a:r>
              <a:rPr lang="en-US" sz="2400" dirty="0" err="1"/>
              <a:t>int</a:t>
            </a:r>
            <a:r>
              <a:rPr lang="en-US" sz="2400" dirty="0"/>
              <a:t>, string&gt; grouping in query)</a:t>
            </a:r>
          </a:p>
          <a:p>
            <a:r>
              <a:rPr lang="ru-RU" sz="2400" dirty="0"/>
              <a:t>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str</a:t>
            </a:r>
            <a:r>
              <a:rPr lang="en-US" sz="2400" dirty="0"/>
              <a:t> = " </a:t>
            </a:r>
            <a:r>
              <a:rPr lang="ru-RU" sz="2400" dirty="0"/>
              <a:t>Длина имени = " + </a:t>
            </a:r>
            <a:r>
              <a:rPr lang="en-US" sz="2400" dirty="0" err="1"/>
              <a:t>grouping.Key</a:t>
            </a:r>
            <a:r>
              <a:rPr lang="en-US" sz="2400" dirty="0"/>
              <a:t> + ": ";</a:t>
            </a:r>
          </a:p>
          <a:p>
            <a:r>
              <a:rPr lang="en-US" sz="2400" dirty="0"/>
              <a:t>    foreach (string name in grouping)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str</a:t>
            </a:r>
            <a:r>
              <a:rPr lang="en-US" sz="2400" dirty="0"/>
              <a:t> += name + ", ";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MessageBox.Show</a:t>
            </a:r>
            <a:r>
              <a:rPr lang="en-US" sz="2400" dirty="0"/>
              <a:t>(</a:t>
            </a:r>
            <a:r>
              <a:rPr lang="en-US" sz="2400" dirty="0" err="1"/>
              <a:t>str</a:t>
            </a:r>
            <a:r>
              <a:rPr lang="en-US" sz="2400" dirty="0"/>
              <a:t>);</a:t>
            </a:r>
          </a:p>
          <a:p>
            <a:r>
              <a:rPr lang="ru-RU" sz="2400" dirty="0"/>
              <a:t>}</a:t>
            </a:r>
            <a:endParaRPr lang="ru-RU" sz="2400" dirty="0" smtClean="0"/>
          </a:p>
        </p:txBody>
      </p:sp>
      <p:sp>
        <p:nvSpPr>
          <p:cNvPr id="8" name="Прямоугольник 7"/>
          <p:cNvSpPr/>
          <p:nvPr/>
        </p:nvSpPr>
        <p:spPr>
          <a:xfrm>
            <a:off x="683568" y="477253"/>
            <a:ext cx="45918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Операторы группировки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97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1903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Примеры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34752" y="1434837"/>
            <a:ext cx="831371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/>
              <a:t>Вывести на консоль все четные числа массива.</a:t>
            </a:r>
          </a:p>
          <a:p>
            <a:endParaRPr lang="ru-RU" sz="2800" dirty="0"/>
          </a:p>
          <a:p>
            <a:r>
              <a:rPr lang="en-US" sz="2800" dirty="0" err="1" smtClean="0"/>
              <a:t>int</a:t>
            </a:r>
            <a:r>
              <a:rPr lang="en-US" sz="2800" dirty="0" smtClean="0"/>
              <a:t>[]</a:t>
            </a:r>
            <a:r>
              <a:rPr lang="ru-RU" sz="2800" dirty="0" smtClean="0"/>
              <a:t> </a:t>
            </a:r>
            <a:r>
              <a:rPr lang="en-US" sz="2800" dirty="0" smtClean="0"/>
              <a:t> numbers </a:t>
            </a:r>
            <a:r>
              <a:rPr lang="en-US" sz="2800" dirty="0"/>
              <a:t>= { 10, 9, 8, 7, 6, 5, 4, 3, 2, 1 </a:t>
            </a:r>
            <a:r>
              <a:rPr lang="en-US" sz="2800" dirty="0" smtClean="0"/>
              <a:t>};</a:t>
            </a:r>
            <a:endParaRPr lang="ru-RU" sz="2800" dirty="0" smtClean="0"/>
          </a:p>
          <a:p>
            <a:endParaRPr lang="en-US" sz="2800" dirty="0"/>
          </a:p>
          <a:p>
            <a:r>
              <a:rPr lang="en-US" sz="2800" dirty="0" err="1" smtClean="0"/>
              <a:t>var</a:t>
            </a:r>
            <a:r>
              <a:rPr lang="en-US" sz="2800" dirty="0" smtClean="0"/>
              <a:t> </a:t>
            </a:r>
            <a:r>
              <a:rPr lang="ru-RU" sz="2800" dirty="0" smtClean="0"/>
              <a:t> </a:t>
            </a:r>
            <a:r>
              <a:rPr lang="en-US" sz="2800" dirty="0" smtClean="0"/>
              <a:t>query</a:t>
            </a:r>
            <a:r>
              <a:rPr lang="ru-RU" sz="2800" dirty="0" smtClean="0"/>
              <a:t> </a:t>
            </a:r>
            <a:r>
              <a:rPr lang="en-US" sz="2800" dirty="0" smtClean="0"/>
              <a:t>= </a:t>
            </a:r>
            <a:r>
              <a:rPr lang="ru-RU" sz="2800" dirty="0" smtClean="0"/>
              <a:t> </a:t>
            </a:r>
            <a:endParaRPr lang="en-US" sz="2800" dirty="0" smtClean="0"/>
          </a:p>
          <a:p>
            <a:r>
              <a:rPr lang="en-US" sz="2800" b="1" dirty="0"/>
              <a:t> </a:t>
            </a:r>
            <a:r>
              <a:rPr lang="en-US" sz="2800" b="1" dirty="0" smtClean="0"/>
              <a:t>   from</a:t>
            </a:r>
            <a:r>
              <a:rPr lang="en-US" sz="2800" dirty="0" smtClean="0"/>
              <a:t> </a:t>
            </a:r>
            <a:r>
              <a:rPr lang="ru-RU" sz="2800" dirty="0" smtClean="0"/>
              <a:t> </a:t>
            </a:r>
            <a:r>
              <a:rPr lang="en-US" sz="2800" dirty="0" smtClean="0"/>
              <a:t>n </a:t>
            </a:r>
            <a:r>
              <a:rPr lang="ru-RU" sz="2800" dirty="0" smtClean="0"/>
              <a:t> </a:t>
            </a:r>
            <a:r>
              <a:rPr lang="en-US" sz="2800" b="1" dirty="0" smtClean="0"/>
              <a:t>in</a:t>
            </a:r>
            <a:r>
              <a:rPr lang="en-US" sz="2800" dirty="0" smtClean="0"/>
              <a:t> </a:t>
            </a:r>
            <a:r>
              <a:rPr lang="en-US" sz="2800" dirty="0"/>
              <a:t>numbers </a:t>
            </a:r>
            <a:endParaRPr lang="en-US" sz="2800" dirty="0" smtClean="0"/>
          </a:p>
          <a:p>
            <a:r>
              <a:rPr lang="en-US" sz="2800" b="1" dirty="0" smtClean="0"/>
              <a:t>    where </a:t>
            </a:r>
            <a:r>
              <a:rPr lang="ru-RU" sz="2800" b="1" dirty="0" smtClean="0"/>
              <a:t> </a:t>
            </a:r>
            <a:r>
              <a:rPr lang="en-US" sz="2800" dirty="0" smtClean="0"/>
              <a:t>(n % 2) == 0 </a:t>
            </a:r>
          </a:p>
          <a:p>
            <a:r>
              <a:rPr lang="en-US" sz="2800" b="1" dirty="0" smtClean="0"/>
              <a:t>    select </a:t>
            </a:r>
            <a:r>
              <a:rPr lang="ru-RU" sz="2800" b="1" dirty="0" smtClean="0"/>
              <a:t> </a:t>
            </a:r>
            <a:r>
              <a:rPr lang="en-US" sz="2800" dirty="0" smtClean="0"/>
              <a:t>n;</a:t>
            </a:r>
          </a:p>
          <a:p>
            <a:r>
              <a:rPr lang="en-US" sz="2800" dirty="0" smtClean="0"/>
              <a:t> </a:t>
            </a:r>
          </a:p>
          <a:p>
            <a:r>
              <a:rPr lang="en-US" sz="2800" dirty="0" err="1" smtClean="0"/>
              <a:t>foreach</a:t>
            </a:r>
            <a:r>
              <a:rPr lang="en-US" sz="2800" dirty="0" smtClean="0"/>
              <a:t> </a:t>
            </a:r>
            <a:r>
              <a:rPr lang="en-US" sz="2800" dirty="0"/>
              <a:t>(</a:t>
            </a: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ru-RU" sz="2800" dirty="0" smtClean="0"/>
              <a:t> </a:t>
            </a:r>
            <a:r>
              <a:rPr lang="en-US" sz="2800" dirty="0" err="1" smtClean="0"/>
              <a:t>intNum</a:t>
            </a:r>
            <a:r>
              <a:rPr lang="en-US" sz="2800" dirty="0" smtClean="0"/>
              <a:t> </a:t>
            </a:r>
            <a:r>
              <a:rPr lang="ru-RU" sz="2800" dirty="0" smtClean="0"/>
              <a:t> </a:t>
            </a:r>
            <a:r>
              <a:rPr lang="en-US" sz="2800" dirty="0" smtClean="0"/>
              <a:t>in </a:t>
            </a:r>
            <a:r>
              <a:rPr lang="ru-RU" sz="2800" dirty="0" smtClean="0"/>
              <a:t> </a:t>
            </a:r>
            <a:r>
              <a:rPr lang="en-US" sz="2800" dirty="0" smtClean="0"/>
              <a:t>query)          </a:t>
            </a:r>
            <a:endParaRPr lang="en-US" sz="2800" dirty="0"/>
          </a:p>
          <a:p>
            <a:r>
              <a:rPr lang="en-US" sz="2800" dirty="0"/>
              <a:t>    </a:t>
            </a:r>
            <a:r>
              <a:rPr lang="en-US" sz="2800" dirty="0" err="1" smtClean="0"/>
              <a:t>Console.WriteLine</a:t>
            </a:r>
            <a:r>
              <a:rPr lang="en-US" sz="2800" dirty="0" smtClean="0"/>
              <a:t>(</a:t>
            </a:r>
            <a:r>
              <a:rPr lang="en-US" sz="2800" dirty="0" err="1" smtClean="0"/>
              <a:t>intNum</a:t>
            </a:r>
            <a:r>
              <a:rPr lang="en-US" sz="2800" dirty="0" smtClean="0"/>
              <a:t>);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5705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1903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Примеры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34752" y="1352381"/>
            <a:ext cx="83137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/>
              <a:t>Вывести всех студентов, проживающих в Воронеже.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35" y="2132856"/>
            <a:ext cx="8421613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942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88640"/>
            <a:ext cx="43490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Лабораторная работа </a:t>
            </a:r>
            <a:r>
              <a:rPr lang="ru-RU" sz="3200" b="1" dirty="0">
                <a:solidFill>
                  <a:schemeClr val="tx2"/>
                </a:solidFill>
              </a:rPr>
              <a:t>9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73415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980728"/>
            <a:ext cx="86409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600" dirty="0" smtClean="0"/>
              <a:t>Вывести сведения о </a:t>
            </a:r>
            <a:r>
              <a:rPr lang="ru-RU" sz="2600" i="1" dirty="0" smtClean="0"/>
              <a:t>студентах</a:t>
            </a:r>
            <a:r>
              <a:rPr lang="ru-RU" sz="2600" dirty="0" smtClean="0"/>
              <a:t>, фамилии, либо имена которых начинаются на «И».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smtClean="0"/>
              <a:t>Вывести данные </a:t>
            </a:r>
            <a:r>
              <a:rPr lang="ru-RU" sz="2600" i="1" dirty="0" smtClean="0"/>
              <a:t>об оценках</a:t>
            </a:r>
            <a:r>
              <a:rPr lang="ru-RU" sz="2600" dirty="0" smtClean="0"/>
              <a:t> студентов второго курса, отсортированные по фамилии.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smtClean="0"/>
              <a:t>Вывести фамилии </a:t>
            </a:r>
            <a:r>
              <a:rPr lang="ru-RU" sz="2600" i="1" dirty="0" smtClean="0"/>
              <a:t>преподавателей </a:t>
            </a:r>
            <a:r>
              <a:rPr lang="ru-RU" sz="2600" dirty="0" smtClean="0"/>
              <a:t>и названия </a:t>
            </a:r>
            <a:r>
              <a:rPr lang="ru-RU" sz="2600" i="1" dirty="0" smtClean="0"/>
              <a:t>предметов </a:t>
            </a:r>
            <a:r>
              <a:rPr lang="ru-RU" sz="2600" dirty="0" smtClean="0"/>
              <a:t>которые они ведут.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Вывести фамилии и имена </a:t>
            </a:r>
            <a:r>
              <a:rPr lang="ru-RU" sz="2600" i="1" dirty="0"/>
              <a:t>студентов</a:t>
            </a:r>
            <a:r>
              <a:rPr lang="ru-RU" sz="2600" dirty="0"/>
              <a:t>, обучающихся на курсе не ниже 3 и </a:t>
            </a:r>
            <a:r>
              <a:rPr lang="ru-RU" sz="2600" dirty="0" smtClean="0"/>
              <a:t>получающих </a:t>
            </a:r>
            <a:r>
              <a:rPr lang="ru-RU" sz="2600" dirty="0"/>
              <a:t>наибольшую стипендию.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smtClean="0"/>
              <a:t>Рассчитать среднюю </a:t>
            </a:r>
            <a:r>
              <a:rPr lang="ru-RU" sz="2600" i="1" dirty="0" smtClean="0"/>
              <a:t>оценку </a:t>
            </a:r>
            <a:r>
              <a:rPr lang="ru-RU" sz="2600" dirty="0" smtClean="0"/>
              <a:t>студентов, полученную на экзамене по информатике. Результат округлить до первого знака после запятой.</a:t>
            </a:r>
            <a:endParaRPr lang="en-US" sz="2600" dirty="0" smtClean="0"/>
          </a:p>
          <a:p>
            <a:r>
              <a:rPr lang="ru-RU" sz="2400" i="1" dirty="0" smtClean="0"/>
              <a:t>Для решения заданий необходимо создать двумерные последовательности из таблиц со слайдов (42, 43).</a:t>
            </a:r>
          </a:p>
        </p:txBody>
      </p:sp>
    </p:spTree>
    <p:extLst>
      <p:ext uri="{BB962C8B-B14F-4D97-AF65-F5344CB8AC3E}">
        <p14:creationId xmlns:p14="http://schemas.microsoft.com/office/powerpoint/2010/main" val="165066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472" y="4505300"/>
            <a:ext cx="4208721" cy="1876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475656" y="704309"/>
            <a:ext cx="345638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/>
              <a:t>Студенты: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225654" y="4012857"/>
            <a:ext cx="457859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/>
              <a:t>Экзаменационные оценки: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b="23001"/>
          <a:stretch/>
        </p:blipFill>
        <p:spPr>
          <a:xfrm>
            <a:off x="1475656" y="1268760"/>
            <a:ext cx="6324600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94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483768" y="404664"/>
            <a:ext cx="345638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/>
              <a:t>Преподаватели: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699792" y="3429000"/>
            <a:ext cx="343349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/>
              <a:t>Предметы: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571"/>
          <a:stretch/>
        </p:blipFill>
        <p:spPr bwMode="auto">
          <a:xfrm>
            <a:off x="2699791" y="3921443"/>
            <a:ext cx="3845513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b="25592"/>
          <a:stretch/>
        </p:blipFill>
        <p:spPr>
          <a:xfrm>
            <a:off x="2267744" y="897107"/>
            <a:ext cx="4610100" cy="152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1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66538</TotalTime>
  <Words>1444</Words>
  <Application>Microsoft Office PowerPoint</Application>
  <PresentationFormat>Экран (4:3)</PresentationFormat>
  <Paragraphs>353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48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Задания 1: (Операторы условия)</dc:title>
  <dc:creator>Студент</dc:creator>
  <cp:lastModifiedBy>Евгения</cp:lastModifiedBy>
  <cp:revision>1107</cp:revision>
  <dcterms:created xsi:type="dcterms:W3CDTF">2013-01-22T14:12:12Z</dcterms:created>
  <dcterms:modified xsi:type="dcterms:W3CDTF">2026-03-20T02:56:14Z</dcterms:modified>
</cp:coreProperties>
</file>