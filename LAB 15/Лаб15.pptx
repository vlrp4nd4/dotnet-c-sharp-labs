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7" r:id="rId2"/>
    <p:sldId id="353" r:id="rId3"/>
    <p:sldId id="354" r:id="rId4"/>
    <p:sldId id="355" r:id="rId5"/>
    <p:sldId id="357" r:id="rId6"/>
    <p:sldId id="356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8" r:id="rId17"/>
    <p:sldId id="369" r:id="rId18"/>
    <p:sldId id="346" r:id="rId19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E6E715-88E3-4601-8FC7-51F808BA8E66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905CAB-4471-42D9-B6C0-0DD13E883A4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0725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67057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527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109901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60177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632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619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4091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936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452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0526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9934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9A4D37-A7D6-4DCD-B167-F53C2AACB884}" type="datetimeFigureOut">
              <a:rPr lang="ru-RU" smtClean="0"/>
              <a:t>24.04.2026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85573F-77F5-481B-B8BE-4F042D9738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30491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83568" y="1507425"/>
            <a:ext cx="7992888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3600" b="1" dirty="0" smtClean="0"/>
              <a:t>Сетевое программирование в </a:t>
            </a:r>
            <a:r>
              <a:rPr lang="en-US" sz="3600" b="1" dirty="0" smtClean="0"/>
              <a:t>.NET</a:t>
            </a:r>
          </a:p>
          <a:p>
            <a:endParaRPr lang="ru-RU" sz="3200" b="1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Сетевые протоколы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Протоколы электронной почты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Сокеты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Типы сокетов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Работа с сокетами в </a:t>
            </a:r>
            <a:r>
              <a:rPr lang="en-US" sz="3200" dirty="0" smtClean="0"/>
              <a:t>.NET</a:t>
            </a:r>
            <a:endParaRPr lang="ru-RU" sz="32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ru-RU" sz="3200" dirty="0" smtClean="0"/>
              <a:t>Создание приложения на потоковом сокете </a:t>
            </a:r>
            <a:r>
              <a:rPr lang="en-US" sz="3200" dirty="0" smtClean="0"/>
              <a:t>TCP</a:t>
            </a:r>
            <a:endParaRPr lang="ru-RU" sz="3200" dirty="0"/>
          </a:p>
        </p:txBody>
      </p:sp>
      <p:cxnSp>
        <p:nvCxnSpPr>
          <p:cNvPr id="3" name="Прямая соединительная линия 2"/>
          <p:cNvCxnSpPr/>
          <p:nvPr/>
        </p:nvCxnSpPr>
        <p:spPr>
          <a:xfrm>
            <a:off x="683568" y="2215316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69787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Семиуровневая модель </a:t>
            </a:r>
            <a:r>
              <a:rPr lang="en-US" sz="2800" dirty="0" smtClean="0"/>
              <a:t>OSI</a:t>
            </a:r>
            <a:r>
              <a:rPr lang="ru-RU" sz="2800" dirty="0" smtClean="0"/>
              <a:t> определяет модель </a:t>
            </a:r>
            <a:r>
              <a:rPr lang="ru-RU" sz="2800" dirty="0"/>
              <a:t>у</a:t>
            </a:r>
            <a:r>
              <a:rPr lang="ru-RU" sz="2800" dirty="0" smtClean="0"/>
              <a:t>ровней протоколов, их назначение и совместную работу.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6439" y="2811668"/>
            <a:ext cx="5471121" cy="37447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218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Internet Protocol (IP)</a:t>
            </a:r>
            <a:r>
              <a:rPr lang="ru-RU" sz="2800" dirty="0" smtClean="0"/>
              <a:t> соединяет два узла. Узел идентифицируется 32-битным адресом – </a:t>
            </a:r>
            <a:r>
              <a:rPr lang="en-US" sz="2800" b="1" dirty="0" smtClean="0"/>
              <a:t>IP-</a:t>
            </a:r>
            <a:r>
              <a:rPr lang="ru-RU" sz="2800" b="1" dirty="0" smtClean="0"/>
              <a:t>адресом</a:t>
            </a:r>
            <a:r>
              <a:rPr lang="ru-RU" sz="2800" dirty="0" smtClean="0"/>
              <a:t>.</a:t>
            </a:r>
          </a:p>
          <a:p>
            <a:r>
              <a:rPr lang="ru-RU" sz="2800" dirty="0" smtClean="0"/>
              <a:t>Например: 192.168.0.1.</a:t>
            </a:r>
          </a:p>
          <a:p>
            <a:endParaRPr lang="ru-RU" sz="2800" dirty="0" smtClean="0"/>
          </a:p>
          <a:p>
            <a:r>
              <a:rPr lang="ru-RU" sz="2800" dirty="0" smtClean="0"/>
              <a:t>Для указания конечной точки приложения вместе с </a:t>
            </a:r>
            <a:r>
              <a:rPr lang="en-US" sz="2800" dirty="0" smtClean="0"/>
              <a:t>IP</a:t>
            </a:r>
            <a:r>
              <a:rPr lang="ru-RU" sz="2800" dirty="0" smtClean="0"/>
              <a:t>-адресом протоколы </a:t>
            </a:r>
            <a:r>
              <a:rPr lang="en-US" sz="2800" dirty="0" smtClean="0"/>
              <a:t>TCP</a:t>
            </a:r>
            <a:r>
              <a:rPr lang="ru-RU" sz="2800" dirty="0" smtClean="0"/>
              <a:t> и </a:t>
            </a:r>
            <a:r>
              <a:rPr lang="en-US" sz="2800" dirty="0" smtClean="0"/>
              <a:t>UDP</a:t>
            </a:r>
            <a:r>
              <a:rPr lang="ru-RU" sz="2800" dirty="0" smtClean="0"/>
              <a:t> используют </a:t>
            </a:r>
            <a:r>
              <a:rPr lang="ru-RU" sz="2800" b="1" dirty="0" smtClean="0"/>
              <a:t>номер порта</a:t>
            </a:r>
            <a:r>
              <a:rPr lang="ru-RU" sz="2800" dirty="0" smtClean="0"/>
              <a:t>. </a:t>
            </a:r>
          </a:p>
          <a:p>
            <a:endParaRPr lang="ru-RU" sz="2800" dirty="0"/>
          </a:p>
          <a:p>
            <a:r>
              <a:rPr lang="ru-RU" sz="2800" dirty="0" smtClean="0"/>
              <a:t>Пользовательские номера портов: 1024 – 49151</a:t>
            </a:r>
            <a:endParaRPr lang="ru-RU" sz="28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6230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Протокол </a:t>
            </a:r>
            <a:r>
              <a:rPr lang="en-US" sz="2800" b="1" dirty="0" smtClean="0"/>
              <a:t>TCP</a:t>
            </a:r>
            <a:r>
              <a:rPr lang="ru-RU" sz="2800" b="1" dirty="0" smtClean="0"/>
              <a:t> </a:t>
            </a:r>
            <a:r>
              <a:rPr lang="ru-RU" sz="2800" dirty="0" smtClean="0"/>
              <a:t>(</a:t>
            </a:r>
            <a:r>
              <a:rPr lang="en-US" sz="2800" dirty="0"/>
              <a:t>T</a:t>
            </a:r>
            <a:r>
              <a:rPr lang="en-US" sz="2800" dirty="0" smtClean="0"/>
              <a:t>ransmission Control Protocol</a:t>
            </a:r>
            <a:r>
              <a:rPr lang="ru-RU" sz="2800" dirty="0" smtClean="0"/>
              <a:t>)</a:t>
            </a:r>
            <a:r>
              <a:rPr lang="ru-RU" sz="2800" b="1" dirty="0" smtClean="0"/>
              <a:t> </a:t>
            </a:r>
            <a:r>
              <a:rPr lang="ru-RU" sz="2800" dirty="0" smtClean="0"/>
              <a:t>использует надежную связь для обмена данными, ориентированными на соединение.</a:t>
            </a:r>
          </a:p>
          <a:p>
            <a:endParaRPr lang="ru-RU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/>
              <a:t>П</a:t>
            </a:r>
            <a:r>
              <a:rPr lang="ru-RU" sz="2800" dirty="0" smtClean="0"/>
              <a:t>одтверждение о получении данных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Запрос на повторную передачу, если данные не получены или искажены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39837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 smtClean="0"/>
              <a:t>Установка соединения перед отправкой сообщений</a:t>
            </a:r>
          </a:p>
          <a:p>
            <a:endParaRPr lang="en-US" sz="2400" b="1" dirty="0" smtClean="0"/>
          </a:p>
          <a:p>
            <a:pPr marL="457200" indent="-457200">
              <a:buAutoNum type="arabicPeriod"/>
            </a:pPr>
            <a:r>
              <a:rPr lang="ru-RU" sz="2400" dirty="0" smtClean="0"/>
              <a:t>Сервер открывает (пассивное) соединение и переходит в режим ожидания входящих сообщений.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Клиентское приложение выполняет (активное) соединение и отправляет серверу порядковый номер соединения (</a:t>
            </a:r>
            <a:r>
              <a:rPr lang="en-US" sz="2400" dirty="0" smtClean="0"/>
              <a:t>SYN</a:t>
            </a:r>
            <a:r>
              <a:rPr lang="ru-RU" sz="2400" dirty="0" smtClean="0"/>
              <a:t>).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Сервер отправляет подтверждение </a:t>
            </a:r>
            <a:r>
              <a:rPr lang="en-US" sz="2400" dirty="0" smtClean="0"/>
              <a:t>(ACK)</a:t>
            </a:r>
            <a:r>
              <a:rPr lang="ru-RU" sz="2400" dirty="0" smtClean="0"/>
              <a:t> вместе с порядковым номером сервера</a:t>
            </a:r>
            <a:r>
              <a:rPr lang="en-US" sz="2400" dirty="0" smtClean="0"/>
              <a:t> (SYN)</a:t>
            </a:r>
            <a:r>
              <a:rPr lang="ru-RU" sz="2400" dirty="0" smtClean="0"/>
              <a:t>.</a:t>
            </a:r>
          </a:p>
          <a:p>
            <a:pPr marL="457200" indent="-457200">
              <a:buAutoNum type="arabicPeriod"/>
            </a:pPr>
            <a:r>
              <a:rPr lang="ru-RU" sz="2400" dirty="0" smtClean="0"/>
              <a:t>Клиент отвечает </a:t>
            </a:r>
            <a:r>
              <a:rPr lang="en-US" sz="2400" dirty="0"/>
              <a:t>(ACK) </a:t>
            </a:r>
            <a:r>
              <a:rPr lang="ru-RU" sz="2400" dirty="0" smtClean="0"/>
              <a:t>и соединение устанавливается.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3519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Протокол </a:t>
            </a:r>
            <a:r>
              <a:rPr lang="en-US" sz="2800" b="1" dirty="0" smtClean="0"/>
              <a:t>UDP </a:t>
            </a:r>
            <a:r>
              <a:rPr lang="en-US" sz="2800" dirty="0" smtClean="0"/>
              <a:t>(User </a:t>
            </a:r>
            <a:r>
              <a:rPr lang="en-US" sz="2800" dirty="0" err="1" smtClean="0"/>
              <a:t>Datagtam</a:t>
            </a:r>
            <a:r>
              <a:rPr lang="en-US" sz="2800" dirty="0" smtClean="0"/>
              <a:t> Protocol)</a:t>
            </a:r>
            <a:r>
              <a:rPr lang="ru-RU" sz="2800" b="1" dirty="0" smtClean="0"/>
              <a:t> </a:t>
            </a:r>
            <a:r>
              <a:rPr lang="ru-RU" sz="2800" dirty="0" smtClean="0"/>
              <a:t>– это быстрый протокол, не гарантирующий доставки.</a:t>
            </a:r>
          </a:p>
          <a:p>
            <a:endParaRPr lang="ru-RU" sz="2800" dirty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Не требует открытия соединения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Не отправляет подтверждения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Доставка данных не гарантируется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Данные могут приходить в разном порядке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8283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Однонаправленная передача (</a:t>
            </a:r>
            <a:r>
              <a:rPr lang="en-US" sz="2800" dirty="0" smtClean="0"/>
              <a:t>unicast</a:t>
            </a:r>
            <a:r>
              <a:rPr lang="ru-RU" sz="2800" dirty="0" smtClean="0"/>
              <a:t>) – связь точка-точка</a:t>
            </a:r>
            <a:endParaRPr lang="en-US" sz="2800" dirty="0" smtClean="0"/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Широковещательная передача</a:t>
            </a:r>
            <a:r>
              <a:rPr lang="en-US" sz="2800" dirty="0" smtClean="0"/>
              <a:t> (broadcast)</a:t>
            </a:r>
            <a:r>
              <a:rPr lang="ru-RU" sz="2800" dirty="0" smtClean="0"/>
              <a:t> – всем узлам сети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ru-RU" sz="2800" dirty="0" smtClean="0"/>
              <a:t>Групповая рассылка</a:t>
            </a:r>
            <a:r>
              <a:rPr lang="en-US" sz="2800" dirty="0" smtClean="0"/>
              <a:t> (</a:t>
            </a:r>
            <a:r>
              <a:rPr lang="en-US" sz="2800" dirty="0" err="1" smtClean="0"/>
              <a:t>milticast</a:t>
            </a:r>
            <a:r>
              <a:rPr lang="en-US" sz="2800" dirty="0" smtClean="0"/>
              <a:t>)</a:t>
            </a:r>
            <a:r>
              <a:rPr lang="ru-RU" sz="2800" dirty="0" smtClean="0"/>
              <a:t> – выбранным группам узлов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925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Заголовок </a:t>
            </a:r>
            <a:r>
              <a:rPr lang="en-US" sz="2800" b="1" dirty="0" smtClean="0"/>
              <a:t>UDP</a:t>
            </a:r>
            <a:endParaRPr lang="ru-RU" sz="28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36240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Сетевые протоколы</a:t>
            </a:r>
            <a:endParaRPr lang="ru-RU" sz="3200" dirty="0">
              <a:solidFill>
                <a:schemeClr val="tx2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2263089"/>
              </p:ext>
            </p:extLst>
          </p:nvPr>
        </p:nvGraphicFramePr>
        <p:xfrm>
          <a:off x="539552" y="2168495"/>
          <a:ext cx="8136903" cy="32767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25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9987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Длина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Поле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38761">
                <a:tc>
                  <a:txBody>
                    <a:bodyPr/>
                    <a:lstStyle/>
                    <a:p>
                      <a:r>
                        <a:rPr lang="ru-RU" dirty="0" smtClean="0"/>
                        <a:t>2 байта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Порт источника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Указание порта источника необязательно. Если</a:t>
                      </a:r>
                      <a:r>
                        <a:rPr lang="ru-RU" baseline="0" dirty="0" smtClean="0"/>
                        <a:t> это поле используется, получатель может отправить ответ этому порту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3265">
                <a:tc>
                  <a:txBody>
                    <a:bodyPr/>
                    <a:lstStyle/>
                    <a:p>
                      <a:r>
                        <a:rPr lang="ru-RU" dirty="0" smtClean="0"/>
                        <a:t>2 байта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Порт назначения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Номер</a:t>
                      </a:r>
                      <a:r>
                        <a:rPr lang="ru-RU" baseline="0" dirty="0" smtClean="0"/>
                        <a:t> порта назначения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0379">
                <a:tc>
                  <a:txBody>
                    <a:bodyPr/>
                    <a:lstStyle/>
                    <a:p>
                      <a:r>
                        <a:rPr lang="ru-RU" dirty="0" smtClean="0"/>
                        <a:t>2 байта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Длина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Длина сообщения, включая заголовок и данные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64">
                <a:tc>
                  <a:txBody>
                    <a:bodyPr/>
                    <a:lstStyle/>
                    <a:p>
                      <a:r>
                        <a:rPr lang="ru-RU" dirty="0" smtClean="0"/>
                        <a:t>2 байта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Контрольная сумма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Контрольная сумма заголовка и данных для проверки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21599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SMTP</a:t>
            </a:r>
            <a:r>
              <a:rPr lang="ru-RU" sz="2400" dirty="0" smtClean="0"/>
              <a:t> (</a:t>
            </a:r>
            <a:r>
              <a:rPr lang="en-US" sz="2400" dirty="0" smtClean="0"/>
              <a:t>Simple Mail Transfer Protocol</a:t>
            </a:r>
            <a:r>
              <a:rPr lang="ru-RU" sz="2400" dirty="0" smtClean="0"/>
              <a:t>) – это протокол, предназначенный для отправки и получения сообщений электронной почты.</a:t>
            </a:r>
            <a:endParaRPr lang="en-US" sz="2400" dirty="0" smtClean="0"/>
          </a:p>
          <a:p>
            <a:endParaRPr lang="en-US" sz="2400" dirty="0"/>
          </a:p>
          <a:p>
            <a:r>
              <a:rPr lang="en-US" sz="2400" b="1" dirty="0" smtClean="0"/>
              <a:t>POP</a:t>
            </a:r>
            <a:r>
              <a:rPr lang="ru-RU" sz="2400" b="1" dirty="0" smtClean="0"/>
              <a:t>3</a:t>
            </a:r>
            <a:r>
              <a:rPr lang="ru-RU" sz="2400" dirty="0" smtClean="0"/>
              <a:t> (</a:t>
            </a:r>
            <a:r>
              <a:rPr lang="en-US" sz="2400" dirty="0" smtClean="0"/>
              <a:t>Post Office Protocol</a:t>
            </a:r>
            <a:r>
              <a:rPr lang="ru-RU" sz="2400" dirty="0" smtClean="0"/>
              <a:t>) –</a:t>
            </a:r>
            <a:r>
              <a:rPr lang="en-US" sz="2400" dirty="0" smtClean="0"/>
              <a:t> </a:t>
            </a:r>
            <a:r>
              <a:rPr lang="ru-RU" sz="2400" dirty="0" smtClean="0"/>
              <a:t>предназначен для чтения </a:t>
            </a:r>
            <a:r>
              <a:rPr lang="ru-RU" sz="2400" dirty="0"/>
              <a:t>сообщений с сервера </a:t>
            </a:r>
            <a:r>
              <a:rPr lang="ru-RU" sz="2400" dirty="0" smtClean="0"/>
              <a:t>в отсоединенной среде.</a:t>
            </a:r>
          </a:p>
          <a:p>
            <a:endParaRPr lang="ru-RU" sz="2400" dirty="0"/>
          </a:p>
          <a:p>
            <a:r>
              <a:rPr lang="en-US" sz="2400" b="1" dirty="0" smtClean="0"/>
              <a:t>IMAP</a:t>
            </a:r>
            <a:r>
              <a:rPr lang="ru-RU" sz="2400" dirty="0" smtClean="0"/>
              <a:t> </a:t>
            </a:r>
            <a:r>
              <a:rPr lang="en-US" sz="2400" dirty="0" smtClean="0"/>
              <a:t>(Internet Message Access Protocol)</a:t>
            </a:r>
            <a:r>
              <a:rPr lang="ru-RU" sz="2400" dirty="0" smtClean="0"/>
              <a:t> – предназначен для доступа к почте на почтовом сервере.</a:t>
            </a:r>
          </a:p>
          <a:p>
            <a:endParaRPr lang="ru-RU" sz="2400" dirty="0"/>
          </a:p>
          <a:p>
            <a:r>
              <a:rPr lang="en-US" sz="2400" b="1" dirty="0" smtClean="0"/>
              <a:t>NNTP</a:t>
            </a:r>
            <a:r>
              <a:rPr lang="ru-RU" sz="2400" dirty="0" smtClean="0"/>
              <a:t> </a:t>
            </a:r>
            <a:r>
              <a:rPr lang="en-US" sz="2400" dirty="0" smtClean="0"/>
              <a:t>(Network News Transfer Protocol) </a:t>
            </a:r>
            <a:r>
              <a:rPr lang="ru-RU" sz="2400" dirty="0" smtClean="0"/>
              <a:t>–</a:t>
            </a:r>
            <a:r>
              <a:rPr lang="en-US" sz="2400" dirty="0" smtClean="0"/>
              <a:t> </a:t>
            </a:r>
            <a:r>
              <a:rPr lang="ru-RU" sz="2400" dirty="0" smtClean="0"/>
              <a:t>обеспечивает приложения клиенты доступом к серверу новостей.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560454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Протоколы электронной почты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8979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Windows</a:t>
            </a:r>
            <a:r>
              <a:rPr lang="ru-RU" sz="2400" b="1" dirty="0"/>
              <a:t> </a:t>
            </a:r>
            <a:r>
              <a:rPr lang="en-US" sz="2400" b="1" dirty="0" smtClean="0"/>
              <a:t>So</a:t>
            </a:r>
            <a:r>
              <a:rPr lang="ru-RU" sz="2400" b="1" dirty="0" smtClean="0"/>
              <a:t>с</a:t>
            </a:r>
            <a:r>
              <a:rPr lang="en-US" sz="2400" b="1" dirty="0" err="1" smtClean="0"/>
              <a:t>kets</a:t>
            </a:r>
            <a:r>
              <a:rPr lang="en-US" sz="2400" b="1" dirty="0" smtClean="0"/>
              <a:t> </a:t>
            </a:r>
            <a:r>
              <a:rPr lang="en-US" sz="2400" dirty="0" smtClean="0"/>
              <a:t>– </a:t>
            </a:r>
            <a:r>
              <a:rPr lang="ru-RU" sz="2400" dirty="0" smtClean="0"/>
              <a:t>это независимый от протокола программный интерфейс для написания сетевых приложений.</a:t>
            </a:r>
          </a:p>
          <a:p>
            <a:endParaRPr lang="ru-RU" sz="2400" dirty="0" smtClean="0"/>
          </a:p>
          <a:p>
            <a:r>
              <a:rPr lang="ru-RU" sz="2400" b="1" dirty="0" smtClean="0"/>
              <a:t>Сокет </a:t>
            </a:r>
            <a:r>
              <a:rPr lang="ru-RU" sz="2400" dirty="0" smtClean="0"/>
              <a:t>– это один конец двустороннего канала связи между двумя программами, работающими в сети.</a:t>
            </a:r>
          </a:p>
          <a:p>
            <a:endParaRPr lang="ru-RU" sz="2400" dirty="0" smtClean="0"/>
          </a:p>
          <a:p>
            <a:r>
              <a:rPr lang="ru-RU" sz="2400" dirty="0" smtClean="0"/>
              <a:t>Разработаны в Калифорнийском университете в Беркли.</a:t>
            </a:r>
          </a:p>
          <a:p>
            <a:endParaRPr lang="ru-RU" sz="2400" dirty="0"/>
          </a:p>
          <a:p>
            <a:r>
              <a:rPr lang="ru-RU" sz="2400" dirty="0" smtClean="0"/>
              <a:t>Передача сообщений – это процесс отправки сообщений от клиента серверу.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1441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Сокеты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900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405220"/>
            <a:ext cx="8352928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 smtClean="0"/>
              <a:t>Типы сокетов</a:t>
            </a:r>
          </a:p>
          <a:p>
            <a:endParaRPr lang="ru-RU" sz="2800" b="1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ru-RU" sz="2800" dirty="0" smtClean="0"/>
              <a:t>Потоковые – это сокет с установленным соединением, состоящий из потока байт. Может быть двунаправленным.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800" dirty="0" err="1" smtClean="0"/>
              <a:t>Дейтаграммные</a:t>
            </a:r>
            <a:r>
              <a:rPr lang="ru-RU" sz="2800" dirty="0" smtClean="0"/>
              <a:t> – это сокет без организации соединения.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ru-RU" sz="2800" dirty="0" smtClean="0"/>
              <a:t>Сырые – это сокет, который принимает пакеты, обходит уровни </a:t>
            </a:r>
            <a:r>
              <a:rPr lang="en-US" sz="2800" dirty="0" smtClean="0"/>
              <a:t>TCP</a:t>
            </a:r>
            <a:r>
              <a:rPr lang="ru-RU" sz="2800" dirty="0"/>
              <a:t> </a:t>
            </a:r>
            <a:r>
              <a:rPr lang="ru-RU" sz="2800" dirty="0" smtClean="0"/>
              <a:t>и </a:t>
            </a:r>
            <a:r>
              <a:rPr lang="en-US" sz="2800" dirty="0" smtClean="0"/>
              <a:t>UDP</a:t>
            </a:r>
            <a:r>
              <a:rPr lang="ru-RU" sz="2800" dirty="0" smtClean="0"/>
              <a:t> и отправляет их непосредственно приложению.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1441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Сокеты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832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970837"/>
            <a:ext cx="8352928" cy="523220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Клиент </a:t>
            </a:r>
            <a:r>
              <a:rPr lang="ru-RU" sz="2800" dirty="0" smtClean="0"/>
              <a:t>Запрос соединения </a:t>
            </a:r>
            <a:r>
              <a:rPr lang="ru-RU" sz="2800" b="1" dirty="0" smtClean="0"/>
              <a:t>–</a:t>
            </a:r>
            <a:r>
              <a:rPr lang="en-US" sz="2800" b="1" dirty="0" smtClean="0"/>
              <a:t>&gt;</a:t>
            </a:r>
            <a:r>
              <a:rPr lang="ru-RU" sz="2800" b="1" dirty="0" smtClean="0"/>
              <a:t> </a:t>
            </a:r>
            <a:r>
              <a:rPr lang="ru-RU" sz="2800" dirty="0" smtClean="0"/>
              <a:t>(Порт)</a:t>
            </a:r>
            <a:r>
              <a:rPr lang="ru-RU" sz="2800" b="1" dirty="0" smtClean="0"/>
              <a:t> Сервер</a:t>
            </a:r>
            <a:endParaRPr lang="ru-RU" sz="2800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144142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Сокеты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3050957"/>
            <a:ext cx="8352928" cy="954107"/>
          </a:xfrm>
          <a:prstGeom prst="rect">
            <a:avLst/>
          </a:prstGeom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Клиент </a:t>
            </a:r>
            <a:r>
              <a:rPr lang="en-US" sz="2800" dirty="0" smtClean="0"/>
              <a:t>(</a:t>
            </a:r>
            <a:r>
              <a:rPr lang="ru-RU" sz="2800" dirty="0" smtClean="0"/>
              <a:t>Порт</a:t>
            </a:r>
            <a:r>
              <a:rPr lang="en-US" sz="2800" dirty="0" smtClean="0"/>
              <a:t>)</a:t>
            </a:r>
            <a:r>
              <a:rPr lang="ru-RU" sz="2800" dirty="0" smtClean="0"/>
              <a:t> Начало </a:t>
            </a:r>
            <a:r>
              <a:rPr lang="ru-RU" sz="2800" dirty="0" err="1" smtClean="0"/>
              <a:t>взаимодейств</a:t>
            </a:r>
            <a:r>
              <a:rPr lang="ru-RU" sz="2800" dirty="0" smtClean="0"/>
              <a:t>. </a:t>
            </a:r>
            <a:r>
              <a:rPr lang="en-US" sz="2800" dirty="0" smtClean="0"/>
              <a:t>&lt;</a:t>
            </a:r>
            <a:r>
              <a:rPr lang="ru-RU" sz="2800" b="1" dirty="0" smtClean="0"/>
              <a:t>––</a:t>
            </a:r>
            <a:r>
              <a:rPr lang="en-US" sz="2800" b="1" dirty="0" smtClean="0"/>
              <a:t>&gt;</a:t>
            </a:r>
            <a:r>
              <a:rPr lang="ru-RU" sz="2800" b="1" dirty="0" smtClean="0"/>
              <a:t> </a:t>
            </a:r>
            <a:r>
              <a:rPr lang="ru-RU" sz="2800" dirty="0" smtClean="0"/>
              <a:t>(Порт)</a:t>
            </a:r>
            <a:r>
              <a:rPr lang="ru-RU" sz="2800" b="1" dirty="0" smtClean="0"/>
              <a:t> Сервер</a:t>
            </a:r>
            <a:endParaRPr lang="ru-RU" sz="2800" dirty="0" smtClean="0"/>
          </a:p>
        </p:txBody>
      </p:sp>
    </p:spTree>
    <p:extLst>
      <p:ext uri="{BB962C8B-B14F-4D97-AF65-F5344CB8AC3E}">
        <p14:creationId xmlns:p14="http://schemas.microsoft.com/office/powerpoint/2010/main" val="39594872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249596"/>
            <a:ext cx="8352928" cy="52322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en-US" sz="2800" b="1" dirty="0" err="1" smtClean="0"/>
              <a:t>System.Net.Sockets</a:t>
            </a:r>
            <a:endParaRPr lang="en-US" sz="28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45241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Работа с сокетами в </a:t>
            </a:r>
            <a:r>
              <a:rPr lang="en-US" sz="3200" dirty="0" smtClean="0">
                <a:solidFill>
                  <a:schemeClr val="tx2"/>
                </a:solidFill>
              </a:rPr>
              <a:t>.NET</a:t>
            </a:r>
            <a:endParaRPr lang="ru-RU" sz="3200" dirty="0">
              <a:solidFill>
                <a:schemeClr val="tx2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1900047"/>
              </p:ext>
            </p:extLst>
          </p:nvPr>
        </p:nvGraphicFramePr>
        <p:xfrm>
          <a:off x="395536" y="1988840"/>
          <a:ext cx="8424936" cy="4792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Класс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MulticastOption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Устанавливает</a:t>
                      </a:r>
                      <a:r>
                        <a:rPr lang="ru-RU" baseline="0" dirty="0" smtClean="0"/>
                        <a:t> значение </a:t>
                      </a:r>
                      <a:r>
                        <a:rPr lang="en-US" baseline="0" dirty="0" smtClean="0"/>
                        <a:t>IP-</a:t>
                      </a:r>
                      <a:r>
                        <a:rPr lang="ru-RU" baseline="0" dirty="0" smtClean="0"/>
                        <a:t>адреса для присоединения к </a:t>
                      </a:r>
                      <a:r>
                        <a:rPr lang="en-US" baseline="0" dirty="0" smtClean="0"/>
                        <a:t>IP-</a:t>
                      </a:r>
                      <a:r>
                        <a:rPr lang="ru-RU" baseline="0" dirty="0" smtClean="0"/>
                        <a:t>группе или для выхода их нее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NetworkStream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Реализует базовый класс потока, из которого данные отправляются и в котором</a:t>
                      </a:r>
                      <a:r>
                        <a:rPr lang="ru-RU" baseline="0" dirty="0" smtClean="0"/>
                        <a:t> они получаются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TcpClient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Предоставляет несколько методов для отправки и получения данных через сеть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TcpListener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Ожидает</a:t>
                      </a:r>
                      <a:r>
                        <a:rPr lang="ru-RU" baseline="0" dirty="0" smtClean="0"/>
                        <a:t> входящие запросы на сервере на соединение от клиентов и уведомляет приложение о любых соединениях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UdpClient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Предназначен</a:t>
                      </a:r>
                      <a:r>
                        <a:rPr lang="ru-RU" baseline="0" dirty="0" smtClean="0"/>
                        <a:t> для реализации </a:t>
                      </a:r>
                      <a:r>
                        <a:rPr lang="en-US" baseline="0" dirty="0" smtClean="0"/>
                        <a:t>UDP</a:t>
                      </a:r>
                      <a:r>
                        <a:rPr lang="ru-RU" baseline="0" dirty="0" smtClean="0"/>
                        <a:t>-обслуживания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SocketException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Порождает исключение при возникновении ошибки в сокете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smtClean="0"/>
                        <a:t>Socket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Обеспечивает базовую функциональность приложения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95575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249596"/>
            <a:ext cx="8352928" cy="52322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Свойства класса </a:t>
            </a:r>
            <a:r>
              <a:rPr lang="en-US" sz="2800" b="1" dirty="0" err="1" smtClean="0"/>
              <a:t>System.Net.Sockets.Socket</a:t>
            </a:r>
            <a:endParaRPr lang="en-US" sz="2800" b="1" dirty="0" smtClean="0"/>
          </a:p>
        </p:txBody>
      </p:sp>
      <p:sp>
        <p:nvSpPr>
          <p:cNvPr id="5" name="Прямоугольник 4"/>
          <p:cNvSpPr/>
          <p:nvPr/>
        </p:nvSpPr>
        <p:spPr>
          <a:xfrm>
            <a:off x="1043608" y="477253"/>
            <a:ext cx="45241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Работа с сокетами в </a:t>
            </a:r>
            <a:r>
              <a:rPr lang="en-US" sz="3200" dirty="0" smtClean="0">
                <a:solidFill>
                  <a:schemeClr val="tx2"/>
                </a:solidFill>
              </a:rPr>
              <a:t>.NET</a:t>
            </a:r>
            <a:endParaRPr lang="ru-RU" sz="3200" dirty="0">
              <a:solidFill>
                <a:schemeClr val="tx2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6436276"/>
              </p:ext>
            </p:extLst>
          </p:nvPr>
        </p:nvGraphicFramePr>
        <p:xfrm>
          <a:off x="395536" y="1988840"/>
          <a:ext cx="8424936" cy="4628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87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58062"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Свойство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 smtClean="0"/>
                        <a:t>Описание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AddressFamily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Дает семейство адресов сокета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smtClean="0"/>
                        <a:t>Available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Возвращает объем доступных для чтения данных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smtClean="0"/>
                        <a:t>Blocking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Дает или устанавливает значение, показывающее, находится ли сокет в блокирующем режиме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smtClean="0"/>
                        <a:t>Connected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Возвращает информацию о соединении сокета с удаленным хостом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LocalEndPoint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Дает локальную конечную точку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ProtocolType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Дает удаленную точку сокета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RemoteEndPoint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 smtClean="0"/>
                        <a:t>Дает тип сокета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515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1043608" y="477253"/>
            <a:ext cx="452418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Работа с сокетами в </a:t>
            </a:r>
            <a:r>
              <a:rPr lang="en-US" sz="3200" dirty="0" smtClean="0">
                <a:solidFill>
                  <a:schemeClr val="tx2"/>
                </a:solidFill>
              </a:rPr>
              <a:t>.NET</a:t>
            </a:r>
            <a:endParaRPr lang="ru-RU" sz="3200" dirty="0">
              <a:solidFill>
                <a:schemeClr val="tx2"/>
              </a:solidFill>
            </a:endParaRP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2163700"/>
              </p:ext>
            </p:extLst>
          </p:nvPr>
        </p:nvGraphicFramePr>
        <p:xfrm>
          <a:off x="395536" y="1772816"/>
          <a:ext cx="8424936" cy="4950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22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52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0040"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Методы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dirty="0" smtClean="0"/>
                        <a:t>Описание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005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Accept()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Создает новый сокет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4046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Bind()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Связывает сокет с </a:t>
                      </a:r>
                      <a:r>
                        <a:rPr lang="ru-RU" sz="1600" dirty="0" err="1" smtClean="0"/>
                        <a:t>лок</a:t>
                      </a:r>
                      <a:r>
                        <a:rPr lang="ru-RU" sz="1600" dirty="0" smtClean="0"/>
                        <a:t>. точкой для ожидания запросов на соединение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806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Close()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Закрывает</a:t>
                      </a:r>
                      <a:r>
                        <a:rPr lang="ru-RU" sz="1600" baseline="0" dirty="0" smtClean="0"/>
                        <a:t> сокет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8992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Connect()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Устанавливает соединение с удаленным хостом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Listen()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Помещает сокет</a:t>
                      </a:r>
                      <a:r>
                        <a:rPr lang="ru-RU" sz="1600" baseline="0" dirty="0" smtClean="0"/>
                        <a:t> в режим прослушивания (ожидания)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Receive()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Получает данные от соединенного сокета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Poll()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Определяет статус сокета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Select()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Проверяет статус одного или нескольких сокетов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Send()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Отправляет данные удаленному сокету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err="1" smtClean="0"/>
                        <a:t>SetSocketOption</a:t>
                      </a:r>
                      <a:r>
                        <a:rPr lang="en-US" sz="1600" dirty="0" smtClean="0"/>
                        <a:t>()/</a:t>
                      </a:r>
                      <a:r>
                        <a:rPr lang="en-US" sz="1600" dirty="0" err="1" smtClean="0"/>
                        <a:t>GetSocketOption</a:t>
                      </a:r>
                      <a:r>
                        <a:rPr lang="en-US" sz="1600" dirty="0" smtClean="0"/>
                        <a:t>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Устанавливает/возвращает</a:t>
                      </a:r>
                      <a:r>
                        <a:rPr lang="ru-RU" sz="1600" baseline="0" dirty="0" smtClean="0"/>
                        <a:t> опцию сокета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00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Shutdown()</a:t>
                      </a:r>
                      <a:endParaRPr lang="ru-RU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dirty="0" smtClean="0"/>
                        <a:t>Запрещает операции отправки и получения данных на сокете</a:t>
                      </a:r>
                      <a:endParaRPr lang="ru-RU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7" name="Прямоугольник 6"/>
          <p:cNvSpPr/>
          <p:nvPr/>
        </p:nvSpPr>
        <p:spPr>
          <a:xfrm>
            <a:off x="395536" y="1196752"/>
            <a:ext cx="8352928" cy="52322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Методы класса </a:t>
            </a:r>
            <a:r>
              <a:rPr lang="en-US" sz="2800" b="1" dirty="0" err="1" smtClean="0"/>
              <a:t>System.Net.Sockets.Socket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419599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477253"/>
            <a:ext cx="85806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Создание приложения на потоковом сокете </a:t>
            </a:r>
            <a:r>
              <a:rPr lang="en-US" sz="3200" dirty="0" smtClean="0">
                <a:solidFill>
                  <a:schemeClr val="tx2"/>
                </a:solidFill>
              </a:rPr>
              <a:t>TCP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1473746"/>
            <a:ext cx="8352928" cy="3539430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Серверная часть приложения </a:t>
            </a:r>
            <a:r>
              <a:rPr lang="ru-RU" sz="2800" dirty="0" smtClean="0"/>
              <a:t>(см. </a:t>
            </a:r>
            <a:r>
              <a:rPr lang="en-US" sz="2800" dirty="0" err="1" smtClean="0"/>
              <a:t>Server.cs</a:t>
            </a:r>
            <a:r>
              <a:rPr lang="ru-RU" sz="2800" dirty="0" smtClean="0"/>
              <a:t>)</a:t>
            </a:r>
          </a:p>
          <a:p>
            <a:endParaRPr lang="ru-RU" sz="2800" b="1" dirty="0" smtClean="0"/>
          </a:p>
          <a:p>
            <a:pPr marL="514350" indent="-514350">
              <a:buAutoNum type="arabicPeriod"/>
            </a:pPr>
            <a:r>
              <a:rPr lang="ru-RU" sz="2800" dirty="0" smtClean="0"/>
              <a:t>Открываем сокет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Назначаем сокет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Слушаем входящие соединения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Соглашаемся на соединение с клиентом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Отправляем (получаем) данные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Закрываем сокет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153459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5" name="Прямоугольник 4"/>
          <p:cNvSpPr/>
          <p:nvPr/>
        </p:nvSpPr>
        <p:spPr>
          <a:xfrm>
            <a:off x="395536" y="477253"/>
            <a:ext cx="85806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Создание приложения на потоковом сокете </a:t>
            </a:r>
            <a:r>
              <a:rPr lang="en-US" sz="3200" dirty="0" smtClean="0">
                <a:solidFill>
                  <a:schemeClr val="tx2"/>
                </a:solidFill>
              </a:rPr>
              <a:t>TCP</a:t>
            </a:r>
            <a:endParaRPr lang="ru-RU" sz="3200" dirty="0">
              <a:solidFill>
                <a:schemeClr val="tx2"/>
              </a:solidFill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395536" y="1471424"/>
            <a:ext cx="8352928" cy="2677656"/>
          </a:xfrm>
          <a:prstGeom prst="rect">
            <a:avLst/>
          </a:prstGeom>
          <a:ln w="19050">
            <a:noFill/>
          </a:ln>
        </p:spPr>
        <p:txBody>
          <a:bodyPr wrap="square">
            <a:spAutoFit/>
          </a:bodyPr>
          <a:lstStyle/>
          <a:p>
            <a:r>
              <a:rPr lang="ru-RU" sz="2800" b="1" dirty="0" smtClean="0"/>
              <a:t>Клиентская часть приложения</a:t>
            </a:r>
            <a:r>
              <a:rPr lang="en-US" sz="2800" b="1" dirty="0" smtClean="0"/>
              <a:t> </a:t>
            </a:r>
            <a:r>
              <a:rPr lang="en-US" sz="2800" dirty="0" smtClean="0"/>
              <a:t>(</a:t>
            </a:r>
            <a:r>
              <a:rPr lang="ru-RU" sz="2800" dirty="0" smtClean="0"/>
              <a:t>см. </a:t>
            </a:r>
            <a:r>
              <a:rPr lang="en-US" sz="2800" dirty="0" err="1" smtClean="0"/>
              <a:t>Client.cs</a:t>
            </a:r>
            <a:r>
              <a:rPr lang="en-US" sz="2800" dirty="0" smtClean="0"/>
              <a:t>)</a:t>
            </a:r>
            <a:endParaRPr lang="ru-RU" sz="2800" b="1" dirty="0" smtClean="0"/>
          </a:p>
          <a:p>
            <a:endParaRPr lang="ru-RU" sz="2800" b="1" dirty="0" smtClean="0"/>
          </a:p>
          <a:p>
            <a:pPr marL="514350" indent="-514350">
              <a:buAutoNum type="arabicPeriod"/>
            </a:pPr>
            <a:r>
              <a:rPr lang="ru-RU" sz="2800" dirty="0" smtClean="0"/>
              <a:t>Открываем сокет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Соединяемся с удаленным сокетом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Отправляем (получаем) данные</a:t>
            </a:r>
          </a:p>
          <a:p>
            <a:pPr marL="514350" indent="-514350">
              <a:buAutoNum type="arabicPeriod"/>
            </a:pPr>
            <a:r>
              <a:rPr lang="ru-RU" sz="2800" dirty="0" smtClean="0"/>
              <a:t>Закрываем сокет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96124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Прямая соединительная линия 4"/>
          <p:cNvCxnSpPr/>
          <p:nvPr/>
        </p:nvCxnSpPr>
        <p:spPr>
          <a:xfrm>
            <a:off x="683568" y="1062028"/>
            <a:ext cx="7992888" cy="0"/>
          </a:xfrm>
          <a:prstGeom prst="line">
            <a:avLst/>
          </a:prstGeom>
        </p:spPr>
        <p:style>
          <a:lnRef idx="2">
            <a:schemeClr val="accent5"/>
          </a:lnRef>
          <a:fillRef idx="0">
            <a:schemeClr val="accent5"/>
          </a:fillRef>
          <a:effectRef idx="1">
            <a:schemeClr val="accent5"/>
          </a:effectRef>
          <a:fontRef idx="minor">
            <a:schemeClr val="tx1"/>
          </a:fontRef>
        </p:style>
      </p:cxnSp>
      <p:sp>
        <p:nvSpPr>
          <p:cNvPr id="6" name="Прямоугольник 5"/>
          <p:cNvSpPr/>
          <p:nvPr/>
        </p:nvSpPr>
        <p:spPr>
          <a:xfrm>
            <a:off x="395536" y="1522527"/>
            <a:ext cx="835292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 smtClean="0"/>
              <a:t>Используя пример (</a:t>
            </a:r>
            <a:r>
              <a:rPr lang="en-US" sz="2800" i="1" dirty="0" err="1" smtClean="0"/>
              <a:t>Client.cs</a:t>
            </a:r>
            <a:r>
              <a:rPr lang="en-US" sz="2800" i="1" dirty="0" smtClean="0"/>
              <a:t>, </a:t>
            </a:r>
            <a:r>
              <a:rPr lang="en-US" sz="2800" i="1" dirty="0" err="1" smtClean="0"/>
              <a:t>Server.cs</a:t>
            </a:r>
            <a:r>
              <a:rPr lang="ru-RU" sz="2800" dirty="0" smtClean="0"/>
              <a:t>) создайте клиент-серверное </a:t>
            </a:r>
            <a:r>
              <a:rPr lang="ru-RU" sz="2800" dirty="0"/>
              <a:t>приложение, </a:t>
            </a:r>
            <a:r>
              <a:rPr lang="ru-RU" sz="2800" dirty="0" smtClean="0"/>
              <a:t>осуществляющее отправку текстовых файлов.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43608" y="477253"/>
            <a:ext cx="447988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3200" dirty="0" smtClean="0">
                <a:solidFill>
                  <a:schemeClr val="tx2"/>
                </a:solidFill>
              </a:rPr>
              <a:t>Лабораторная работа </a:t>
            </a:r>
            <a:r>
              <a:rPr lang="en-US" sz="3200" dirty="0" smtClean="0">
                <a:solidFill>
                  <a:schemeClr val="tx2"/>
                </a:solidFill>
              </a:rPr>
              <a:t>1</a:t>
            </a:r>
            <a:r>
              <a:rPr lang="ru-RU" sz="3200" dirty="0" smtClean="0">
                <a:solidFill>
                  <a:schemeClr val="tx2"/>
                </a:solidFill>
              </a:rPr>
              <a:t>5</a:t>
            </a:r>
            <a:endParaRPr lang="ru-RU" sz="32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94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5704</TotalTime>
  <Words>817</Words>
  <Application>Microsoft Office PowerPoint</Application>
  <PresentationFormat>Экран (4:3)</PresentationFormat>
  <Paragraphs>162</Paragraphs>
  <Slides>18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1" baseType="lpstr">
      <vt:lpstr>Arial</vt:lpstr>
      <vt:lpstr>Calibri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Евгения</cp:lastModifiedBy>
  <cp:revision>881</cp:revision>
  <dcterms:created xsi:type="dcterms:W3CDTF">2012-09-05T13:58:41Z</dcterms:created>
  <dcterms:modified xsi:type="dcterms:W3CDTF">2026-04-24T05:13:04Z</dcterms:modified>
</cp:coreProperties>
</file>