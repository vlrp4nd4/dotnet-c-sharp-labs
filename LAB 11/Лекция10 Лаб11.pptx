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305" r:id="rId3"/>
    <p:sldId id="306" r:id="rId4"/>
    <p:sldId id="307" r:id="rId5"/>
    <p:sldId id="310" r:id="rId6"/>
    <p:sldId id="312" r:id="rId7"/>
    <p:sldId id="311" r:id="rId8"/>
    <p:sldId id="313" r:id="rId9"/>
    <p:sldId id="314" r:id="rId10"/>
    <p:sldId id="315" r:id="rId11"/>
    <p:sldId id="335" r:id="rId12"/>
    <p:sldId id="336" r:id="rId13"/>
    <p:sldId id="337" r:id="rId14"/>
    <p:sldId id="316" r:id="rId15"/>
    <p:sldId id="338" r:id="rId16"/>
    <p:sldId id="339" r:id="rId17"/>
    <p:sldId id="317" r:id="rId18"/>
    <p:sldId id="318" r:id="rId19"/>
    <p:sldId id="319" r:id="rId20"/>
    <p:sldId id="320" r:id="rId21"/>
    <p:sldId id="321" r:id="rId22"/>
    <p:sldId id="340" r:id="rId23"/>
    <p:sldId id="322" r:id="rId24"/>
    <p:sldId id="323" r:id="rId25"/>
    <p:sldId id="325" r:id="rId26"/>
    <p:sldId id="341" r:id="rId27"/>
    <p:sldId id="342" r:id="rId28"/>
    <p:sldId id="326" r:id="rId29"/>
    <p:sldId id="327" r:id="rId30"/>
    <p:sldId id="331" r:id="rId31"/>
    <p:sldId id="343" r:id="rId32"/>
    <p:sldId id="332" r:id="rId33"/>
    <p:sldId id="344" r:id="rId34"/>
    <p:sldId id="333" r:id="rId35"/>
    <p:sldId id="334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90" autoAdjust="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6E715-88E3-4601-8FC7-51F808BA8E66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05CAB-4471-42D9-B6C0-0DD13E883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72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70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52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99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7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3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19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09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93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52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93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A4D37-A7D6-4DCD-B167-F53C2AACB88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9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734507"/>
            <a:ext cx="74168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 smtClean="0"/>
              <a:t>Работа с графикой в </a:t>
            </a:r>
            <a:r>
              <a:rPr lang="en-US" sz="4400" b="1" dirty="0" smtClean="0"/>
              <a:t>.NET</a:t>
            </a:r>
            <a:endParaRPr lang="ru-RU" sz="4400" b="1" dirty="0" smtClean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20296" y="1628800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48288" y="1750169"/>
            <a:ext cx="81281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ru-RU" sz="2800" b="1" dirty="0">
                <a:solidFill>
                  <a:schemeClr val="tx2"/>
                </a:solidFill>
              </a:rPr>
              <a:t>Обзор пространств имен </a:t>
            </a:r>
            <a:r>
              <a:rPr lang="en-US" sz="2800" b="1" dirty="0">
                <a:solidFill>
                  <a:schemeClr val="tx2"/>
                </a:solidFill>
              </a:rPr>
              <a:t>GDI</a:t>
            </a:r>
            <a:r>
              <a:rPr lang="en-US" sz="2800" b="1" dirty="0" smtClean="0">
                <a:solidFill>
                  <a:schemeClr val="tx2"/>
                </a:solidFill>
              </a:rPr>
              <a:t>+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>
                <a:solidFill>
                  <a:schemeClr val="tx2"/>
                </a:solidFill>
              </a:rPr>
              <a:t>Пространство имен </a:t>
            </a:r>
            <a:r>
              <a:rPr lang="en-US" sz="2800" b="1" dirty="0" err="1" smtClean="0">
                <a:solidFill>
                  <a:schemeClr val="tx2"/>
                </a:solidFill>
              </a:rPr>
              <a:t>System.Drawing</a:t>
            </a:r>
            <a:endParaRPr lang="en-US" sz="2800" b="1" dirty="0" smtClean="0">
              <a:solidFill>
                <a:schemeClr val="tx2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>
                <a:solidFill>
                  <a:schemeClr val="tx2"/>
                </a:solidFill>
              </a:rPr>
              <a:t>Служебные типы </a:t>
            </a:r>
            <a:r>
              <a:rPr lang="en-US" sz="2800" b="1" dirty="0" err="1" smtClean="0">
                <a:solidFill>
                  <a:schemeClr val="tx2"/>
                </a:solidFill>
              </a:rPr>
              <a:t>System.Drawing</a:t>
            </a:r>
            <a:r>
              <a:rPr lang="ru-RU" sz="2800" b="1" dirty="0" smtClean="0">
                <a:solidFill>
                  <a:schemeClr val="tx2"/>
                </a:solidFill>
              </a:rPr>
              <a:t>: </a:t>
            </a:r>
            <a:r>
              <a:rPr lang="en-US" sz="2800" b="1" dirty="0">
                <a:solidFill>
                  <a:schemeClr val="tx2"/>
                </a:solidFill>
              </a:rPr>
              <a:t>Point(F</a:t>
            </a:r>
            <a:r>
              <a:rPr lang="en-US" sz="2800" b="1" dirty="0" smtClean="0">
                <a:solidFill>
                  <a:schemeClr val="tx2"/>
                </a:solidFill>
              </a:rPr>
              <a:t>)</a:t>
            </a:r>
            <a:r>
              <a:rPr lang="ru-RU" sz="2800" b="1" dirty="0" smtClean="0">
                <a:solidFill>
                  <a:schemeClr val="tx2"/>
                </a:solidFill>
              </a:rPr>
              <a:t>, </a:t>
            </a:r>
            <a:r>
              <a:rPr lang="en-US" sz="2800" b="1" dirty="0">
                <a:solidFill>
                  <a:schemeClr val="tx2"/>
                </a:solidFill>
              </a:rPr>
              <a:t>Rectangle(F</a:t>
            </a:r>
            <a:r>
              <a:rPr lang="en-US" sz="2800" b="1" dirty="0" smtClean="0">
                <a:solidFill>
                  <a:schemeClr val="tx2"/>
                </a:solidFill>
              </a:rPr>
              <a:t>)</a:t>
            </a:r>
            <a:r>
              <a:rPr lang="ru-RU" sz="2800" b="1" dirty="0" smtClean="0">
                <a:solidFill>
                  <a:schemeClr val="tx2"/>
                </a:solidFill>
              </a:rPr>
              <a:t>, </a:t>
            </a:r>
            <a:r>
              <a:rPr lang="en-US" sz="2800" b="1" dirty="0" smtClean="0">
                <a:solidFill>
                  <a:schemeClr val="tx2"/>
                </a:solidFill>
              </a:rPr>
              <a:t>Region</a:t>
            </a:r>
            <a:endParaRPr lang="ru-RU" sz="2800" b="1" dirty="0">
              <a:solidFill>
                <a:schemeClr val="tx2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Вывод графики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Класс </a:t>
            </a:r>
            <a:r>
              <a:rPr lang="en-US" sz="2800" b="1" dirty="0" smtClean="0">
                <a:solidFill>
                  <a:schemeClr val="tx2"/>
                </a:solidFill>
              </a:rPr>
              <a:t>Graphics</a:t>
            </a:r>
            <a:endParaRPr lang="ru-RU" sz="2800" b="1" dirty="0" smtClean="0">
              <a:solidFill>
                <a:schemeClr val="tx2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Системы </a:t>
            </a:r>
            <a:r>
              <a:rPr lang="ru-RU" sz="2800" b="1" dirty="0">
                <a:solidFill>
                  <a:schemeClr val="tx2"/>
                </a:solidFill>
              </a:rPr>
              <a:t>координат </a:t>
            </a:r>
            <a:r>
              <a:rPr lang="ru-RU" sz="2800" b="1" dirty="0" smtClean="0">
                <a:solidFill>
                  <a:schemeClr val="tx2"/>
                </a:solidFill>
              </a:rPr>
              <a:t>в </a:t>
            </a:r>
            <a:r>
              <a:rPr lang="ru-RU" sz="2800" b="1" dirty="0">
                <a:solidFill>
                  <a:schemeClr val="tx2"/>
                </a:solidFill>
              </a:rPr>
              <a:t>GDI</a:t>
            </a:r>
            <a:r>
              <a:rPr lang="ru-RU" sz="2800" b="1" dirty="0" smtClean="0">
                <a:solidFill>
                  <a:schemeClr val="tx2"/>
                </a:solidFill>
              </a:rPr>
              <a:t>+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>
                <a:solidFill>
                  <a:schemeClr val="tx2"/>
                </a:solidFill>
              </a:rPr>
              <a:t>Работа с </a:t>
            </a:r>
            <a:r>
              <a:rPr lang="ru-RU" sz="2800" b="1" dirty="0" smtClean="0">
                <a:solidFill>
                  <a:schemeClr val="tx2"/>
                </a:solidFill>
              </a:rPr>
              <a:t>цветом. Класс </a:t>
            </a:r>
            <a:r>
              <a:rPr lang="en-US" sz="2800" b="1" dirty="0" err="1" smtClean="0">
                <a:solidFill>
                  <a:schemeClr val="tx2"/>
                </a:solidFill>
              </a:rPr>
              <a:t>ColorDialog</a:t>
            </a:r>
            <a:endParaRPr lang="ru-RU" sz="2800" b="1" dirty="0">
              <a:solidFill>
                <a:schemeClr val="tx2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Работа с перьями. Класс </a:t>
            </a:r>
            <a:r>
              <a:rPr lang="en-US" sz="2800" b="1" dirty="0" smtClean="0">
                <a:solidFill>
                  <a:schemeClr val="tx2"/>
                </a:solidFill>
              </a:rPr>
              <a:t>Pen</a:t>
            </a:r>
            <a:endParaRPr lang="ru-RU" sz="2800" b="1" dirty="0" smtClean="0">
              <a:solidFill>
                <a:schemeClr val="tx2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Работа с кистью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b="1" dirty="0" smtClean="0">
                <a:solidFill>
                  <a:schemeClr val="tx2"/>
                </a:solidFill>
              </a:rPr>
              <a:t>Вывод изображений</a:t>
            </a:r>
          </a:p>
        </p:txBody>
      </p:sp>
    </p:spTree>
    <p:extLst>
      <p:ext uri="{BB962C8B-B14F-4D97-AF65-F5344CB8AC3E}">
        <p14:creationId xmlns:p14="http://schemas.microsoft.com/office/powerpoint/2010/main" val="10697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535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Обзор </a:t>
            </a:r>
            <a:r>
              <a:rPr lang="ru-RU" sz="3200" b="1" dirty="0">
                <a:solidFill>
                  <a:schemeClr val="tx2"/>
                </a:solidFill>
              </a:rPr>
              <a:t>пространств имен </a:t>
            </a:r>
            <a:r>
              <a:rPr lang="en-US" sz="3200" b="1" dirty="0">
                <a:solidFill>
                  <a:schemeClr val="tx2"/>
                </a:solidFill>
              </a:rPr>
              <a:t>GDI</a:t>
            </a:r>
            <a:r>
              <a:rPr lang="en-US" sz="3200" b="1" dirty="0" smtClean="0">
                <a:solidFill>
                  <a:schemeClr val="tx2"/>
                </a:solidFill>
              </a:rPr>
              <a:t>+</a:t>
            </a:r>
            <a:endParaRPr lang="en-US" sz="32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539552" y="1646798"/>
            <a:ext cx="81905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GDI </a:t>
            </a:r>
            <a:r>
              <a:rPr lang="en-US" sz="3600" dirty="0"/>
              <a:t>(</a:t>
            </a:r>
            <a:r>
              <a:rPr lang="ru-RU" sz="3600" dirty="0" err="1" smtClean="0"/>
              <a:t>Graphic</a:t>
            </a:r>
            <a:r>
              <a:rPr lang="ru-RU" sz="3600" dirty="0" smtClean="0"/>
              <a:t> </a:t>
            </a:r>
            <a:r>
              <a:rPr lang="ru-RU" sz="3600" dirty="0" err="1"/>
              <a:t>Device</a:t>
            </a:r>
            <a:r>
              <a:rPr lang="ru-RU" sz="3600" dirty="0"/>
              <a:t> </a:t>
            </a:r>
            <a:r>
              <a:rPr lang="ru-RU" sz="3600" dirty="0" err="1" smtClean="0"/>
              <a:t>Interface</a:t>
            </a:r>
            <a:r>
              <a:rPr lang="en-US" sz="3600" dirty="0" smtClean="0"/>
              <a:t>)</a:t>
            </a:r>
            <a:r>
              <a:rPr lang="en-US" sz="3600" dirty="0"/>
              <a:t> </a:t>
            </a:r>
            <a:r>
              <a:rPr lang="en-US" sz="3600" dirty="0" smtClean="0"/>
              <a:t>– </a:t>
            </a:r>
            <a:r>
              <a:rPr lang="ru-RU" sz="3600" dirty="0" smtClean="0"/>
              <a:t>интерфейс</a:t>
            </a:r>
            <a:r>
              <a:rPr lang="en-US" sz="3600" dirty="0" smtClean="0"/>
              <a:t> </a:t>
            </a:r>
            <a:r>
              <a:rPr lang="ru-RU" sz="3600" dirty="0" smtClean="0"/>
              <a:t>графических устройств). </a:t>
            </a:r>
          </a:p>
          <a:p>
            <a:endParaRPr lang="en-US" sz="3600" dirty="0" smtClean="0"/>
          </a:p>
          <a:p>
            <a:r>
              <a:rPr lang="ru-RU" sz="3600" dirty="0" smtClean="0"/>
              <a:t>GDI</a:t>
            </a:r>
            <a:r>
              <a:rPr lang="ru-RU" sz="3600" dirty="0"/>
              <a:t>+ </a:t>
            </a:r>
            <a:r>
              <a:rPr lang="ru-RU" sz="3600" dirty="0" smtClean="0"/>
              <a:t> — </a:t>
            </a:r>
            <a:r>
              <a:rPr lang="ru-RU" sz="3600" dirty="0"/>
              <a:t>это </a:t>
            </a:r>
            <a:r>
              <a:rPr lang="ru-RU" sz="3600" dirty="0" smtClean="0"/>
              <a:t>набор программных интерфейсов, используемый </a:t>
            </a:r>
            <a:r>
              <a:rPr lang="ru-RU" sz="3600" dirty="0"/>
              <a:t>в .NET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382750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196752"/>
            <a:ext cx="833459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err="1" smtClean="0"/>
              <a:t>System.Drawing</a:t>
            </a:r>
            <a:r>
              <a:rPr lang="ru-RU" sz="2600" b="1" dirty="0" smtClean="0"/>
              <a:t> </a:t>
            </a:r>
            <a:r>
              <a:rPr lang="ru-RU" sz="2600" dirty="0" smtClean="0"/>
              <a:t>– содержит основные </a:t>
            </a:r>
            <a:r>
              <a:rPr lang="ru-RU" sz="2600" dirty="0"/>
              <a:t>типы для вывода графики (для работы со </a:t>
            </a:r>
            <a:r>
              <a:rPr lang="ru-RU" sz="2600" dirty="0" smtClean="0"/>
              <a:t>шрифтами, перьями</a:t>
            </a:r>
            <a:r>
              <a:rPr lang="ru-RU" sz="2600" dirty="0"/>
              <a:t>, </a:t>
            </a:r>
            <a:r>
              <a:rPr lang="ru-RU" sz="2600" dirty="0" smtClean="0"/>
              <a:t>кистью).</a:t>
            </a:r>
          </a:p>
          <a:p>
            <a:r>
              <a:rPr lang="ru-RU" sz="2600" b="1" dirty="0" smtClean="0"/>
              <a:t>System.Drawing.Drawing2D </a:t>
            </a:r>
            <a:r>
              <a:rPr lang="ru-RU" sz="2600" dirty="0" smtClean="0"/>
              <a:t>– содержит типы </a:t>
            </a:r>
            <a:r>
              <a:rPr lang="ru-RU" sz="2600" dirty="0"/>
              <a:t>для </a:t>
            </a:r>
            <a:r>
              <a:rPr lang="ru-RU" sz="2600" dirty="0" smtClean="0"/>
              <a:t>выполнения операций </a:t>
            </a:r>
            <a:r>
              <a:rPr lang="ru-RU" sz="2600" dirty="0"/>
              <a:t>с двумерной графикой </a:t>
            </a:r>
            <a:r>
              <a:rPr lang="ru-RU" sz="2600" dirty="0" smtClean="0"/>
              <a:t>(градиентная заливка</a:t>
            </a:r>
            <a:r>
              <a:rPr lang="ru-RU" sz="2600" dirty="0"/>
              <a:t>, геометрические </a:t>
            </a:r>
            <a:r>
              <a:rPr lang="ru-RU" sz="2600" dirty="0" smtClean="0"/>
              <a:t>преобразования).</a:t>
            </a:r>
            <a:endParaRPr lang="ru-RU" sz="2600" dirty="0"/>
          </a:p>
          <a:p>
            <a:r>
              <a:rPr lang="ru-RU" sz="2600" b="1" dirty="0" err="1" smtClean="0"/>
              <a:t>System.Drawing.Imaging</a:t>
            </a:r>
            <a:r>
              <a:rPr lang="ru-RU" sz="2600" b="1" dirty="0"/>
              <a:t> </a:t>
            </a:r>
            <a:r>
              <a:rPr lang="ru-RU" sz="2600" b="1" dirty="0" smtClean="0"/>
              <a:t>– </a:t>
            </a:r>
            <a:r>
              <a:rPr lang="ru-RU" sz="2600" dirty="0" smtClean="0"/>
              <a:t>определены </a:t>
            </a:r>
            <a:r>
              <a:rPr lang="ru-RU" sz="2600" dirty="0"/>
              <a:t>типы, которые позволяют напрямую </a:t>
            </a:r>
            <a:r>
              <a:rPr lang="ru-RU" sz="2600" dirty="0" smtClean="0"/>
              <a:t>работать с графическими изображениями.</a:t>
            </a:r>
          </a:p>
          <a:p>
            <a:r>
              <a:rPr lang="ru-RU" sz="2600" b="1" dirty="0" err="1" smtClean="0"/>
              <a:t>System.Drawing.Printing</a:t>
            </a:r>
            <a:r>
              <a:rPr lang="ru-RU" sz="2600" b="1" dirty="0" smtClean="0"/>
              <a:t> </a:t>
            </a:r>
            <a:r>
              <a:rPr lang="ru-RU" sz="2600" b="1" dirty="0"/>
              <a:t>– </a:t>
            </a:r>
            <a:r>
              <a:rPr lang="ru-RU" sz="2600" dirty="0" smtClean="0"/>
              <a:t>определяет типы </a:t>
            </a:r>
            <a:r>
              <a:rPr lang="ru-RU" sz="2600" dirty="0"/>
              <a:t>для вывода </a:t>
            </a:r>
            <a:r>
              <a:rPr lang="ru-RU" sz="2600" dirty="0" smtClean="0"/>
              <a:t>графики на </a:t>
            </a:r>
            <a:r>
              <a:rPr lang="ru-RU" sz="2600" dirty="0"/>
              <a:t>принтер и взаимодействия с принтером в </a:t>
            </a:r>
            <a:r>
              <a:rPr lang="ru-RU" sz="2600" dirty="0" smtClean="0"/>
              <a:t>целом. </a:t>
            </a:r>
          </a:p>
          <a:p>
            <a:r>
              <a:rPr lang="ru-RU" sz="2600" b="1" dirty="0" err="1" smtClean="0"/>
              <a:t>System.Drawing.Text</a:t>
            </a:r>
            <a:r>
              <a:rPr lang="ru-RU" sz="2600" b="1" dirty="0"/>
              <a:t> –</a:t>
            </a:r>
            <a:r>
              <a:rPr lang="ru-RU" sz="2600" dirty="0" smtClean="0"/>
              <a:t> позволяет работать </a:t>
            </a:r>
            <a:r>
              <a:rPr lang="ru-RU" sz="2600" dirty="0"/>
              <a:t>с системными шрифтами</a:t>
            </a:r>
            <a:r>
              <a:rPr lang="ru-RU" sz="2600" dirty="0" smtClean="0"/>
              <a:t>.</a:t>
            </a:r>
            <a:endParaRPr lang="ru-RU" sz="2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01906" y="477253"/>
            <a:ext cx="5535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Обзор </a:t>
            </a:r>
            <a:r>
              <a:rPr lang="ru-RU" sz="3200" b="1" dirty="0">
                <a:solidFill>
                  <a:schemeClr val="tx2"/>
                </a:solidFill>
              </a:rPr>
              <a:t>пространств имен </a:t>
            </a:r>
            <a:r>
              <a:rPr lang="en-US" sz="3200" b="1" dirty="0">
                <a:solidFill>
                  <a:schemeClr val="tx2"/>
                </a:solidFill>
              </a:rPr>
              <a:t>GDI</a:t>
            </a:r>
            <a:r>
              <a:rPr lang="en-US" sz="3200" b="1" dirty="0" smtClean="0">
                <a:solidFill>
                  <a:schemeClr val="tx2"/>
                </a:solidFill>
              </a:rPr>
              <a:t>+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2586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6497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Пространство имен </a:t>
            </a:r>
            <a:r>
              <a:rPr lang="en-US" sz="3200" b="1" dirty="0" err="1">
                <a:solidFill>
                  <a:schemeClr val="tx2"/>
                </a:solidFill>
              </a:rPr>
              <a:t>System.Drawing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181065"/>
            <a:ext cx="83345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/>
              <a:t>Bitmap</a:t>
            </a:r>
            <a:r>
              <a:rPr lang="ru-RU" sz="2400" b="1" dirty="0" smtClean="0"/>
              <a:t>.</a:t>
            </a:r>
            <a:r>
              <a:rPr lang="ru-RU" sz="2400" dirty="0" smtClean="0"/>
              <a:t> Инкапсулирует файл </a:t>
            </a:r>
            <a:r>
              <a:rPr lang="ru-RU" sz="2400" dirty="0"/>
              <a:t>изображения и определяет набор </a:t>
            </a:r>
            <a:r>
              <a:rPr lang="ru-RU" sz="2400" dirty="0" smtClean="0"/>
              <a:t>методов для </a:t>
            </a:r>
            <a:r>
              <a:rPr lang="ru-RU" sz="2400" dirty="0"/>
              <a:t>выполнения различных </a:t>
            </a:r>
            <a:r>
              <a:rPr lang="ru-RU" sz="2400" dirty="0" smtClean="0"/>
              <a:t>операций.</a:t>
            </a:r>
            <a:endParaRPr lang="ru-RU" sz="2400" dirty="0"/>
          </a:p>
          <a:p>
            <a:r>
              <a:rPr lang="ru-RU" sz="2400" b="1" dirty="0" smtClean="0"/>
              <a:t>Brush </a:t>
            </a:r>
            <a:r>
              <a:rPr lang="ru-RU" sz="2400" dirty="0" smtClean="0"/>
              <a:t>– Объекты Brush </a:t>
            </a:r>
            <a:r>
              <a:rPr lang="ru-RU" sz="2400" dirty="0"/>
              <a:t>используются для заполнения пространства </a:t>
            </a:r>
            <a:r>
              <a:rPr lang="ru-RU" sz="2400" dirty="0" smtClean="0"/>
              <a:t>внутри геометрических фигур. </a:t>
            </a:r>
          </a:p>
          <a:p>
            <a:r>
              <a:rPr lang="ru-RU" sz="2400" b="1" dirty="0" err="1"/>
              <a:t>Pen</a:t>
            </a:r>
            <a:r>
              <a:rPr lang="ru-RU" sz="2400" b="1" dirty="0"/>
              <a:t> </a:t>
            </a:r>
            <a:r>
              <a:rPr lang="ru-RU" sz="2400" dirty="0"/>
              <a:t>– это класс, при помощи которого можно рисовать прямые и кривые.</a:t>
            </a:r>
          </a:p>
          <a:p>
            <a:r>
              <a:rPr lang="ru-RU" sz="2400" b="1" dirty="0" err="1" smtClean="0"/>
              <a:t>Color</a:t>
            </a:r>
            <a:r>
              <a:rPr lang="ru-RU" sz="2400" b="1" dirty="0" smtClean="0"/>
              <a:t> </a:t>
            </a:r>
            <a:r>
              <a:rPr lang="ru-RU" sz="2400" dirty="0" smtClean="0"/>
              <a:t>– определяет набор </a:t>
            </a:r>
            <a:r>
              <a:rPr lang="ru-RU" sz="2400" dirty="0"/>
              <a:t>статических полей, которые могут </a:t>
            </a:r>
            <a:r>
              <a:rPr lang="ru-RU" sz="2400" dirty="0" smtClean="0"/>
              <a:t>быть использованы </a:t>
            </a:r>
            <a:r>
              <a:rPr lang="ru-RU" sz="2400" dirty="0"/>
              <a:t>для настройки цвета. </a:t>
            </a:r>
            <a:endParaRPr lang="ru-RU" sz="2400" dirty="0" smtClean="0"/>
          </a:p>
          <a:p>
            <a:r>
              <a:rPr lang="ru-RU" sz="2400" b="1" dirty="0" err="1" smtClean="0"/>
              <a:t>Graphics</a:t>
            </a:r>
            <a:r>
              <a:rPr lang="en-US" sz="2400" b="1" dirty="0"/>
              <a:t> </a:t>
            </a:r>
            <a:r>
              <a:rPr lang="en-US" sz="2400" dirty="0" smtClean="0"/>
              <a:t>–</a:t>
            </a:r>
            <a:r>
              <a:rPr lang="ru-RU" sz="2400" dirty="0" smtClean="0"/>
              <a:t> этот важнейший </a:t>
            </a:r>
            <a:r>
              <a:rPr lang="ru-RU" sz="2400" dirty="0"/>
              <a:t>класс определяет </a:t>
            </a:r>
            <a:r>
              <a:rPr lang="ru-RU" sz="2400" dirty="0" smtClean="0"/>
              <a:t>набор методов </a:t>
            </a:r>
            <a:r>
              <a:rPr lang="ru-RU" sz="2400" dirty="0"/>
              <a:t>для вывода </a:t>
            </a:r>
            <a:r>
              <a:rPr lang="ru-RU" sz="2400" dirty="0" smtClean="0"/>
              <a:t>текста, изображений </a:t>
            </a:r>
            <a:r>
              <a:rPr lang="ru-RU" sz="2400" dirty="0"/>
              <a:t>и </a:t>
            </a:r>
            <a:r>
              <a:rPr lang="ru-RU" sz="2400" dirty="0" smtClean="0"/>
              <a:t>геометрических </a:t>
            </a:r>
            <a:r>
              <a:rPr lang="ru-RU" sz="2400" dirty="0"/>
              <a:t>фигур</a:t>
            </a:r>
            <a:r>
              <a:rPr lang="ru-RU" sz="2400" dirty="0" smtClean="0"/>
              <a:t>.</a:t>
            </a:r>
          </a:p>
          <a:p>
            <a:r>
              <a:rPr lang="ru-RU" sz="2400" b="1" dirty="0" err="1"/>
              <a:t>Image</a:t>
            </a:r>
            <a:r>
              <a:rPr lang="ru-RU" sz="2400" b="1" dirty="0"/>
              <a:t> </a:t>
            </a:r>
            <a:r>
              <a:rPr lang="ru-RU" sz="2400" dirty="0" smtClean="0"/>
              <a:t>– это абстрактный </a:t>
            </a:r>
            <a:r>
              <a:rPr lang="ru-RU" sz="2400" dirty="0"/>
              <a:t>базовый класс, который обеспечивает </a:t>
            </a:r>
            <a:r>
              <a:rPr lang="ru-RU" sz="2400" dirty="0" smtClean="0"/>
              <a:t>возможности типов </a:t>
            </a:r>
            <a:r>
              <a:rPr lang="en-US" sz="2400" dirty="0"/>
              <a:t>Bitmap, Icon </a:t>
            </a:r>
            <a:r>
              <a:rPr lang="ru-RU" sz="2400" dirty="0"/>
              <a:t>и </a:t>
            </a:r>
            <a:r>
              <a:rPr lang="en-US" sz="2400" dirty="0"/>
              <a:t>Cursor</a:t>
            </a:r>
            <a:r>
              <a:rPr lang="en-US" sz="2400" dirty="0" smtClean="0"/>
              <a:t>.</a:t>
            </a:r>
            <a:endParaRPr lang="ru-RU" sz="2400" dirty="0" smtClean="0"/>
          </a:p>
          <a:p>
            <a:r>
              <a:rPr lang="ru-RU" sz="2400" b="1" dirty="0" err="1" smtClean="0"/>
              <a:t>Point</a:t>
            </a:r>
            <a:r>
              <a:rPr lang="ru-RU" sz="2400" dirty="0" smtClean="0"/>
              <a:t> – обеспечивает работу </a:t>
            </a:r>
            <a:r>
              <a:rPr lang="ru-RU" sz="2400" dirty="0"/>
              <a:t>с координатами точки. </a:t>
            </a:r>
            <a:endParaRPr lang="ru-RU" sz="2400" dirty="0" smtClean="0"/>
          </a:p>
          <a:p>
            <a:r>
              <a:rPr lang="ru-RU" sz="2400" b="1" dirty="0" err="1" smtClean="0"/>
              <a:t>Region</a:t>
            </a:r>
            <a:r>
              <a:rPr lang="ru-RU" sz="2400" b="1" dirty="0" smtClean="0"/>
              <a:t> – </a:t>
            </a:r>
            <a:r>
              <a:rPr lang="ru-RU" sz="2400" dirty="0" smtClean="0"/>
              <a:t>определяет область</a:t>
            </a:r>
            <a:r>
              <a:rPr lang="ru-RU" sz="2400" dirty="0"/>
              <a:t>, занятую геометрической фигурой</a:t>
            </a:r>
          </a:p>
        </p:txBody>
      </p:sp>
    </p:spTree>
    <p:extLst>
      <p:ext uri="{BB962C8B-B14F-4D97-AF65-F5344CB8AC3E}">
        <p14:creationId xmlns:p14="http://schemas.microsoft.com/office/powerpoint/2010/main" val="68568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5917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Перечисления </a:t>
            </a:r>
            <a:r>
              <a:rPr lang="en-US" sz="3200" b="1" dirty="0" err="1">
                <a:solidFill>
                  <a:schemeClr val="tx2"/>
                </a:solidFill>
              </a:rPr>
              <a:t>System.Drawing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262365"/>
            <a:ext cx="84249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/>
              <a:t>ContentAlignment</a:t>
            </a:r>
            <a:r>
              <a:rPr lang="ru-RU" sz="2400" b="1" dirty="0" smtClean="0"/>
              <a:t>.</a:t>
            </a:r>
            <a:r>
              <a:rPr lang="ru-RU" sz="2400" dirty="0" smtClean="0"/>
              <a:t> </a:t>
            </a:r>
            <a:r>
              <a:rPr lang="ru-RU" sz="2400" dirty="0"/>
              <a:t>Определяет </a:t>
            </a:r>
            <a:r>
              <a:rPr lang="ru-RU" sz="2400" dirty="0" smtClean="0"/>
              <a:t>расположение содержимого </a:t>
            </a:r>
            <a:r>
              <a:rPr lang="ru-RU" sz="2400" dirty="0"/>
              <a:t>в области вывода (слева, </a:t>
            </a:r>
            <a:r>
              <a:rPr lang="ru-RU" sz="2400" dirty="0" smtClean="0"/>
              <a:t>справа, по </a:t>
            </a:r>
            <a:r>
              <a:rPr lang="ru-RU" sz="2400" dirty="0"/>
              <a:t>центру и </a:t>
            </a:r>
            <a:r>
              <a:rPr lang="ru-RU" sz="2400" dirty="0" smtClean="0"/>
              <a:t>т.п</a:t>
            </a:r>
            <a:r>
              <a:rPr lang="ru-RU" sz="2400" dirty="0"/>
              <a:t>.)</a:t>
            </a:r>
          </a:p>
          <a:p>
            <a:r>
              <a:rPr lang="ru-RU" sz="2400" b="1" dirty="0" err="1" smtClean="0"/>
              <a:t>FontStyle</a:t>
            </a:r>
            <a:r>
              <a:rPr lang="ru-RU" sz="2400" b="1" dirty="0" smtClean="0"/>
              <a:t>. </a:t>
            </a:r>
            <a:r>
              <a:rPr lang="ru-RU" sz="2400" dirty="0"/>
              <a:t>Определяет свойства </a:t>
            </a:r>
            <a:r>
              <a:rPr lang="ru-RU" sz="2400" dirty="0" smtClean="0"/>
              <a:t>шрифта.</a:t>
            </a:r>
            <a:endParaRPr lang="ru-RU" sz="2400" dirty="0"/>
          </a:p>
          <a:p>
            <a:r>
              <a:rPr lang="ru-RU" sz="2400" b="1" dirty="0" err="1" smtClean="0"/>
              <a:t>GraphicsUnit</a:t>
            </a:r>
            <a:r>
              <a:rPr lang="ru-RU" sz="2400" b="1" dirty="0" smtClean="0"/>
              <a:t>. </a:t>
            </a:r>
            <a:r>
              <a:rPr lang="ru-RU" sz="2400" dirty="0"/>
              <a:t>Определяет единицы измерения для графического элемента (</a:t>
            </a:r>
            <a:r>
              <a:rPr lang="ru-RU" sz="2400" dirty="0" smtClean="0"/>
              <a:t>аналогично константам </a:t>
            </a:r>
            <a:r>
              <a:rPr lang="ru-RU" sz="2400" dirty="0"/>
              <a:t>режима отображения в Win32</a:t>
            </a:r>
            <a:r>
              <a:rPr lang="ru-RU" sz="2400" dirty="0" smtClean="0"/>
              <a:t>).</a:t>
            </a:r>
            <a:endParaRPr lang="ru-RU" sz="2400" dirty="0"/>
          </a:p>
          <a:p>
            <a:r>
              <a:rPr lang="ru-RU" sz="2400" b="1" dirty="0" err="1" smtClean="0"/>
              <a:t>KnownColor</a:t>
            </a:r>
            <a:r>
              <a:rPr lang="ru-RU" sz="2400" b="1" dirty="0" smtClean="0"/>
              <a:t>.</a:t>
            </a:r>
            <a:r>
              <a:rPr lang="ru-RU" sz="2400" dirty="0" smtClean="0"/>
              <a:t> </a:t>
            </a:r>
            <a:r>
              <a:rPr lang="ru-RU" sz="2400" dirty="0"/>
              <a:t>Определяет дружественные </a:t>
            </a:r>
            <a:r>
              <a:rPr lang="ru-RU" sz="2400" dirty="0" smtClean="0"/>
              <a:t>имена системных цветов.</a:t>
            </a:r>
          </a:p>
          <a:p>
            <a:r>
              <a:rPr lang="ru-RU" sz="2400" b="1" dirty="0" err="1" smtClean="0"/>
              <a:t>StringAlignment</a:t>
            </a:r>
            <a:r>
              <a:rPr lang="ru-RU" sz="2400" b="1" dirty="0" smtClean="0"/>
              <a:t>.</a:t>
            </a:r>
            <a:r>
              <a:rPr lang="ru-RU" sz="2400" dirty="0" smtClean="0"/>
              <a:t> </a:t>
            </a:r>
            <a:r>
              <a:rPr lang="ru-RU" sz="2400" dirty="0"/>
              <a:t>Определяет выравнивание текстовой строки</a:t>
            </a:r>
          </a:p>
          <a:p>
            <a:r>
              <a:rPr lang="ru-RU" sz="2400" b="1" dirty="0" err="1" smtClean="0"/>
              <a:t>StringFormatFlags</a:t>
            </a:r>
            <a:r>
              <a:rPr lang="ru-RU" sz="2400" b="1" dirty="0" smtClean="0"/>
              <a:t>.</a:t>
            </a:r>
            <a:r>
              <a:rPr lang="ru-RU" sz="2400" dirty="0" smtClean="0"/>
              <a:t> </a:t>
            </a:r>
            <a:r>
              <a:rPr lang="ru-RU" sz="2400" dirty="0"/>
              <a:t>Определяет форматирование текстовых строк (например, содержит </a:t>
            </a:r>
            <a:r>
              <a:rPr lang="ru-RU" sz="2400" dirty="0" smtClean="0"/>
              <a:t>значения </a:t>
            </a:r>
            <a:r>
              <a:rPr lang="fi-FI" sz="2400" dirty="0" smtClean="0"/>
              <a:t>NoWrap</a:t>
            </a:r>
            <a:r>
              <a:rPr lang="fi-FI" sz="2400" dirty="0"/>
              <a:t>, LineLimit и т. п.)</a:t>
            </a:r>
          </a:p>
          <a:p>
            <a:r>
              <a:rPr lang="ru-RU" sz="2400" b="1" dirty="0" err="1" smtClean="0"/>
              <a:t>StringTrimminig</a:t>
            </a:r>
            <a:r>
              <a:rPr lang="ru-RU" sz="2400" b="1" dirty="0" smtClean="0"/>
              <a:t>. </a:t>
            </a:r>
            <a:r>
              <a:rPr lang="ru-RU" sz="2400" dirty="0"/>
              <a:t>Определяет, как будут обрезаться строки, которые не </a:t>
            </a:r>
            <a:r>
              <a:rPr lang="ru-RU" sz="2400" dirty="0" smtClean="0"/>
              <a:t>помещаются полностью </a:t>
            </a:r>
            <a:r>
              <a:rPr lang="ru-RU" sz="2400" dirty="0"/>
              <a:t>в отведенной им </a:t>
            </a:r>
            <a:r>
              <a:rPr lang="ru-RU" sz="2400" dirty="0" smtClean="0"/>
              <a:t>области.</a:t>
            </a:r>
            <a:endParaRPr lang="ru-RU" sz="2400" dirty="0"/>
          </a:p>
          <a:p>
            <a:r>
              <a:rPr lang="ru-RU" sz="2400" b="1" dirty="0" err="1" smtClean="0"/>
              <a:t>StringUnit</a:t>
            </a:r>
            <a:r>
              <a:rPr lang="ru-RU" sz="2400" b="1" dirty="0" smtClean="0"/>
              <a:t>. </a:t>
            </a:r>
            <a:r>
              <a:rPr lang="ru-RU" sz="2400" dirty="0"/>
              <a:t>Определяет единицы измерения для строки </a:t>
            </a:r>
            <a:r>
              <a:rPr lang="ru-RU" sz="2400" dirty="0" smtClean="0"/>
              <a:t>текста.</a:t>
            </a:r>
            <a:endParaRPr lang="en-US" sz="2400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16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60838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Служебные типы </a:t>
            </a:r>
            <a:r>
              <a:rPr lang="en-US" sz="3200" b="1" dirty="0" err="1">
                <a:solidFill>
                  <a:schemeClr val="tx2"/>
                </a:solidFill>
              </a:rPr>
              <a:t>System.Drawing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124744"/>
            <a:ext cx="856895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Служебные типы </a:t>
            </a:r>
            <a:r>
              <a:rPr lang="en-US" sz="2800" dirty="0" err="1" smtClean="0"/>
              <a:t>System.Drawing</a:t>
            </a:r>
            <a:r>
              <a:rPr lang="ru-RU" sz="2800" dirty="0" smtClean="0"/>
              <a:t> – указывают положение </a:t>
            </a:r>
            <a:r>
              <a:rPr lang="ru-RU" sz="2800" dirty="0"/>
              <a:t>или область для вывода графического объекта</a:t>
            </a:r>
            <a:r>
              <a:rPr lang="ru-RU" sz="2800" dirty="0" smtClean="0"/>
              <a:t>.</a:t>
            </a:r>
          </a:p>
          <a:p>
            <a:endParaRPr lang="ru-RU" sz="2800" b="1" dirty="0" smtClean="0">
              <a:solidFill>
                <a:srgbClr val="002060"/>
              </a:solidFill>
            </a:endParaRPr>
          </a:p>
          <a:p>
            <a:r>
              <a:rPr lang="en-US" sz="2800" b="1" dirty="0" smtClean="0"/>
              <a:t>Point</a:t>
            </a:r>
            <a:r>
              <a:rPr lang="ru-RU" sz="2800" b="1" dirty="0" smtClean="0"/>
              <a:t> </a:t>
            </a:r>
            <a:r>
              <a:rPr lang="ru-RU" sz="2800" dirty="0" smtClean="0"/>
              <a:t>– используется для передачи </a:t>
            </a:r>
            <a:r>
              <a:rPr lang="ru-RU" sz="2800" dirty="0"/>
              <a:t>координат (х, у</a:t>
            </a:r>
            <a:r>
              <a:rPr lang="ru-RU" sz="2800" dirty="0" smtClean="0"/>
              <a:t>).</a:t>
            </a:r>
          </a:p>
          <a:p>
            <a:r>
              <a:rPr lang="en-US" sz="2800" b="1" dirty="0" smtClean="0"/>
              <a:t>Rectangle</a:t>
            </a:r>
            <a:r>
              <a:rPr lang="ru-RU" sz="2800" b="1" dirty="0" smtClean="0"/>
              <a:t> </a:t>
            </a:r>
            <a:r>
              <a:rPr lang="ru-RU" sz="2800" dirty="0" smtClean="0"/>
              <a:t>– определяет координаты </a:t>
            </a:r>
            <a:r>
              <a:rPr lang="ru-RU" sz="2800" dirty="0"/>
              <a:t>двух </a:t>
            </a:r>
            <a:r>
              <a:rPr lang="ru-RU" sz="2800" dirty="0" smtClean="0"/>
              <a:t>точек (верхний </a:t>
            </a:r>
            <a:r>
              <a:rPr lang="ru-RU" sz="2800" dirty="0"/>
              <a:t>левый и нижний правый </a:t>
            </a:r>
            <a:r>
              <a:rPr lang="ru-RU" sz="2800" dirty="0" smtClean="0"/>
              <a:t>углы прямоугольника).</a:t>
            </a:r>
          </a:p>
          <a:p>
            <a:r>
              <a:rPr lang="en-US" sz="2800" b="1" dirty="0" smtClean="0"/>
              <a:t>Region</a:t>
            </a:r>
            <a:r>
              <a:rPr lang="ru-RU" sz="2800" b="1" dirty="0" smtClean="0"/>
              <a:t> </a:t>
            </a:r>
            <a:r>
              <a:rPr lang="ru-RU" sz="2800" dirty="0" smtClean="0"/>
              <a:t>– необходим для работы с </a:t>
            </a:r>
            <a:r>
              <a:rPr lang="ru-RU" sz="2800" dirty="0"/>
              <a:t>непрямоугольными </a:t>
            </a:r>
            <a:r>
              <a:rPr lang="ru-RU" sz="2800" dirty="0" smtClean="0"/>
              <a:t>областями.</a:t>
            </a:r>
          </a:p>
          <a:p>
            <a:r>
              <a:rPr lang="en-US" sz="2800" b="1" dirty="0" smtClean="0"/>
              <a:t>Size</a:t>
            </a:r>
            <a:r>
              <a:rPr lang="ru-RU" sz="2800" b="1" dirty="0" smtClean="0"/>
              <a:t> </a:t>
            </a:r>
            <a:r>
              <a:rPr lang="ru-RU" sz="2800" dirty="0" smtClean="0"/>
              <a:t>– определяет размер </a:t>
            </a:r>
            <a:r>
              <a:rPr lang="ru-RU" sz="2800" dirty="0"/>
              <a:t>прямоугольной </a:t>
            </a:r>
            <a:r>
              <a:rPr lang="ru-RU" sz="2800" dirty="0" smtClean="0"/>
              <a:t>области.</a:t>
            </a:r>
          </a:p>
          <a:p>
            <a:endParaRPr lang="ru-RU" sz="2800" b="1" dirty="0">
              <a:solidFill>
                <a:srgbClr val="002060"/>
              </a:solidFill>
            </a:endParaRPr>
          </a:p>
          <a:p>
            <a:r>
              <a:rPr lang="ru-RU" sz="2800" dirty="0" smtClean="0"/>
              <a:t>Пример: </a:t>
            </a:r>
            <a:r>
              <a:rPr lang="en-US" sz="2800" dirty="0" smtClean="0"/>
              <a:t>Point </a:t>
            </a:r>
            <a:r>
              <a:rPr lang="ru-RU" sz="2800" dirty="0" smtClean="0"/>
              <a:t> </a:t>
            </a:r>
            <a:r>
              <a:rPr lang="en-US" sz="2800" dirty="0" err="1" smtClean="0"/>
              <a:t>pt</a:t>
            </a:r>
            <a:r>
              <a:rPr lang="en-US" sz="2800" dirty="0" smtClean="0"/>
              <a:t> </a:t>
            </a:r>
            <a:r>
              <a:rPr lang="en-US" sz="2800" dirty="0"/>
              <a:t>= new </a:t>
            </a:r>
            <a:r>
              <a:rPr lang="ru-RU" sz="2800" dirty="0" smtClean="0"/>
              <a:t> </a:t>
            </a:r>
            <a:r>
              <a:rPr lang="en-US" sz="2800" dirty="0" smtClean="0"/>
              <a:t>Point</a:t>
            </a:r>
            <a:r>
              <a:rPr lang="ru-RU" sz="2800" dirty="0" smtClean="0"/>
              <a:t>(100,</a:t>
            </a:r>
            <a:r>
              <a:rPr lang="en-US" sz="2800" dirty="0" smtClean="0"/>
              <a:t> 72)</a:t>
            </a:r>
            <a:r>
              <a:rPr lang="ru-RU" sz="2800" dirty="0" smtClean="0"/>
              <a:t>;</a:t>
            </a:r>
            <a:endParaRPr lang="en-US" sz="2800" b="1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14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60838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Служебные типы </a:t>
            </a:r>
            <a:r>
              <a:rPr lang="en-US" sz="3200" b="1" dirty="0" err="1">
                <a:solidFill>
                  <a:schemeClr val="tx2"/>
                </a:solidFill>
              </a:rPr>
              <a:t>System.Drawing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124744"/>
            <a:ext cx="867645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 классе </a:t>
            </a:r>
            <a:r>
              <a:rPr lang="ru-RU" sz="2800" b="1" dirty="0" err="1" smtClean="0"/>
              <a:t>Rectangle</a:t>
            </a:r>
            <a:r>
              <a:rPr lang="ru-RU" sz="2800" b="1" dirty="0" smtClean="0"/>
              <a:t> </a:t>
            </a:r>
            <a:r>
              <a:rPr lang="ru-RU" sz="2800" dirty="0"/>
              <a:t>предусмотрен </a:t>
            </a:r>
            <a:r>
              <a:rPr lang="ru-RU" sz="2800" dirty="0" smtClean="0"/>
              <a:t>метод </a:t>
            </a:r>
            <a:r>
              <a:rPr lang="ru-RU" sz="2800" b="1" dirty="0" err="1" smtClean="0"/>
              <a:t>Contains</a:t>
            </a:r>
            <a:r>
              <a:rPr lang="ru-RU" sz="2800" b="1" dirty="0" smtClean="0"/>
              <a:t>()</a:t>
            </a:r>
            <a:r>
              <a:rPr lang="ru-RU" sz="2800" dirty="0" smtClean="0"/>
              <a:t>.</a:t>
            </a:r>
            <a:endParaRPr lang="ru-RU" sz="2800" dirty="0"/>
          </a:p>
          <a:p>
            <a:r>
              <a:rPr lang="ru-RU" sz="2800" dirty="0"/>
              <a:t>Этот метод позволяет определить, попадает ли точка </a:t>
            </a:r>
            <a:r>
              <a:rPr lang="ru-RU" sz="2800" dirty="0" smtClean="0"/>
              <a:t>(или прямоугольник) с указанными координатами </a:t>
            </a:r>
            <a:r>
              <a:rPr lang="ru-RU" sz="2800" dirty="0"/>
              <a:t>в область, занятую </a:t>
            </a:r>
            <a:r>
              <a:rPr lang="ru-RU" sz="2800" dirty="0" smtClean="0"/>
              <a:t>прямоугольником. </a:t>
            </a:r>
          </a:p>
          <a:p>
            <a:endParaRPr lang="ru-RU" sz="2800" dirty="0" smtClean="0"/>
          </a:p>
          <a:p>
            <a:r>
              <a:rPr lang="ru-RU" sz="2800" b="1" dirty="0" smtClean="0"/>
              <a:t>Пример:</a:t>
            </a:r>
          </a:p>
          <a:p>
            <a:r>
              <a:rPr lang="en-US" sz="2800" dirty="0" smtClean="0"/>
              <a:t>Rectangle </a:t>
            </a:r>
            <a:r>
              <a:rPr lang="en-US" sz="2800" dirty="0" err="1"/>
              <a:t>rg</a:t>
            </a:r>
            <a:r>
              <a:rPr lang="en-US" sz="2800" dirty="0"/>
              <a:t> = new Rectangle(0, 0, 200, 300);</a:t>
            </a:r>
          </a:p>
          <a:p>
            <a:r>
              <a:rPr lang="en-US" sz="2800" dirty="0" smtClean="0"/>
              <a:t>Rectangle </a:t>
            </a:r>
            <a:r>
              <a:rPr lang="en-US" sz="2800" dirty="0" err="1"/>
              <a:t>rect</a:t>
            </a:r>
            <a:r>
              <a:rPr lang="en-US" sz="2800" dirty="0"/>
              <a:t> = new Rectangle(new Point(0, 0), new Size(20, 20</a:t>
            </a:r>
            <a:r>
              <a:rPr lang="en-US" sz="2800" dirty="0" smtClean="0"/>
              <a:t>));</a:t>
            </a:r>
          </a:p>
          <a:p>
            <a:r>
              <a:rPr lang="ru-RU" sz="2800" dirty="0" err="1" smtClean="0"/>
              <a:t>if</a:t>
            </a:r>
            <a:r>
              <a:rPr lang="ru-RU" sz="2800" dirty="0" smtClean="0"/>
              <a:t> </a:t>
            </a:r>
            <a:r>
              <a:rPr lang="ru-RU" sz="2800" dirty="0"/>
              <a:t>(</a:t>
            </a:r>
            <a:r>
              <a:rPr lang="ru-RU" sz="2800" dirty="0" err="1"/>
              <a:t>rg.Contains</a:t>
            </a:r>
            <a:r>
              <a:rPr lang="ru-RU" sz="2800" dirty="0"/>
              <a:t>(</a:t>
            </a:r>
            <a:r>
              <a:rPr lang="ru-RU" sz="2800" dirty="0" err="1"/>
              <a:t>rect</a:t>
            </a:r>
            <a:r>
              <a:rPr lang="ru-RU" sz="2800" dirty="0"/>
              <a:t>)) </a:t>
            </a:r>
            <a:endParaRPr lang="ru-RU" sz="2800" dirty="0" smtClean="0"/>
          </a:p>
          <a:p>
            <a:r>
              <a:rPr lang="ru-RU" sz="2800" dirty="0"/>
              <a:t> </a:t>
            </a:r>
            <a:r>
              <a:rPr lang="ru-RU" sz="2800" dirty="0" smtClean="0"/>
              <a:t>    label1.Text </a:t>
            </a:r>
            <a:r>
              <a:rPr lang="ru-RU" sz="2800" dirty="0"/>
              <a:t>= "Вы попали в область прямоугольника";</a:t>
            </a:r>
          </a:p>
          <a:p>
            <a:r>
              <a:rPr lang="ru-RU" sz="2800" dirty="0" err="1" smtClean="0"/>
              <a:t>else</a:t>
            </a:r>
            <a:r>
              <a:rPr lang="ru-RU" sz="2800" dirty="0" smtClean="0"/>
              <a:t>  label1.Text </a:t>
            </a:r>
            <a:r>
              <a:rPr lang="ru-RU" sz="2800" dirty="0"/>
              <a:t>= "Вы вышли за </a:t>
            </a:r>
            <a:r>
              <a:rPr lang="ru-RU" sz="2800" dirty="0" smtClean="0"/>
              <a:t>область прямоугольника</a:t>
            </a:r>
            <a:r>
              <a:rPr lang="ru-RU" sz="2800" dirty="0"/>
              <a:t>";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380165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60838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Служебные типы </a:t>
            </a:r>
            <a:r>
              <a:rPr lang="en-US" sz="3200" b="1" dirty="0" err="1">
                <a:solidFill>
                  <a:schemeClr val="tx2"/>
                </a:solidFill>
              </a:rPr>
              <a:t>System.Drawing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390124"/>
            <a:ext cx="84249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Класс </a:t>
            </a:r>
            <a:r>
              <a:rPr lang="ru-RU" sz="2800" b="1" dirty="0" err="1" smtClean="0"/>
              <a:t>Region</a:t>
            </a:r>
            <a:r>
              <a:rPr lang="ru-RU" sz="2800" b="1" dirty="0" smtClean="0"/>
              <a:t> </a:t>
            </a:r>
            <a:r>
              <a:rPr lang="ru-RU" sz="2800" dirty="0"/>
              <a:t> </a:t>
            </a:r>
            <a:r>
              <a:rPr lang="ru-RU" sz="2800" dirty="0" smtClean="0"/>
              <a:t>представляет собой </a:t>
            </a:r>
            <a:r>
              <a:rPr lang="ru-RU" sz="2800" dirty="0"/>
              <a:t>внутреннюю область, занятую </a:t>
            </a:r>
            <a:r>
              <a:rPr lang="ru-RU" sz="2800" dirty="0" smtClean="0"/>
              <a:t>геометрической фигурой.</a:t>
            </a:r>
          </a:p>
          <a:p>
            <a:endParaRPr lang="ru-RU" sz="2800" dirty="0" smtClean="0"/>
          </a:p>
          <a:p>
            <a:r>
              <a:rPr lang="ru-RU" sz="2800" b="1" dirty="0" smtClean="0"/>
              <a:t>Пример</a:t>
            </a:r>
            <a:r>
              <a:rPr lang="ru-RU" sz="2800" b="1" dirty="0"/>
              <a:t>.</a:t>
            </a:r>
            <a:r>
              <a:rPr lang="ru-RU" sz="2800" dirty="0" smtClean="0"/>
              <a:t> Получить область прямоугольника размером 100 </a:t>
            </a:r>
            <a:r>
              <a:rPr lang="ru-RU" sz="2800" dirty="0"/>
              <a:t>на 100 </a:t>
            </a:r>
            <a:r>
              <a:rPr lang="ru-RU" sz="2800" dirty="0" smtClean="0"/>
              <a:t>пикселов:</a:t>
            </a:r>
            <a:endParaRPr lang="ru-RU" sz="2800" dirty="0"/>
          </a:p>
          <a:p>
            <a:endParaRPr lang="ru-RU" sz="2800" dirty="0" smtClean="0"/>
          </a:p>
          <a:p>
            <a:r>
              <a:rPr lang="en-US" sz="2800" dirty="0" smtClean="0"/>
              <a:t>Rectangle </a:t>
            </a:r>
            <a:r>
              <a:rPr lang="en-US" sz="2800" dirty="0"/>
              <a:t>r</a:t>
            </a:r>
            <a:r>
              <a:rPr lang="en-US" sz="2800" dirty="0" smtClean="0"/>
              <a:t> </a:t>
            </a:r>
            <a:r>
              <a:rPr lang="en-US" sz="2800" dirty="0"/>
              <a:t>= new </a:t>
            </a:r>
            <a:r>
              <a:rPr lang="en-US" sz="2800" dirty="0" smtClean="0"/>
              <a:t>Rectangle(0, 0, 100, </a:t>
            </a:r>
            <a:r>
              <a:rPr lang="en-US" sz="2800" dirty="0"/>
              <a:t>100);</a:t>
            </a:r>
          </a:p>
          <a:p>
            <a:r>
              <a:rPr lang="en-US" sz="2800" dirty="0"/>
              <a:t>Region </a:t>
            </a:r>
            <a:r>
              <a:rPr lang="en-US" sz="2800" dirty="0" err="1"/>
              <a:t>rgn</a:t>
            </a:r>
            <a:r>
              <a:rPr lang="en-US" sz="2800" dirty="0"/>
              <a:t> = new Region(r</a:t>
            </a:r>
            <a:r>
              <a:rPr lang="en-US" sz="28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8669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41658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Методы класса </a:t>
            </a:r>
            <a:r>
              <a:rPr lang="en-US" sz="3200" b="1" dirty="0">
                <a:solidFill>
                  <a:schemeClr val="tx2"/>
                </a:solidFill>
              </a:rPr>
              <a:t>Region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124744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/>
              <a:t>Complement</a:t>
            </a:r>
            <a:r>
              <a:rPr lang="ru-RU" sz="2400" b="1" dirty="0" smtClean="0"/>
              <a:t> </a:t>
            </a:r>
            <a:r>
              <a:rPr lang="ru-RU" sz="2400" dirty="0" smtClean="0"/>
              <a:t>– дополняет объект </a:t>
            </a:r>
            <a:r>
              <a:rPr lang="ru-RU" sz="2400" dirty="0" err="1"/>
              <a:t>Region</a:t>
            </a:r>
            <a:r>
              <a:rPr lang="ru-RU" sz="2400" dirty="0"/>
              <a:t> другими </a:t>
            </a:r>
            <a:r>
              <a:rPr lang="ru-RU" sz="2400" dirty="0" smtClean="0"/>
              <a:t>графическими </a:t>
            </a:r>
            <a:r>
              <a:rPr lang="ru-RU" sz="2400" dirty="0"/>
              <a:t>объектами, </a:t>
            </a:r>
            <a:r>
              <a:rPr lang="ru-RU" sz="2400" dirty="0" smtClean="0"/>
              <a:t>которые с ним не пересекаются.</a:t>
            </a:r>
            <a:endParaRPr lang="ru-RU" sz="2400" dirty="0"/>
          </a:p>
          <a:p>
            <a:r>
              <a:rPr lang="ru-RU" sz="2400" b="1" dirty="0" err="1" smtClean="0"/>
              <a:t>Ex</a:t>
            </a:r>
            <a:r>
              <a:rPr lang="en-US" sz="2400" b="1" dirty="0" smtClean="0"/>
              <a:t>cl</a:t>
            </a:r>
            <a:r>
              <a:rPr lang="ru-RU" sz="2400" b="1" dirty="0" err="1" smtClean="0"/>
              <a:t>ude</a:t>
            </a:r>
            <a:r>
              <a:rPr lang="ru-RU" sz="2400" b="1" dirty="0" smtClean="0"/>
              <a:t> </a:t>
            </a:r>
            <a:r>
              <a:rPr lang="ru-RU" sz="2400" dirty="0" smtClean="0"/>
              <a:t>– исключает область</a:t>
            </a:r>
            <a:r>
              <a:rPr lang="ru-RU" sz="2400" dirty="0"/>
              <a:t>, занимаемую другим графическим объектом, из </a:t>
            </a:r>
            <a:r>
              <a:rPr lang="ru-RU" sz="2400" dirty="0" smtClean="0"/>
              <a:t>области объекта </a:t>
            </a:r>
            <a:r>
              <a:rPr lang="en-US" sz="2400" dirty="0" smtClean="0"/>
              <a:t>Region</a:t>
            </a:r>
            <a:r>
              <a:rPr lang="ru-RU" sz="2400" dirty="0" smtClean="0"/>
              <a:t>.</a:t>
            </a:r>
            <a:endParaRPr lang="en-US" sz="2400" dirty="0"/>
          </a:p>
          <a:p>
            <a:r>
              <a:rPr lang="ru-RU" sz="2400" b="1" dirty="0" err="1" smtClean="0"/>
              <a:t>GetBounds</a:t>
            </a:r>
            <a:r>
              <a:rPr lang="ru-RU" sz="2400" b="1" dirty="0" smtClean="0"/>
              <a:t> </a:t>
            </a:r>
            <a:r>
              <a:rPr lang="ru-RU" sz="2400" dirty="0" smtClean="0"/>
              <a:t>– возвращает объект </a:t>
            </a:r>
            <a:r>
              <a:rPr lang="ru-RU" sz="2400" dirty="0"/>
              <a:t>класса </a:t>
            </a:r>
            <a:r>
              <a:rPr lang="ru-RU" sz="2400" dirty="0" err="1"/>
              <a:t>RectangleF</a:t>
            </a:r>
            <a:r>
              <a:rPr lang="ru-RU" sz="2400" dirty="0"/>
              <a:t>, представляющий прямоугольник, в </a:t>
            </a:r>
            <a:r>
              <a:rPr lang="ru-RU" sz="2400" dirty="0" smtClean="0"/>
              <a:t>который точно </a:t>
            </a:r>
            <a:r>
              <a:rPr lang="ru-RU" sz="2400" dirty="0"/>
              <a:t>вписана область, занимаемая объектом </a:t>
            </a:r>
            <a:r>
              <a:rPr lang="ru-RU" sz="2400" dirty="0" err="1" smtClean="0"/>
              <a:t>Region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b="1" dirty="0" err="1" smtClean="0"/>
              <a:t>Intersect</a:t>
            </a:r>
            <a:r>
              <a:rPr lang="ru-RU" sz="2400" b="1" dirty="0" smtClean="0"/>
              <a:t> </a:t>
            </a:r>
            <a:r>
              <a:rPr lang="ru-RU" sz="2400" dirty="0" smtClean="0"/>
              <a:t>– возвращает область </a:t>
            </a:r>
            <a:r>
              <a:rPr lang="ru-RU" sz="2400" dirty="0"/>
              <a:t>наложения друг на друга исходного и указанного </a:t>
            </a:r>
            <a:r>
              <a:rPr lang="ru-RU" sz="2400" dirty="0" smtClean="0"/>
              <a:t>объектов </a:t>
            </a:r>
            <a:r>
              <a:rPr lang="en-US" sz="2400" dirty="0" smtClean="0"/>
              <a:t>Region</a:t>
            </a:r>
            <a:r>
              <a:rPr lang="ru-RU" sz="2400" dirty="0" smtClean="0"/>
              <a:t>.</a:t>
            </a:r>
            <a:endParaRPr lang="en-US" sz="2400" dirty="0"/>
          </a:p>
          <a:p>
            <a:r>
              <a:rPr lang="ru-RU" sz="2400" b="1" dirty="0" err="1" smtClean="0"/>
              <a:t>Translate</a:t>
            </a:r>
            <a:r>
              <a:rPr lang="ru-RU" sz="2400" b="1" dirty="0" smtClean="0"/>
              <a:t> </a:t>
            </a:r>
            <a:r>
              <a:rPr lang="ru-RU" sz="2400" dirty="0" smtClean="0"/>
              <a:t>– сдвигает координаты </a:t>
            </a:r>
            <a:r>
              <a:rPr lang="ru-RU" sz="2400" dirty="0"/>
              <a:t>объекта </a:t>
            </a:r>
            <a:r>
              <a:rPr lang="ru-RU" sz="2400" dirty="0" err="1" smtClean="0"/>
              <a:t>Region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b="1" dirty="0" err="1" smtClean="0"/>
              <a:t>Union</a:t>
            </a:r>
            <a:r>
              <a:rPr lang="ru-RU" sz="2400" b="1" dirty="0"/>
              <a:t> </a:t>
            </a:r>
            <a:r>
              <a:rPr lang="ru-RU" sz="2400" dirty="0" smtClean="0"/>
              <a:t>– объединяет указанный </a:t>
            </a:r>
            <a:r>
              <a:rPr lang="ru-RU" sz="2400" dirty="0"/>
              <a:t>объект </a:t>
            </a:r>
            <a:r>
              <a:rPr lang="ru-RU" sz="2400" dirty="0" err="1"/>
              <a:t>Region</a:t>
            </a:r>
            <a:r>
              <a:rPr lang="ru-RU" sz="2400" dirty="0"/>
              <a:t> с другим графическим объектом</a:t>
            </a:r>
          </a:p>
          <a:p>
            <a:r>
              <a:rPr lang="ru-RU" sz="2400" b="1" dirty="0" smtClean="0"/>
              <a:t>Хо</a:t>
            </a:r>
            <a:r>
              <a:rPr lang="en-US" sz="2400" b="1" dirty="0" smtClean="0"/>
              <a:t>r</a:t>
            </a:r>
            <a:r>
              <a:rPr lang="ru-RU" sz="2400" b="1" dirty="0" smtClean="0"/>
              <a:t> </a:t>
            </a:r>
            <a:r>
              <a:rPr lang="ru-RU" sz="2400" dirty="0" smtClean="0"/>
              <a:t>– объединяет указанный </a:t>
            </a:r>
            <a:r>
              <a:rPr lang="ru-RU" sz="2400" dirty="0"/>
              <a:t>объект </a:t>
            </a:r>
            <a:r>
              <a:rPr lang="ru-RU" sz="2400" dirty="0" err="1"/>
              <a:t>Region</a:t>
            </a:r>
            <a:r>
              <a:rPr lang="ru-RU" sz="2400" dirty="0"/>
              <a:t> с другим графическим объектом, </a:t>
            </a:r>
            <a:r>
              <a:rPr lang="ru-RU" sz="2400" dirty="0" smtClean="0"/>
              <a:t>исключая при </a:t>
            </a:r>
            <a:r>
              <a:rPr lang="ru-RU" sz="2400" dirty="0"/>
              <a:t>этом область пересечения этих </a:t>
            </a:r>
            <a:r>
              <a:rPr lang="ru-RU" sz="2400" dirty="0" smtClean="0"/>
              <a:t>объектов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45896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960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графики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261204"/>
            <a:ext cx="835292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Для вывода графики на форму, необходимо заместить виртуальный метод </a:t>
            </a:r>
            <a:r>
              <a:rPr lang="en-US" sz="2800" b="1" dirty="0" err="1" smtClean="0"/>
              <a:t>OnPaint</a:t>
            </a:r>
            <a:r>
              <a:rPr lang="ru-RU" sz="2800" b="1" dirty="0" smtClean="0"/>
              <a:t>()</a:t>
            </a:r>
            <a:r>
              <a:rPr lang="ru-RU" sz="2800" dirty="0" smtClean="0"/>
              <a:t>.</a:t>
            </a:r>
          </a:p>
          <a:p>
            <a:endParaRPr lang="ru-RU" sz="2800" dirty="0" smtClean="0"/>
          </a:p>
          <a:p>
            <a:r>
              <a:rPr lang="ru-RU" sz="2800" b="1" dirty="0" smtClean="0"/>
              <a:t>Пример1.</a:t>
            </a:r>
            <a:r>
              <a:rPr lang="ru-RU" sz="2800" dirty="0" smtClean="0"/>
              <a:t> </a:t>
            </a:r>
            <a:r>
              <a:rPr lang="ru-RU" sz="2800" dirty="0" smtClean="0"/>
              <a:t>Вывести на форму желтый </a:t>
            </a:r>
            <a:r>
              <a:rPr lang="ru-RU" sz="2800" dirty="0" smtClean="0"/>
              <a:t>прямоугольник</a:t>
            </a:r>
            <a:endParaRPr lang="ru-RU" sz="2800" dirty="0" smtClean="0"/>
          </a:p>
          <a:p>
            <a:r>
              <a:rPr lang="en-US" sz="2800" dirty="0" smtClean="0"/>
              <a:t>protected </a:t>
            </a:r>
            <a:r>
              <a:rPr lang="en-US" sz="2800" dirty="0"/>
              <a:t>override void </a:t>
            </a:r>
            <a:r>
              <a:rPr lang="en-US" sz="2800" dirty="0" err="1"/>
              <a:t>OnPaint</a:t>
            </a:r>
            <a:r>
              <a:rPr lang="en-US" sz="2800" dirty="0"/>
              <a:t>(</a:t>
            </a:r>
            <a:r>
              <a:rPr lang="en-US" sz="2800" dirty="0" err="1"/>
              <a:t>PaintEventArgs</a:t>
            </a:r>
            <a:r>
              <a:rPr lang="en-US" sz="2800" dirty="0"/>
              <a:t> e)</a:t>
            </a:r>
          </a:p>
          <a:p>
            <a:r>
              <a:rPr lang="ru-RU" sz="2800" dirty="0" smtClean="0"/>
              <a:t>{</a:t>
            </a:r>
            <a:endParaRPr lang="ru-RU" sz="2800" dirty="0"/>
          </a:p>
          <a:p>
            <a:r>
              <a:rPr lang="en-US" sz="2800" dirty="0" smtClean="0"/>
              <a:t>     Rectangle </a:t>
            </a:r>
            <a:r>
              <a:rPr lang="en-US" sz="2800" dirty="0" err="1"/>
              <a:t>rg</a:t>
            </a:r>
            <a:r>
              <a:rPr lang="en-US" sz="2800" dirty="0"/>
              <a:t> = new Rectangle(0, 0, 200, 300</a:t>
            </a:r>
            <a:r>
              <a:rPr lang="en-US" sz="2800" dirty="0" smtClean="0"/>
              <a:t>);</a:t>
            </a:r>
            <a:endParaRPr lang="en-US" sz="2800" dirty="0"/>
          </a:p>
          <a:p>
            <a:r>
              <a:rPr lang="en-US" sz="2800" dirty="0"/>
              <a:t>     </a:t>
            </a:r>
            <a:r>
              <a:rPr lang="en-US" sz="2800" dirty="0" smtClean="0"/>
              <a:t>Brush </a:t>
            </a:r>
            <a:r>
              <a:rPr lang="en-US" sz="2800" dirty="0"/>
              <a:t>brush1 = </a:t>
            </a:r>
            <a:r>
              <a:rPr lang="en-US" sz="2800" dirty="0" err="1"/>
              <a:t>Brushes.Yellow</a:t>
            </a:r>
            <a:r>
              <a:rPr lang="en-US" sz="2800" dirty="0" smtClean="0"/>
              <a:t>;</a:t>
            </a:r>
          </a:p>
          <a:p>
            <a:r>
              <a:rPr lang="ru-RU" sz="2800" dirty="0"/>
              <a:t> </a:t>
            </a:r>
            <a:r>
              <a:rPr lang="ru-RU" sz="2800" dirty="0" smtClean="0"/>
              <a:t>    </a:t>
            </a:r>
            <a:r>
              <a:rPr lang="en-US" sz="2800" dirty="0" smtClean="0"/>
              <a:t>//</a:t>
            </a:r>
            <a:r>
              <a:rPr lang="ru-RU" sz="2800" dirty="0"/>
              <a:t>так делать не </a:t>
            </a:r>
            <a:r>
              <a:rPr lang="ru-RU" sz="2800" dirty="0" smtClean="0"/>
              <a:t>стоит:</a:t>
            </a:r>
          </a:p>
          <a:p>
            <a:r>
              <a:rPr lang="ru-RU" sz="2800" dirty="0" smtClean="0"/>
              <a:t>     </a:t>
            </a:r>
            <a:r>
              <a:rPr lang="en-US" sz="2800" dirty="0" smtClean="0"/>
              <a:t>Graphics </a:t>
            </a:r>
            <a:r>
              <a:rPr lang="en-US" sz="2800" dirty="0"/>
              <a:t>g = </a:t>
            </a:r>
            <a:r>
              <a:rPr lang="en-US" sz="2800" dirty="0" err="1"/>
              <a:t>Graphics.</a:t>
            </a:r>
            <a:r>
              <a:rPr lang="en-US" sz="2800" b="1" dirty="0" err="1"/>
              <a:t>FromHwnd</a:t>
            </a:r>
            <a:r>
              <a:rPr lang="en-US" sz="2800" dirty="0"/>
              <a:t>(</a:t>
            </a:r>
            <a:r>
              <a:rPr lang="en-US" sz="2800" dirty="0" err="1"/>
              <a:t>this.Handle</a:t>
            </a:r>
            <a:r>
              <a:rPr lang="en-US" sz="2800" dirty="0"/>
              <a:t>);</a:t>
            </a:r>
            <a:endParaRPr lang="en-US" sz="2800" dirty="0"/>
          </a:p>
          <a:p>
            <a:r>
              <a:rPr lang="en-US" sz="2800" dirty="0"/>
              <a:t>     </a:t>
            </a:r>
            <a:r>
              <a:rPr lang="en-US" sz="2800" dirty="0" err="1" smtClean="0"/>
              <a:t>g.FillRectangle</a:t>
            </a:r>
            <a:r>
              <a:rPr lang="en-US" sz="2800" dirty="0" smtClean="0"/>
              <a:t>(brush1</a:t>
            </a:r>
            <a:r>
              <a:rPr lang="en-US" sz="2800" dirty="0"/>
              <a:t>, </a:t>
            </a:r>
            <a:r>
              <a:rPr lang="en-US" sz="2800" dirty="0" err="1"/>
              <a:t>rg</a:t>
            </a:r>
            <a:r>
              <a:rPr lang="en-US" sz="2800" dirty="0" smtClean="0"/>
              <a:t>);</a:t>
            </a:r>
            <a:endParaRPr lang="ru-RU" sz="2800" dirty="0" smtClean="0"/>
          </a:p>
          <a:p>
            <a:r>
              <a:rPr lang="ru-RU" sz="2800" dirty="0"/>
              <a:t>     </a:t>
            </a:r>
            <a:r>
              <a:rPr lang="ru-RU" sz="2800" dirty="0" err="1"/>
              <a:t>g.</a:t>
            </a:r>
            <a:r>
              <a:rPr lang="ru-RU" sz="2800" b="1" dirty="0" err="1"/>
              <a:t>Dispose</a:t>
            </a:r>
            <a:r>
              <a:rPr lang="ru-RU" sz="2800" b="1" dirty="0"/>
              <a:t>()</a:t>
            </a:r>
            <a:r>
              <a:rPr lang="ru-RU" sz="2800" dirty="0"/>
              <a:t>; // нужно </a:t>
            </a:r>
            <a:r>
              <a:rPr lang="ru-RU" sz="2800" dirty="0" smtClean="0"/>
              <a:t>освобождать вручную</a:t>
            </a:r>
            <a:endParaRPr lang="en-US" sz="2800" dirty="0"/>
          </a:p>
          <a:p>
            <a:r>
              <a:rPr lang="ru-RU" sz="2800" dirty="0" smtClean="0"/>
              <a:t>}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59607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960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графики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261204"/>
            <a:ext cx="835292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Пример2.</a:t>
            </a:r>
            <a:r>
              <a:rPr lang="ru-RU" sz="2800" dirty="0" smtClean="0"/>
              <a:t> </a:t>
            </a:r>
            <a:r>
              <a:rPr lang="ru-RU" sz="2800" dirty="0" smtClean="0"/>
              <a:t>Вывести на форму желтый прямоугольник:</a:t>
            </a:r>
          </a:p>
          <a:p>
            <a:endParaRPr lang="en-US" sz="2800" dirty="0" smtClean="0"/>
          </a:p>
          <a:p>
            <a:r>
              <a:rPr lang="en-US" sz="2800" dirty="0" smtClean="0"/>
              <a:t>//</a:t>
            </a:r>
            <a:endParaRPr lang="ru-RU" sz="2800" dirty="0" smtClean="0"/>
          </a:p>
          <a:p>
            <a:r>
              <a:rPr lang="en-US" sz="2800" dirty="0" smtClean="0"/>
              <a:t>protected </a:t>
            </a:r>
            <a:r>
              <a:rPr lang="en-US" sz="2800" dirty="0"/>
              <a:t>override void </a:t>
            </a:r>
            <a:r>
              <a:rPr lang="en-US" sz="2800" dirty="0" err="1"/>
              <a:t>OnPaint</a:t>
            </a:r>
            <a:r>
              <a:rPr lang="en-US" sz="2800" dirty="0"/>
              <a:t>(</a:t>
            </a:r>
            <a:r>
              <a:rPr lang="en-US" sz="2800" dirty="0" err="1"/>
              <a:t>PaintEventArgs</a:t>
            </a:r>
            <a:r>
              <a:rPr lang="en-US" sz="2800" dirty="0"/>
              <a:t> e)</a:t>
            </a:r>
          </a:p>
          <a:p>
            <a:r>
              <a:rPr lang="ru-RU" sz="2800" dirty="0" smtClean="0"/>
              <a:t>{</a:t>
            </a:r>
          </a:p>
          <a:p>
            <a:r>
              <a:rPr lang="ru-RU" sz="2800" dirty="0"/>
              <a:t> </a:t>
            </a:r>
            <a:r>
              <a:rPr lang="ru-RU" sz="2800" dirty="0" smtClean="0"/>
              <a:t>    </a:t>
            </a:r>
            <a:r>
              <a:rPr lang="en-US" sz="2800" dirty="0"/>
              <a:t>Rectangle </a:t>
            </a:r>
            <a:r>
              <a:rPr lang="en-US" sz="2800" dirty="0" err="1"/>
              <a:t>rg</a:t>
            </a:r>
            <a:r>
              <a:rPr lang="en-US" sz="2800" dirty="0"/>
              <a:t> = new Rectangle(0, 0, 200, 300);</a:t>
            </a:r>
            <a:endParaRPr lang="ru-RU" sz="2800" dirty="0" smtClean="0"/>
          </a:p>
          <a:p>
            <a:r>
              <a:rPr lang="ru-RU" sz="2800" dirty="0"/>
              <a:t> </a:t>
            </a:r>
            <a:r>
              <a:rPr lang="ru-RU" sz="2800" dirty="0" smtClean="0"/>
              <a:t>    </a:t>
            </a:r>
            <a:r>
              <a:rPr lang="en-US" sz="2800" dirty="0"/>
              <a:t>Brush brush1 = </a:t>
            </a:r>
            <a:r>
              <a:rPr lang="en-US" sz="2800" dirty="0" err="1"/>
              <a:t>Brushes.Yellow</a:t>
            </a:r>
            <a:r>
              <a:rPr lang="en-US" sz="2800" dirty="0" smtClean="0"/>
              <a:t>;</a:t>
            </a:r>
            <a:endParaRPr lang="ru-RU" sz="2800" dirty="0" smtClean="0"/>
          </a:p>
          <a:p>
            <a:r>
              <a:rPr lang="ru-RU" sz="2800" dirty="0"/>
              <a:t> </a:t>
            </a:r>
            <a:r>
              <a:rPr lang="ru-RU" sz="2800" dirty="0" smtClean="0"/>
              <a:t>    </a:t>
            </a:r>
            <a:r>
              <a:rPr lang="en-US" sz="2800" dirty="0" smtClean="0"/>
              <a:t>//</a:t>
            </a:r>
            <a:r>
              <a:rPr lang="ru-RU" sz="2800" dirty="0" smtClean="0"/>
              <a:t>лучше использовать </a:t>
            </a:r>
            <a:r>
              <a:rPr lang="en-US" sz="2800" dirty="0" err="1" smtClean="0"/>
              <a:t>e.Graphics</a:t>
            </a:r>
            <a:r>
              <a:rPr lang="ru-RU" sz="2800" dirty="0" smtClean="0"/>
              <a:t>:</a:t>
            </a:r>
            <a:endParaRPr lang="ru-RU" sz="2800" dirty="0"/>
          </a:p>
          <a:p>
            <a:r>
              <a:rPr lang="en-US" sz="2800" dirty="0" smtClean="0"/>
              <a:t>     </a:t>
            </a:r>
            <a:r>
              <a:rPr lang="en-US" sz="2800" b="1" dirty="0" err="1" smtClean="0"/>
              <a:t>e.Graphics</a:t>
            </a:r>
            <a:r>
              <a:rPr lang="en-US" sz="2800" dirty="0" err="1" smtClean="0"/>
              <a:t>.FillRectangle</a:t>
            </a:r>
            <a:r>
              <a:rPr lang="en-US" sz="2800" dirty="0" smtClean="0"/>
              <a:t>(brush1, </a:t>
            </a:r>
            <a:r>
              <a:rPr lang="en-US" sz="2800" dirty="0" err="1" smtClean="0"/>
              <a:t>rg</a:t>
            </a:r>
            <a:r>
              <a:rPr lang="en-US" sz="2800" dirty="0" smtClean="0"/>
              <a:t>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// </a:t>
            </a:r>
            <a:r>
              <a:rPr lang="ru-RU" sz="2800" dirty="0" smtClean="0"/>
              <a:t>здесь </a:t>
            </a:r>
            <a:r>
              <a:rPr lang="en-US" sz="2800" dirty="0" smtClean="0"/>
              <a:t>Dispose</a:t>
            </a:r>
            <a:r>
              <a:rPr lang="en-US" sz="2800" dirty="0"/>
              <a:t>() </a:t>
            </a:r>
            <a:r>
              <a:rPr lang="ru-RU" sz="2800" dirty="0"/>
              <a:t>вызовется </a:t>
            </a:r>
            <a:r>
              <a:rPr lang="ru-RU" sz="2800" dirty="0" smtClean="0"/>
              <a:t>автоматически</a:t>
            </a:r>
            <a:endParaRPr lang="en-US" sz="2800" dirty="0"/>
          </a:p>
          <a:p>
            <a:r>
              <a:rPr lang="ru-RU" sz="2800" dirty="0" smtClean="0"/>
              <a:t>}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14212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960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графики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261204"/>
            <a:ext cx="835292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Почему </a:t>
            </a:r>
            <a:r>
              <a:rPr lang="en-US" sz="2800" b="1" dirty="0" err="1"/>
              <a:t>e.Graphics</a:t>
            </a:r>
            <a:r>
              <a:rPr lang="en-US" sz="2800" b="1" dirty="0"/>
              <a:t> </a:t>
            </a:r>
            <a:r>
              <a:rPr lang="ru-RU" sz="2800" b="1" dirty="0"/>
              <a:t>лучше</a:t>
            </a:r>
            <a:r>
              <a:rPr lang="ru-RU" sz="2800" b="1" dirty="0" smtClean="0"/>
              <a:t>:</a:t>
            </a:r>
            <a:endParaRPr lang="en-US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i="1" dirty="0" smtClean="0"/>
              <a:t>Не </a:t>
            </a:r>
            <a:r>
              <a:rPr lang="ru-RU" sz="2800" i="1" dirty="0"/>
              <a:t>нужно вызывать </a:t>
            </a:r>
            <a:r>
              <a:rPr lang="en-US" sz="2800" i="1" dirty="0"/>
              <a:t>Dispose</a:t>
            </a:r>
            <a:r>
              <a:rPr lang="en-US" sz="2800" i="1" dirty="0" smtClean="0"/>
              <a:t>()</a:t>
            </a:r>
            <a:r>
              <a:rPr lang="ru-RU" sz="2800" dirty="0" smtClean="0"/>
              <a:t>:</a:t>
            </a:r>
            <a:r>
              <a:rPr lang="en-US" sz="2800" dirty="0" smtClean="0"/>
              <a:t> </a:t>
            </a:r>
            <a:r>
              <a:rPr lang="ru-RU" sz="2800" dirty="0"/>
              <a:t>объект </a:t>
            </a:r>
            <a:r>
              <a:rPr lang="en-US" sz="2800" dirty="0"/>
              <a:t>Graphics </a:t>
            </a:r>
            <a:r>
              <a:rPr lang="ru-RU" sz="2800" dirty="0"/>
              <a:t>управляется системой и освобождается автоматически после выхода из </a:t>
            </a:r>
            <a:r>
              <a:rPr lang="en-US" sz="2800" dirty="0" err="1"/>
              <a:t>OnPaint</a:t>
            </a:r>
            <a:r>
              <a:rPr lang="en-US" sz="28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i="1" dirty="0" smtClean="0"/>
              <a:t>Нет </a:t>
            </a:r>
            <a:r>
              <a:rPr lang="ru-RU" sz="2800" i="1" dirty="0"/>
              <a:t>риска утечки </a:t>
            </a:r>
            <a:r>
              <a:rPr lang="ru-RU" sz="2800" i="1" dirty="0" smtClean="0"/>
              <a:t>ресурсов</a:t>
            </a:r>
            <a:r>
              <a:rPr lang="ru-RU" sz="2800" dirty="0" smtClean="0"/>
              <a:t>: </a:t>
            </a:r>
            <a:r>
              <a:rPr lang="en-US" sz="2800" dirty="0"/>
              <a:t>Graphics </a:t>
            </a:r>
            <a:r>
              <a:rPr lang="ru-RU" sz="2800" dirty="0" smtClean="0"/>
              <a:t>–</a:t>
            </a:r>
            <a:r>
              <a:rPr lang="en-US" sz="2800" dirty="0" smtClean="0"/>
              <a:t> </a:t>
            </a:r>
            <a:r>
              <a:rPr lang="ru-RU" sz="2800" dirty="0" smtClean="0"/>
              <a:t>это </a:t>
            </a:r>
            <a:r>
              <a:rPr lang="en-US" sz="2800" dirty="0" smtClean="0"/>
              <a:t>unmanaged-</a:t>
            </a:r>
            <a:r>
              <a:rPr lang="ru-RU" sz="2800" dirty="0"/>
              <a:t>ресурс. Если забыть </a:t>
            </a:r>
            <a:r>
              <a:rPr lang="en-US" sz="2800" dirty="0"/>
              <a:t>Dispose() </a:t>
            </a:r>
            <a:r>
              <a:rPr lang="ru-RU" sz="2800" dirty="0"/>
              <a:t>при использовании </a:t>
            </a:r>
            <a:r>
              <a:rPr lang="en-US" sz="2800" dirty="0" err="1"/>
              <a:t>FromHwnd</a:t>
            </a:r>
            <a:r>
              <a:rPr lang="en-US" sz="2800" dirty="0"/>
              <a:t>(), </a:t>
            </a:r>
            <a:r>
              <a:rPr lang="ru-RU" sz="2800" dirty="0"/>
              <a:t>это утечка памяти</a:t>
            </a:r>
            <a:r>
              <a:rPr lang="ru-RU" sz="28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i="1" dirty="0"/>
              <a:t>Учитывает </a:t>
            </a:r>
            <a:r>
              <a:rPr lang="en-US" sz="2800" i="1" dirty="0" err="1"/>
              <a:t>ClipRectangle</a:t>
            </a:r>
            <a:r>
              <a:rPr lang="ru-RU" sz="2800" dirty="0"/>
              <a:t>:</a:t>
            </a:r>
            <a:r>
              <a:rPr lang="en-US" sz="2800" dirty="0"/>
              <a:t> </a:t>
            </a:r>
            <a:r>
              <a:rPr lang="ru-RU" sz="2800" dirty="0"/>
              <a:t>когда вы вызываете </a:t>
            </a:r>
            <a:r>
              <a:rPr lang="en-US" sz="2800" dirty="0"/>
              <a:t>Invalidate(</a:t>
            </a:r>
            <a:r>
              <a:rPr lang="en-US" sz="2800" dirty="0" err="1"/>
              <a:t>rect</a:t>
            </a:r>
            <a:r>
              <a:rPr lang="en-US" sz="2800" dirty="0"/>
              <a:t>) </a:t>
            </a:r>
            <a:r>
              <a:rPr lang="ru-RU" sz="2800" dirty="0"/>
              <a:t>с конкретной областью, </a:t>
            </a:r>
            <a:r>
              <a:rPr lang="en-US" sz="2800" dirty="0" err="1"/>
              <a:t>e.Graphics</a:t>
            </a:r>
            <a:r>
              <a:rPr lang="en-US" sz="2800" dirty="0"/>
              <a:t> </a:t>
            </a:r>
            <a:r>
              <a:rPr lang="ru-RU" sz="2800" dirty="0"/>
              <a:t>уже настроен рисовать только в ней. </a:t>
            </a:r>
            <a:r>
              <a:rPr lang="en-US" sz="2800" dirty="0" err="1"/>
              <a:t>FromHwnd</a:t>
            </a:r>
            <a:r>
              <a:rPr lang="en-US" sz="2800" dirty="0"/>
              <a:t>() </a:t>
            </a:r>
            <a:r>
              <a:rPr lang="ru-RU" sz="2800" dirty="0"/>
              <a:t>этого не знает и рисует поверх всего</a:t>
            </a:r>
            <a:r>
              <a:rPr lang="ru-RU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356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960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графики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79512" y="1477228"/>
            <a:ext cx="907300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Использование </a:t>
            </a:r>
            <a:r>
              <a:rPr lang="en-US" sz="2800" b="1" dirty="0" err="1"/>
              <a:t>ClipRectangle</a:t>
            </a:r>
            <a:r>
              <a:rPr lang="en-US" sz="2800" b="1" dirty="0"/>
              <a:t> </a:t>
            </a:r>
            <a:r>
              <a:rPr lang="ru-RU" sz="2800" dirty="0" smtClean="0"/>
              <a:t>– возможность </a:t>
            </a:r>
            <a:r>
              <a:rPr lang="en-US" sz="2800" dirty="0" err="1" smtClean="0"/>
              <a:t>e.Graphics</a:t>
            </a:r>
            <a:r>
              <a:rPr lang="ru-RU" sz="2800" dirty="0" smtClean="0"/>
              <a:t> перерисовки только указанной области</a:t>
            </a:r>
          </a:p>
          <a:p>
            <a:endParaRPr lang="ru-RU" sz="2800" dirty="0" smtClean="0"/>
          </a:p>
          <a:p>
            <a:r>
              <a:rPr lang="en-US" sz="2800" dirty="0" smtClean="0"/>
              <a:t>protected </a:t>
            </a:r>
            <a:r>
              <a:rPr lang="en-US" sz="2800" dirty="0"/>
              <a:t>override void </a:t>
            </a:r>
            <a:r>
              <a:rPr lang="en-US" sz="2800" dirty="0" err="1"/>
              <a:t>OnPaint</a:t>
            </a:r>
            <a:r>
              <a:rPr lang="en-US" sz="2800" dirty="0"/>
              <a:t>(</a:t>
            </a:r>
            <a:r>
              <a:rPr lang="en-US" sz="2800" dirty="0" err="1"/>
              <a:t>PaintEventArgs</a:t>
            </a:r>
            <a:r>
              <a:rPr lang="en-US" sz="2800" dirty="0"/>
              <a:t> e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r>
              <a:rPr lang="en-US" sz="2800" dirty="0" smtClean="0"/>
              <a:t>{</a:t>
            </a:r>
            <a:endParaRPr lang="ru-RU" sz="2800" dirty="0" smtClean="0"/>
          </a:p>
          <a:p>
            <a:r>
              <a:rPr lang="en-US" sz="2800" dirty="0" smtClean="0"/>
              <a:t>    </a:t>
            </a:r>
            <a:r>
              <a:rPr lang="ru-RU" sz="2800" dirty="0" smtClean="0"/>
              <a:t> </a:t>
            </a:r>
            <a:r>
              <a:rPr lang="en-US" sz="2800" dirty="0" smtClean="0"/>
              <a:t>//</a:t>
            </a:r>
            <a:r>
              <a:rPr lang="ru-RU" sz="2800" dirty="0" smtClean="0"/>
              <a:t>указываем, </a:t>
            </a:r>
            <a:r>
              <a:rPr lang="ru-RU" sz="2800" dirty="0"/>
              <a:t>какая область </a:t>
            </a:r>
            <a:r>
              <a:rPr lang="ru-RU" sz="2800" dirty="0" smtClean="0"/>
              <a:t>требует перерисовки</a:t>
            </a:r>
          </a:p>
          <a:p>
            <a:r>
              <a:rPr lang="en-US" sz="2800" dirty="0"/>
              <a:t> </a:t>
            </a:r>
            <a:r>
              <a:rPr lang="ru-RU" sz="2800" dirty="0" smtClean="0"/>
              <a:t>    </a:t>
            </a:r>
            <a:r>
              <a:rPr lang="en-US" sz="2800" dirty="0" smtClean="0"/>
              <a:t>//</a:t>
            </a:r>
            <a:r>
              <a:rPr lang="ru-RU" sz="2800" dirty="0" smtClean="0"/>
              <a:t>рисуем </a:t>
            </a:r>
            <a:r>
              <a:rPr lang="ru-RU" sz="2800" dirty="0"/>
              <a:t>то, что попадает в эту область</a:t>
            </a:r>
          </a:p>
          <a:p>
            <a:r>
              <a:rPr lang="ru-RU" sz="2800" dirty="0" smtClean="0"/>
              <a:t>     </a:t>
            </a:r>
            <a:r>
              <a:rPr lang="en-US" sz="2800" dirty="0" smtClean="0"/>
              <a:t>Rectangle </a:t>
            </a:r>
            <a:r>
              <a:rPr lang="en-US" sz="2800" dirty="0"/>
              <a:t>clip = </a:t>
            </a:r>
            <a:r>
              <a:rPr lang="en-US" sz="2800" dirty="0" err="1"/>
              <a:t>e.ClipRectangle</a:t>
            </a:r>
            <a:r>
              <a:rPr lang="en-US" sz="2800" dirty="0" smtClean="0"/>
              <a:t>;</a:t>
            </a:r>
            <a:endParaRPr lang="ru-RU" sz="2800" dirty="0" smtClean="0"/>
          </a:p>
          <a:p>
            <a:r>
              <a:rPr lang="ru-RU" sz="2800" dirty="0" smtClean="0"/>
              <a:t>     </a:t>
            </a:r>
            <a:r>
              <a:rPr lang="en-US" sz="2800" dirty="0" smtClean="0"/>
              <a:t>if </a:t>
            </a:r>
            <a:r>
              <a:rPr lang="en-US" sz="2800" dirty="0"/>
              <a:t>(</a:t>
            </a:r>
            <a:r>
              <a:rPr lang="en-US" sz="2800" dirty="0" err="1"/>
              <a:t>clip.IntersectsWith</a:t>
            </a:r>
            <a:r>
              <a:rPr lang="en-US" sz="2800" dirty="0"/>
              <a:t>(new Rectangle(10, 10, 100, 100</a:t>
            </a:r>
            <a:r>
              <a:rPr lang="en-US" sz="2800" dirty="0" smtClean="0"/>
              <a:t>)))</a:t>
            </a:r>
            <a:endParaRPr lang="ru-RU" sz="2800" dirty="0" smtClean="0"/>
          </a:p>
          <a:p>
            <a:r>
              <a:rPr lang="en-US" sz="2800" dirty="0" smtClean="0"/>
              <a:t>        </a:t>
            </a:r>
            <a:r>
              <a:rPr lang="ru-RU" sz="2800" dirty="0" smtClean="0"/>
              <a:t> </a:t>
            </a:r>
            <a:r>
              <a:rPr lang="en-US" sz="2800" dirty="0" err="1" smtClean="0"/>
              <a:t>e.Graphics.FillRectangle</a:t>
            </a:r>
            <a:r>
              <a:rPr lang="en-US" sz="2800" dirty="0" smtClean="0"/>
              <a:t>(</a:t>
            </a:r>
            <a:r>
              <a:rPr lang="en-US" sz="2800" dirty="0" err="1" smtClean="0"/>
              <a:t>Brushes.Red</a:t>
            </a:r>
            <a:r>
              <a:rPr lang="en-US" sz="2800" dirty="0"/>
              <a:t>, 10, 10, 100, 100</a:t>
            </a:r>
            <a:r>
              <a:rPr lang="en-US" sz="2800" dirty="0" smtClean="0"/>
              <a:t>);</a:t>
            </a:r>
            <a:endParaRPr lang="ru-RU" sz="2800" dirty="0" smtClean="0"/>
          </a:p>
          <a:p>
            <a:r>
              <a:rPr lang="en-US" sz="2800" dirty="0" smtClean="0"/>
              <a:t>}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99691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960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графики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545754"/>
            <a:ext cx="856895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</a:t>
            </a:r>
            <a:r>
              <a:rPr lang="ru-RU" sz="2800" dirty="0"/>
              <a:t>ы</a:t>
            </a:r>
            <a:r>
              <a:rPr lang="ru-RU" sz="2800" dirty="0" smtClean="0"/>
              <a:t> </a:t>
            </a:r>
            <a:r>
              <a:rPr lang="en-US" sz="2800" b="1" dirty="0" smtClean="0"/>
              <a:t>Invalidate</a:t>
            </a:r>
            <a:r>
              <a:rPr lang="ru-RU" sz="2800" b="1" dirty="0" smtClean="0"/>
              <a:t>()</a:t>
            </a:r>
            <a:r>
              <a:rPr lang="en-US" sz="2800" dirty="0" smtClean="0"/>
              <a:t> </a:t>
            </a:r>
            <a:r>
              <a:rPr lang="ru-RU" sz="2800" dirty="0" smtClean="0"/>
              <a:t>и </a:t>
            </a:r>
            <a:r>
              <a:rPr lang="en-US" sz="2800" b="1" dirty="0" smtClean="0"/>
              <a:t>Refresh()</a:t>
            </a:r>
            <a:r>
              <a:rPr lang="en-US" sz="2800" dirty="0" smtClean="0"/>
              <a:t> </a:t>
            </a:r>
            <a:r>
              <a:rPr lang="ru-RU" sz="2800" dirty="0" smtClean="0"/>
              <a:t>– инициируют </a:t>
            </a:r>
            <a:r>
              <a:rPr lang="ru-RU" sz="2800" dirty="0" smtClean="0"/>
              <a:t>перерисовку формы.</a:t>
            </a:r>
          </a:p>
          <a:p>
            <a:endParaRPr lang="ru-RU" sz="2800" dirty="0"/>
          </a:p>
          <a:p>
            <a:r>
              <a:rPr lang="ru-RU" sz="2800" dirty="0" smtClean="0"/>
              <a:t>//перерисовать прямоугольную </a:t>
            </a:r>
            <a:r>
              <a:rPr lang="ru-RU" sz="2800" dirty="0"/>
              <a:t>область на форме</a:t>
            </a:r>
          </a:p>
          <a:p>
            <a:r>
              <a:rPr lang="en-US" sz="2800" dirty="0"/>
              <a:t>private void </a:t>
            </a:r>
            <a:r>
              <a:rPr lang="en-US" sz="2800" dirty="0" err="1" smtClean="0"/>
              <a:t>UpdateArea</a:t>
            </a:r>
            <a:r>
              <a:rPr lang="en-US" sz="2800" dirty="0" smtClean="0"/>
              <a:t>()</a:t>
            </a:r>
            <a:endParaRPr lang="en-US" sz="2800" dirty="0"/>
          </a:p>
          <a:p>
            <a:r>
              <a:rPr lang="en-US" sz="2800" dirty="0"/>
              <a:t>{</a:t>
            </a:r>
            <a:endParaRPr lang="ru-RU" sz="2800" dirty="0"/>
          </a:p>
          <a:p>
            <a:r>
              <a:rPr lang="en-US" sz="2800" dirty="0"/>
              <a:t> </a:t>
            </a:r>
            <a:r>
              <a:rPr lang="en-US" sz="2800" dirty="0" smtClean="0"/>
              <a:t>    Rectangle </a:t>
            </a:r>
            <a:r>
              <a:rPr lang="en-US" sz="2800" dirty="0" err="1"/>
              <a:t>myRect</a:t>
            </a:r>
            <a:r>
              <a:rPr lang="en-US" sz="2800" dirty="0"/>
              <a:t> = new Rectangle(0, </a:t>
            </a:r>
            <a:r>
              <a:rPr lang="en-US" sz="2800" dirty="0" smtClean="0"/>
              <a:t>0, </a:t>
            </a:r>
            <a:r>
              <a:rPr lang="en-US" sz="2800" dirty="0"/>
              <a:t>75, 150</a:t>
            </a:r>
            <a:r>
              <a:rPr lang="en-US" sz="2800" dirty="0" smtClean="0"/>
              <a:t>);</a:t>
            </a:r>
            <a:endParaRPr lang="en-US" sz="2800" dirty="0"/>
          </a:p>
          <a:p>
            <a:r>
              <a:rPr lang="en-US" sz="2800" dirty="0" smtClean="0"/>
              <a:t>     Invalidate(</a:t>
            </a:r>
            <a:r>
              <a:rPr lang="en-US" sz="2800" dirty="0" err="1" smtClean="0"/>
              <a:t>myRect</a:t>
            </a:r>
            <a:r>
              <a:rPr lang="en-US" sz="2800" dirty="0" smtClean="0"/>
              <a:t>);</a:t>
            </a:r>
            <a:endParaRPr lang="en-US" sz="2800" dirty="0"/>
          </a:p>
          <a:p>
            <a:r>
              <a:rPr lang="en-US" sz="2800" dirty="0"/>
              <a:t>}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7390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960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графики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40768"/>
            <a:ext cx="856895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Invalidate()</a:t>
            </a:r>
            <a:r>
              <a:rPr lang="ru-RU" sz="2800" dirty="0"/>
              <a:t> помечает форму (или её часть) как «устаревшую», но не перерисовывает немедленно </a:t>
            </a:r>
            <a:r>
              <a:rPr lang="ru-RU" sz="2800" dirty="0" smtClean="0"/>
              <a:t>– перерисовка произойдет</a:t>
            </a:r>
            <a:r>
              <a:rPr lang="ru-RU" sz="2800" dirty="0"/>
              <a:t>, когда </a:t>
            </a:r>
            <a:r>
              <a:rPr lang="ru-RU" sz="2800" dirty="0" err="1"/>
              <a:t>Windows</a:t>
            </a:r>
            <a:r>
              <a:rPr lang="ru-RU" sz="2800" dirty="0"/>
              <a:t> обработает очередь сообщений. Несколько вызовов Invalidate() подряд могут объединиться в одну перерисовку, что эффективнее</a:t>
            </a:r>
            <a:r>
              <a:rPr lang="ru-RU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b="1" dirty="0" err="1" smtClean="0"/>
              <a:t>Refresh</a:t>
            </a:r>
            <a:r>
              <a:rPr lang="ru-RU" sz="2800" b="1" dirty="0"/>
              <a:t>()</a:t>
            </a:r>
            <a:r>
              <a:rPr lang="ru-RU" sz="2800" dirty="0"/>
              <a:t> </a:t>
            </a:r>
            <a:r>
              <a:rPr lang="ru-RU" sz="2800" dirty="0" smtClean="0"/>
              <a:t>– это Invalidate</a:t>
            </a:r>
            <a:r>
              <a:rPr lang="ru-RU" sz="2800" dirty="0"/>
              <a:t>() + </a:t>
            </a:r>
            <a:r>
              <a:rPr lang="ru-RU" sz="2800" dirty="0" err="1"/>
              <a:t>Update</a:t>
            </a:r>
            <a:r>
              <a:rPr lang="ru-RU" sz="2800" dirty="0"/>
              <a:t>() в одном вызове. Он немедленно и синхронно перерисовывает форму, не дожидаясь очереди сообщений</a:t>
            </a:r>
            <a:r>
              <a:rPr lang="ru-RU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76054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9604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графики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124744"/>
            <a:ext cx="856895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/>
              <a:t>Invalidate</a:t>
            </a:r>
            <a:r>
              <a:rPr lang="ru-RU" sz="2600" dirty="0" smtClean="0"/>
              <a:t>() – отложенная перерисовка (предпочтительно для </a:t>
            </a:r>
            <a:r>
              <a:rPr lang="ru-RU" sz="2600" dirty="0" err="1" smtClean="0"/>
              <a:t>анимаций</a:t>
            </a:r>
            <a:r>
              <a:rPr lang="ru-RU" sz="2600" dirty="0" smtClean="0"/>
              <a:t>). </a:t>
            </a:r>
            <a:r>
              <a:rPr lang="ru-RU" sz="2600" dirty="0"/>
              <a:t>Например, в цикле накопит запросы и сделает одну перерисовку в </a:t>
            </a:r>
            <a:r>
              <a:rPr lang="ru-RU" sz="2600" dirty="0" smtClean="0"/>
              <a:t>конце.</a:t>
            </a:r>
          </a:p>
          <a:p>
            <a:r>
              <a:rPr lang="ru-RU" sz="2600" dirty="0" err="1"/>
              <a:t>Refresh</a:t>
            </a:r>
            <a:r>
              <a:rPr lang="ru-RU" sz="2600" dirty="0" smtClean="0"/>
              <a:t>() – немедленная перерисовка эквивалентно: Invalidate() + </a:t>
            </a:r>
            <a:r>
              <a:rPr lang="ru-RU" sz="2600" dirty="0" err="1" smtClean="0"/>
              <a:t>Update</a:t>
            </a:r>
            <a:r>
              <a:rPr lang="ru-RU" sz="2600" dirty="0" smtClean="0"/>
              <a:t>().</a:t>
            </a:r>
          </a:p>
          <a:p>
            <a:endParaRPr lang="ru-RU" sz="2600" dirty="0" smtClean="0"/>
          </a:p>
          <a:p>
            <a:r>
              <a:rPr lang="ru-RU" sz="2600" b="1" dirty="0" smtClean="0"/>
              <a:t>Когда что использовать:</a:t>
            </a:r>
            <a:endParaRPr lang="ru-RU" sz="2600" b="1" dirty="0" smtClean="0"/>
          </a:p>
          <a:p>
            <a:r>
              <a:rPr lang="ru-RU" sz="2600" dirty="0"/>
              <a:t>Invalidate() </a:t>
            </a:r>
            <a:r>
              <a:rPr lang="ru-RU" sz="2600" dirty="0" smtClean="0"/>
              <a:t>– в большинстве </a:t>
            </a:r>
            <a:r>
              <a:rPr lang="ru-RU" sz="2600" dirty="0"/>
              <a:t>случаев. Оптимально при частых изменениях (анимация, игры), так как </a:t>
            </a:r>
            <a:r>
              <a:rPr lang="ru-RU" sz="2600" dirty="0" err="1"/>
              <a:t>Windows</a:t>
            </a:r>
            <a:r>
              <a:rPr lang="ru-RU" sz="2600" dirty="0"/>
              <a:t> сам группирует перерисовки и не «перегружает» UI</a:t>
            </a:r>
            <a:r>
              <a:rPr lang="ru-RU" sz="2600" dirty="0" smtClean="0"/>
              <a:t>.</a:t>
            </a:r>
          </a:p>
          <a:p>
            <a:r>
              <a:rPr lang="ru-RU" sz="2600" dirty="0" err="1" smtClean="0"/>
              <a:t>Refresh</a:t>
            </a:r>
            <a:r>
              <a:rPr lang="ru-RU" sz="2600" dirty="0"/>
              <a:t>() </a:t>
            </a:r>
            <a:r>
              <a:rPr lang="ru-RU" sz="2600" dirty="0" smtClean="0"/>
              <a:t>– когда результат </a:t>
            </a:r>
            <a:r>
              <a:rPr lang="ru-RU" sz="2600" dirty="0"/>
              <a:t>нужен немедленно. Например, показать прогресс-бар прямо во время длительной операции в том же потоке, или перерисовать форму перед скриншотом.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3116412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27428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Класс </a:t>
            </a:r>
            <a:r>
              <a:rPr lang="en-US" sz="3200" b="1" dirty="0">
                <a:solidFill>
                  <a:schemeClr val="tx2"/>
                </a:solidFill>
              </a:rPr>
              <a:t>Graphics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261204"/>
            <a:ext cx="856895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Методы класса </a:t>
            </a:r>
            <a:r>
              <a:rPr lang="en-US" sz="2800" dirty="0" smtClean="0"/>
              <a:t>Graphics</a:t>
            </a:r>
            <a:r>
              <a:rPr lang="ru-RU" sz="2800" dirty="0" smtClean="0"/>
              <a:t>:</a:t>
            </a:r>
          </a:p>
          <a:p>
            <a:endParaRPr lang="ru-RU" sz="2800" dirty="0" smtClean="0"/>
          </a:p>
          <a:p>
            <a:r>
              <a:rPr lang="en-US" sz="2800" b="1" dirty="0" err="1" smtClean="0"/>
              <a:t>FromHdc</a:t>
            </a:r>
            <a:r>
              <a:rPr lang="ru-RU" sz="2800" b="1" dirty="0" smtClean="0"/>
              <a:t>, </a:t>
            </a:r>
            <a:r>
              <a:rPr lang="en-US" sz="2800" b="1" dirty="0" err="1" smtClean="0"/>
              <a:t>FromHwnd</a:t>
            </a:r>
            <a:r>
              <a:rPr lang="ru-RU" sz="2800" b="1" dirty="0" smtClean="0"/>
              <a:t>, </a:t>
            </a:r>
            <a:r>
              <a:rPr lang="en-US" sz="2800" b="1" dirty="0" err="1" smtClean="0"/>
              <a:t>Fromlmage</a:t>
            </a:r>
            <a:r>
              <a:rPr lang="ru-RU" sz="2800" b="1" dirty="0"/>
              <a:t> </a:t>
            </a:r>
            <a:r>
              <a:rPr lang="ru-RU" sz="2800" dirty="0" smtClean="0"/>
              <a:t>– обеспечивают возможность </a:t>
            </a:r>
            <a:r>
              <a:rPr lang="ru-RU" sz="2800" dirty="0"/>
              <a:t>получения </a:t>
            </a:r>
            <a:r>
              <a:rPr lang="ru-RU" sz="2800" dirty="0" smtClean="0"/>
              <a:t>объекта </a:t>
            </a:r>
            <a:r>
              <a:rPr lang="ru-RU" sz="2800" dirty="0" err="1" smtClean="0"/>
              <a:t>Graphics</a:t>
            </a:r>
            <a:r>
              <a:rPr lang="ru-RU" sz="2800" dirty="0" smtClean="0"/>
              <a:t> </a:t>
            </a:r>
            <a:r>
              <a:rPr lang="ru-RU" sz="2800" dirty="0"/>
              <a:t>из элемента управления или </a:t>
            </a:r>
            <a:r>
              <a:rPr lang="ru-RU" sz="2800" dirty="0" smtClean="0"/>
              <a:t>изображения.</a:t>
            </a:r>
          </a:p>
          <a:p>
            <a:r>
              <a:rPr lang="en-US" sz="2800" b="1" dirty="0" smtClean="0"/>
              <a:t>Clear</a:t>
            </a:r>
            <a:r>
              <a:rPr lang="ru-RU" sz="2800" b="1" dirty="0" smtClean="0"/>
              <a:t> </a:t>
            </a:r>
            <a:r>
              <a:rPr lang="ru-RU" sz="2800" dirty="0" smtClean="0"/>
              <a:t>–</a:t>
            </a:r>
            <a:r>
              <a:rPr lang="en-US" sz="2800" dirty="0" smtClean="0"/>
              <a:t> </a:t>
            </a:r>
            <a:r>
              <a:rPr lang="ru-RU" sz="2800" dirty="0" smtClean="0"/>
              <a:t>заполняет объект </a:t>
            </a:r>
            <a:r>
              <a:rPr lang="ru-RU" sz="2800" dirty="0" err="1"/>
              <a:t>Graphics</a:t>
            </a:r>
            <a:r>
              <a:rPr lang="ru-RU" sz="2800" dirty="0"/>
              <a:t> выбранным </a:t>
            </a:r>
            <a:r>
              <a:rPr lang="ru-RU" sz="2800" dirty="0" smtClean="0"/>
              <a:t>цветом</a:t>
            </a:r>
            <a:r>
              <a:rPr lang="ru-RU" sz="2800" dirty="0"/>
              <a:t>, удаляя </a:t>
            </a:r>
            <a:r>
              <a:rPr lang="ru-RU" sz="2800" dirty="0" smtClean="0"/>
              <a:t>его предыдущее содержимое.</a:t>
            </a:r>
          </a:p>
          <a:p>
            <a:r>
              <a:rPr lang="en-US" sz="2800" b="1" dirty="0" err="1" smtClean="0"/>
              <a:t>DrawArc</a:t>
            </a:r>
            <a:r>
              <a:rPr lang="en-US" sz="2800" b="1" dirty="0"/>
              <a:t>, </a:t>
            </a:r>
            <a:r>
              <a:rPr lang="en-US" sz="2800" b="1" dirty="0" err="1" smtClean="0"/>
              <a:t>DrawEllipse</a:t>
            </a:r>
            <a:r>
              <a:rPr lang="en-US" sz="2800" b="1" dirty="0" smtClean="0"/>
              <a:t>, …</a:t>
            </a:r>
            <a:r>
              <a:rPr lang="ru-RU" sz="2800" dirty="0" smtClean="0"/>
              <a:t> – предназначены </a:t>
            </a:r>
            <a:r>
              <a:rPr lang="ru-RU" sz="2800" dirty="0"/>
              <a:t>для вывода </a:t>
            </a:r>
            <a:r>
              <a:rPr lang="ru-RU" sz="2800" dirty="0" smtClean="0"/>
              <a:t>изображений</a:t>
            </a:r>
            <a:r>
              <a:rPr lang="en-US" sz="2800" dirty="0" smtClean="0"/>
              <a:t> </a:t>
            </a:r>
            <a:r>
              <a:rPr lang="ru-RU" sz="2800" dirty="0" smtClean="0"/>
              <a:t>и </a:t>
            </a:r>
            <a:r>
              <a:rPr lang="ru-RU" sz="2800" dirty="0"/>
              <a:t>геометрических </a:t>
            </a:r>
            <a:r>
              <a:rPr lang="ru-RU" sz="2800" dirty="0" smtClean="0"/>
              <a:t>фигур.</a:t>
            </a:r>
          </a:p>
          <a:p>
            <a:r>
              <a:rPr lang="en-US" sz="2800" b="1" dirty="0" err="1" smtClean="0"/>
              <a:t>FillElllpse</a:t>
            </a:r>
            <a:r>
              <a:rPr lang="ru-RU" sz="2800" b="1" dirty="0" smtClean="0"/>
              <a:t>, </a:t>
            </a:r>
            <a:r>
              <a:rPr lang="en-US" sz="2800" b="1" dirty="0" err="1" smtClean="0"/>
              <a:t>FillPolygon</a:t>
            </a:r>
            <a:r>
              <a:rPr lang="ru-RU" sz="2800" b="1" dirty="0" smtClean="0"/>
              <a:t>, … </a:t>
            </a:r>
            <a:r>
              <a:rPr lang="ru-RU" sz="2800" dirty="0" smtClean="0"/>
              <a:t>– предназначены для заполнения внутренних </a:t>
            </a:r>
            <a:r>
              <a:rPr lang="ru-RU" sz="2800" dirty="0"/>
              <a:t>областей </a:t>
            </a:r>
            <a:r>
              <a:rPr lang="ru-RU" sz="2800" dirty="0" smtClean="0"/>
              <a:t>графических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262731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49714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Системы координат в </a:t>
            </a:r>
            <a:r>
              <a:rPr lang="en-US" sz="3200" b="1" dirty="0">
                <a:solidFill>
                  <a:schemeClr val="tx2"/>
                </a:solidFill>
              </a:rPr>
              <a:t>GDI+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40768"/>
            <a:ext cx="856895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Система</a:t>
            </a:r>
            <a:r>
              <a:rPr lang="ru-RU" sz="2400" dirty="0"/>
              <a:t>, принятая по умолчанию, использует в качестве единицы измерения </a:t>
            </a:r>
            <a:r>
              <a:rPr lang="ru-RU" sz="2400" dirty="0" smtClean="0"/>
              <a:t>пикселы</a:t>
            </a:r>
            <a:r>
              <a:rPr lang="ru-RU" sz="2400" dirty="0"/>
              <a:t>, а в качестве исходной точки </a:t>
            </a:r>
            <a:r>
              <a:rPr lang="ru-RU" sz="2400" dirty="0" smtClean="0"/>
              <a:t>– верхний левый </a:t>
            </a:r>
            <a:r>
              <a:rPr lang="ru-RU" sz="2400" dirty="0"/>
              <a:t>угол. </a:t>
            </a:r>
            <a:endParaRPr lang="ru-RU" sz="2400" dirty="0" smtClean="0"/>
          </a:p>
          <a:p>
            <a:r>
              <a:rPr lang="ru-RU" sz="2400" dirty="0" smtClean="0"/>
              <a:t>Координата </a:t>
            </a:r>
            <a:r>
              <a:rPr lang="ru-RU" sz="2400" dirty="0"/>
              <a:t>X </a:t>
            </a:r>
            <a:r>
              <a:rPr lang="ru-RU" sz="2400" dirty="0" smtClean="0"/>
              <a:t>определяет смещение </a:t>
            </a:r>
            <a:r>
              <a:rPr lang="ru-RU" sz="2400" dirty="0"/>
              <a:t>вправо, </a:t>
            </a:r>
            <a:r>
              <a:rPr lang="ru-RU" sz="2400" dirty="0" smtClean="0"/>
              <a:t>координата </a:t>
            </a:r>
            <a:r>
              <a:rPr lang="ru-RU" sz="2400" dirty="0"/>
              <a:t>Y </a:t>
            </a:r>
            <a:r>
              <a:rPr lang="ru-RU" sz="2400" dirty="0" smtClean="0"/>
              <a:t>– смещение вниз.</a:t>
            </a:r>
          </a:p>
          <a:p>
            <a:endParaRPr lang="ru-RU" sz="2400" dirty="0" smtClean="0"/>
          </a:p>
          <a:p>
            <a:r>
              <a:rPr lang="ru-RU" sz="2400" b="1" dirty="0" smtClean="0"/>
              <a:t>Пример. </a:t>
            </a:r>
            <a:r>
              <a:rPr lang="ru-RU" sz="2400" dirty="0" smtClean="0"/>
              <a:t>Вывод прямоугольника, размером 90х90, </a:t>
            </a:r>
            <a:r>
              <a:rPr lang="ru-RU" sz="2400" dirty="0"/>
              <a:t>отстоящий от </a:t>
            </a:r>
            <a:r>
              <a:rPr lang="ru-RU" sz="2400" dirty="0" smtClean="0"/>
              <a:t>верхнего левого </a:t>
            </a:r>
            <a:r>
              <a:rPr lang="ru-RU" sz="2400" dirty="0"/>
              <a:t>края формы на 10 пикселов вниз и </a:t>
            </a:r>
            <a:r>
              <a:rPr lang="ru-RU" sz="2400" dirty="0" smtClean="0"/>
              <a:t>вправо:</a:t>
            </a:r>
          </a:p>
          <a:p>
            <a:endParaRPr lang="ru-RU" sz="2400" dirty="0" smtClean="0"/>
          </a:p>
          <a:p>
            <a:r>
              <a:rPr lang="en-US" sz="2400" dirty="0"/>
              <a:t>protected override void </a:t>
            </a:r>
            <a:r>
              <a:rPr lang="en-US" sz="2400" dirty="0" err="1"/>
              <a:t>OnPaint</a:t>
            </a:r>
            <a:r>
              <a:rPr lang="en-US" sz="2400" dirty="0"/>
              <a:t>(</a:t>
            </a:r>
            <a:r>
              <a:rPr lang="en-US" sz="2400" dirty="0" err="1"/>
              <a:t>PaintEventArgs</a:t>
            </a:r>
            <a:r>
              <a:rPr lang="en-US" sz="2400" dirty="0"/>
              <a:t> e)</a:t>
            </a:r>
          </a:p>
          <a:p>
            <a:r>
              <a:rPr lang="ru-RU" sz="2400" dirty="0"/>
              <a:t>{</a:t>
            </a:r>
          </a:p>
          <a:p>
            <a:r>
              <a:rPr lang="en-US" sz="2400" dirty="0"/>
              <a:t>  </a:t>
            </a:r>
            <a:r>
              <a:rPr lang="en-US" sz="2400" dirty="0" smtClean="0"/>
              <a:t>   </a:t>
            </a:r>
            <a:r>
              <a:rPr lang="en-US" sz="2400" dirty="0" err="1" smtClean="0"/>
              <a:t>e.Graphics.DrawRectangle</a:t>
            </a:r>
            <a:r>
              <a:rPr lang="en-US" sz="2400" dirty="0" smtClean="0"/>
              <a:t>(new </a:t>
            </a:r>
            <a:r>
              <a:rPr lang="en-US" sz="2400" dirty="0"/>
              <a:t>Pen(</a:t>
            </a:r>
            <a:r>
              <a:rPr lang="en-US" sz="2400" dirty="0" err="1"/>
              <a:t>Color.Red</a:t>
            </a:r>
            <a:r>
              <a:rPr lang="en-US" sz="2400" dirty="0"/>
              <a:t>), 10, 10, 100, 100);</a:t>
            </a:r>
          </a:p>
          <a:p>
            <a:r>
              <a:rPr lang="ru-RU" sz="2400" dirty="0"/>
              <a:t>}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52990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0734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цветом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261204"/>
            <a:ext cx="85689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</a:t>
            </a:r>
            <a:r>
              <a:rPr lang="ru-RU" sz="2400" dirty="0" smtClean="0"/>
              <a:t>труктура </a:t>
            </a:r>
            <a:r>
              <a:rPr lang="ru-RU" sz="2400" b="1" dirty="0" err="1" smtClean="0"/>
              <a:t>Color</a:t>
            </a:r>
            <a:r>
              <a:rPr lang="ru-RU" sz="2400" b="1" dirty="0"/>
              <a:t> </a:t>
            </a:r>
            <a:r>
              <a:rPr lang="ru-RU" sz="2400" dirty="0" smtClean="0"/>
              <a:t>позволяет </a:t>
            </a:r>
            <a:r>
              <a:rPr lang="ru-RU" sz="2400" dirty="0"/>
              <a:t>задать цвет в системе </a:t>
            </a:r>
            <a:r>
              <a:rPr lang="ru-RU" sz="2400" dirty="0" smtClean="0"/>
              <a:t>ARGB: </a:t>
            </a:r>
            <a:br>
              <a:rPr lang="ru-RU" sz="2400" dirty="0" smtClean="0"/>
            </a:br>
            <a:r>
              <a:rPr lang="ru-RU" sz="2400" dirty="0" err="1" smtClean="0"/>
              <a:t>aplha-red-green-blue</a:t>
            </a:r>
            <a:r>
              <a:rPr lang="ru-RU" sz="2400" dirty="0"/>
              <a:t>.</a:t>
            </a:r>
            <a:r>
              <a:rPr lang="ru-RU" sz="2400" dirty="0" smtClean="0"/>
              <a:t> Альфа-канал – прозрачность.</a:t>
            </a:r>
          </a:p>
          <a:p>
            <a:endParaRPr lang="ru-RU" sz="2400" dirty="0" smtClean="0"/>
          </a:p>
          <a:p>
            <a:r>
              <a:rPr lang="ru-RU" sz="2400" dirty="0" smtClean="0"/>
              <a:t>Пример</a:t>
            </a:r>
            <a:r>
              <a:rPr lang="ru-RU" sz="2400" dirty="0" smtClean="0"/>
              <a:t>:</a:t>
            </a:r>
          </a:p>
          <a:p>
            <a:r>
              <a:rPr lang="en-US" sz="2400" dirty="0"/>
              <a:t>Color c1 = </a:t>
            </a:r>
            <a:r>
              <a:rPr lang="en-US" sz="2400" dirty="0" err="1"/>
              <a:t>Color.SeaGreen</a:t>
            </a:r>
            <a:r>
              <a:rPr lang="en-US" sz="2400" dirty="0"/>
              <a:t>;          // </a:t>
            </a:r>
            <a:r>
              <a:rPr lang="ru-RU" sz="2400" dirty="0"/>
              <a:t>именованный цвет</a:t>
            </a:r>
          </a:p>
          <a:p>
            <a:r>
              <a:rPr lang="en-US" sz="2400" dirty="0"/>
              <a:t>Color c2 = </a:t>
            </a:r>
            <a:r>
              <a:rPr lang="en-US" sz="2400" dirty="0" err="1"/>
              <a:t>Color.FromArgb</a:t>
            </a:r>
            <a:r>
              <a:rPr lang="en-US" sz="2400" dirty="0"/>
              <a:t>(255, 100, 149, 237); // ARGB </a:t>
            </a:r>
            <a:r>
              <a:rPr lang="ru-RU" sz="2400" dirty="0"/>
              <a:t>вручную</a:t>
            </a:r>
          </a:p>
          <a:p>
            <a:endParaRPr lang="ru-RU" sz="2400" dirty="0" smtClean="0"/>
          </a:p>
          <a:p>
            <a:r>
              <a:rPr lang="ru-RU" sz="2400" dirty="0" smtClean="0"/>
              <a:t>Класс </a:t>
            </a:r>
            <a:r>
              <a:rPr lang="en-US" sz="2400" b="1" dirty="0" err="1" smtClean="0"/>
              <a:t>ColorDialog</a:t>
            </a:r>
            <a:r>
              <a:rPr lang="ru-RU" sz="2400" b="1" dirty="0" smtClean="0"/>
              <a:t> </a:t>
            </a:r>
            <a:r>
              <a:rPr lang="ru-RU" sz="2400" b="1" dirty="0" smtClean="0"/>
              <a:t>– </a:t>
            </a:r>
            <a:r>
              <a:rPr lang="ru-RU" sz="2400" dirty="0" smtClean="0"/>
              <a:t>стандартный диалог </a:t>
            </a:r>
            <a:r>
              <a:rPr lang="ru-RU" sz="2400" dirty="0"/>
              <a:t>выбора цвета в </a:t>
            </a:r>
            <a:r>
              <a:rPr lang="ru-RU" sz="2400" dirty="0" err="1"/>
              <a:t>Windows</a:t>
            </a:r>
            <a:r>
              <a:rPr lang="ru-RU" sz="2400" dirty="0"/>
              <a:t>. </a:t>
            </a:r>
            <a:endParaRPr lang="ru-RU" sz="2400" dirty="0" smtClean="0"/>
          </a:p>
          <a:p>
            <a:endParaRPr lang="ru-RU" sz="2400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509120"/>
            <a:ext cx="2907113" cy="2012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150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0734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цветом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76067"/>
            <a:ext cx="85689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Пример. </a:t>
            </a:r>
            <a:r>
              <a:rPr lang="ru-RU" sz="2800" dirty="0" smtClean="0"/>
              <a:t>Выводим </a:t>
            </a:r>
            <a:r>
              <a:rPr lang="ru-RU" sz="2800" dirty="0" smtClean="0"/>
              <a:t>информацию о выбранном </a:t>
            </a:r>
            <a:r>
              <a:rPr lang="ru-RU" sz="2800" dirty="0" smtClean="0"/>
              <a:t>цвете фона окна</a:t>
            </a:r>
            <a:endParaRPr lang="ru-RU" sz="2800" dirty="0" smtClean="0"/>
          </a:p>
          <a:p>
            <a:endParaRPr lang="ru-RU" sz="2800" dirty="0" smtClean="0"/>
          </a:p>
          <a:p>
            <a:r>
              <a:rPr lang="en-US" sz="2800" dirty="0" err="1" smtClean="0"/>
              <a:t>ColorDialog</a:t>
            </a:r>
            <a:r>
              <a:rPr lang="en-US" sz="2800" dirty="0" smtClean="0"/>
              <a:t> </a:t>
            </a:r>
            <a:r>
              <a:rPr lang="en-US" sz="2800" dirty="0" err="1"/>
              <a:t>colorDlg</a:t>
            </a:r>
            <a:r>
              <a:rPr lang="en-US" sz="2800" dirty="0"/>
              <a:t> = new </a:t>
            </a:r>
            <a:r>
              <a:rPr lang="en-US" sz="2800" dirty="0" err="1"/>
              <a:t>ColorDialog</a:t>
            </a:r>
            <a:r>
              <a:rPr lang="en-US" sz="2800" dirty="0"/>
              <a:t>();</a:t>
            </a:r>
          </a:p>
          <a:p>
            <a:r>
              <a:rPr lang="en-US" sz="2800" dirty="0"/>
              <a:t>if (</a:t>
            </a:r>
            <a:r>
              <a:rPr lang="en-US" sz="2800" dirty="0" err="1"/>
              <a:t>colorDlg.ShowDialog</a:t>
            </a:r>
            <a:r>
              <a:rPr lang="en-US" sz="2800" dirty="0"/>
              <a:t>() != </a:t>
            </a:r>
            <a:r>
              <a:rPr lang="en-US" sz="2800" dirty="0" err="1"/>
              <a:t>DialogResult.Cancel</a:t>
            </a:r>
            <a:r>
              <a:rPr lang="en-US" sz="2800" dirty="0"/>
              <a:t>)</a:t>
            </a:r>
          </a:p>
          <a:p>
            <a:r>
              <a:rPr lang="ru-RU" sz="2800" dirty="0"/>
              <a:t>{</a:t>
            </a:r>
          </a:p>
          <a:p>
            <a:r>
              <a:rPr lang="ru-RU" sz="2800" dirty="0" smtClean="0"/>
              <a:t>    </a:t>
            </a:r>
            <a:r>
              <a:rPr lang="en-US" sz="2800" dirty="0" err="1" smtClean="0"/>
              <a:t>this.BackColor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en-US" sz="2800" dirty="0" err="1"/>
              <a:t>currColor</a:t>
            </a:r>
            <a:r>
              <a:rPr lang="en-US" sz="2800" dirty="0" smtClean="0"/>
              <a:t>;</a:t>
            </a:r>
            <a:endParaRPr lang="ru-RU" sz="2800" dirty="0" smtClean="0"/>
          </a:p>
          <a:p>
            <a:r>
              <a:rPr lang="ru-RU" sz="2800" dirty="0" smtClean="0"/>
              <a:t>    </a:t>
            </a:r>
            <a:r>
              <a:rPr lang="en-US" sz="2800" dirty="0" err="1" smtClean="0"/>
              <a:t>MessageBox.Show</a:t>
            </a:r>
            <a:r>
              <a:rPr lang="en-US" sz="2800" dirty="0" smtClean="0"/>
              <a:t>("</a:t>
            </a:r>
            <a:r>
              <a:rPr lang="ru-RU" sz="2800" dirty="0" smtClean="0"/>
              <a:t>Выбран цвет</a:t>
            </a:r>
            <a:r>
              <a:rPr lang="en-US" sz="2800" dirty="0" smtClean="0"/>
              <a:t>: </a:t>
            </a:r>
            <a:r>
              <a:rPr lang="en-US" sz="2800" dirty="0"/>
              <a:t>" + </a:t>
            </a:r>
            <a:r>
              <a:rPr lang="ru-RU" sz="2800" dirty="0" smtClean="0"/>
              <a:t>   </a:t>
            </a:r>
          </a:p>
          <a:p>
            <a:r>
              <a:rPr lang="ru-RU" sz="2800" dirty="0"/>
              <a:t> </a:t>
            </a:r>
            <a:r>
              <a:rPr lang="ru-RU" sz="2800" dirty="0" smtClean="0"/>
              <a:t>       </a:t>
            </a:r>
            <a:r>
              <a:rPr lang="en-US" sz="2800" dirty="0" err="1" smtClean="0"/>
              <a:t>colorDlg.Color.ToString</a:t>
            </a:r>
            <a:r>
              <a:rPr lang="en-US" sz="2800" dirty="0"/>
              <a:t>());</a:t>
            </a:r>
            <a:endParaRPr lang="en-US" sz="2800" dirty="0"/>
          </a:p>
          <a:p>
            <a:r>
              <a:rPr lang="ru-RU" sz="2800" dirty="0"/>
              <a:t>}</a:t>
            </a:r>
            <a:endParaRPr lang="ru-RU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55419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261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перьями. Класс </a:t>
            </a:r>
            <a:r>
              <a:rPr lang="ru-RU" sz="3200" b="1" dirty="0" err="1">
                <a:solidFill>
                  <a:schemeClr val="tx2"/>
                </a:solidFill>
              </a:rPr>
              <a:t>Pen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23925"/>
            <a:ext cx="856895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 smtClean="0"/>
              <a:t>Клас</a:t>
            </a:r>
            <a:r>
              <a:rPr lang="ru-RU" sz="2800" dirty="0" smtClean="0"/>
              <a:t>  </a:t>
            </a:r>
            <a:r>
              <a:rPr lang="ru-RU" sz="2800" b="1" dirty="0" err="1" smtClean="0"/>
              <a:t>Pen</a:t>
            </a:r>
            <a:r>
              <a:rPr lang="ru-RU" sz="2800" dirty="0" smtClean="0"/>
              <a:t> </a:t>
            </a:r>
            <a:r>
              <a:rPr lang="ru-RU" sz="2800" dirty="0"/>
              <a:t>используется для рисования контуров: линий, кривых, </a:t>
            </a:r>
            <a:r>
              <a:rPr lang="ru-RU" sz="2800" dirty="0" err="1"/>
              <a:t>незакрашенных</a:t>
            </a:r>
            <a:r>
              <a:rPr lang="ru-RU" sz="2800" dirty="0"/>
              <a:t> фигур. У пера есть цвет, толщина и стиль</a:t>
            </a:r>
            <a:r>
              <a:rPr lang="ru-RU" sz="2800" dirty="0" smtClean="0"/>
              <a:t>.</a:t>
            </a:r>
          </a:p>
          <a:p>
            <a:endParaRPr lang="ru-RU" sz="2800" dirty="0"/>
          </a:p>
          <a:p>
            <a:r>
              <a:rPr lang="ru-RU" sz="2800" dirty="0"/>
              <a:t>Пример создания пера с пунктирной линией:</a:t>
            </a:r>
          </a:p>
          <a:p>
            <a:r>
              <a:rPr lang="en-US" sz="2800" dirty="0"/>
              <a:t>Pen </a:t>
            </a:r>
            <a:r>
              <a:rPr lang="en-US" sz="2800" dirty="0" err="1"/>
              <a:t>pen</a:t>
            </a:r>
            <a:r>
              <a:rPr lang="en-US" sz="2800" dirty="0"/>
              <a:t> = new Pen(</a:t>
            </a:r>
            <a:r>
              <a:rPr lang="en-US" sz="2800" dirty="0" err="1"/>
              <a:t>Color.DarkBlue</a:t>
            </a:r>
            <a:r>
              <a:rPr lang="en-US" sz="2800" dirty="0"/>
              <a:t>, 2);</a:t>
            </a:r>
          </a:p>
          <a:p>
            <a:r>
              <a:rPr lang="en-US" sz="2800" dirty="0" err="1"/>
              <a:t>pen.DashStyle</a:t>
            </a:r>
            <a:r>
              <a:rPr lang="en-US" sz="2800" dirty="0"/>
              <a:t> = </a:t>
            </a:r>
            <a:r>
              <a:rPr lang="en-US" sz="2800" dirty="0" err="1"/>
              <a:t>DashStyle.DashDot</a:t>
            </a:r>
            <a:r>
              <a:rPr lang="en-US" sz="2800" dirty="0"/>
              <a:t>;</a:t>
            </a:r>
          </a:p>
          <a:p>
            <a:r>
              <a:rPr lang="en-US" sz="2800" dirty="0" err="1"/>
              <a:t>e.Graphics.DrawLine</a:t>
            </a:r>
            <a:r>
              <a:rPr lang="en-US" sz="2800" dirty="0"/>
              <a:t>(pen, 10, 10, 200, 10</a:t>
            </a:r>
            <a:r>
              <a:rPr lang="en-US" sz="2800" dirty="0" smtClean="0"/>
              <a:t>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1218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261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перьями. Класс </a:t>
            </a:r>
            <a:r>
              <a:rPr lang="ru-RU" sz="3200" b="1" dirty="0" err="1">
                <a:solidFill>
                  <a:schemeClr val="tx2"/>
                </a:solidFill>
              </a:rPr>
              <a:t>Pen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124744"/>
            <a:ext cx="856895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Основные методы рисования, принимающие объект </a:t>
            </a:r>
            <a:r>
              <a:rPr lang="en-US" sz="2800" b="1" dirty="0"/>
              <a:t>Pen</a:t>
            </a:r>
            <a:r>
              <a:rPr lang="en-US" sz="2800" dirty="0" smtClean="0"/>
              <a:t>:</a:t>
            </a:r>
            <a:endParaRPr lang="ru-RU" sz="2800" dirty="0" smtClean="0"/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DrawLine</a:t>
            </a:r>
            <a:r>
              <a:rPr lang="en-US" sz="2800" dirty="0" smtClean="0"/>
              <a:t> </a:t>
            </a:r>
            <a:r>
              <a:rPr lang="en-US" sz="2800" dirty="0"/>
              <a:t>/ </a:t>
            </a:r>
            <a:r>
              <a:rPr lang="en-US" sz="2800" dirty="0" err="1"/>
              <a:t>DrawLines</a:t>
            </a:r>
            <a:r>
              <a:rPr lang="en-US" sz="2800" dirty="0"/>
              <a:t> – </a:t>
            </a:r>
            <a:r>
              <a:rPr lang="ru-RU" sz="2800" dirty="0"/>
              <a:t>рисует прямую линию или ломаную.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DrawEllipse</a:t>
            </a:r>
            <a:r>
              <a:rPr lang="en-US" sz="2800" dirty="0" smtClean="0"/>
              <a:t> </a:t>
            </a:r>
            <a:r>
              <a:rPr lang="en-US" sz="2800" dirty="0"/>
              <a:t>– </a:t>
            </a:r>
            <a:r>
              <a:rPr lang="ru-RU" sz="2800" dirty="0"/>
              <a:t>рисует эллипс, вписанный в прямоугольник.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DrawRectangle</a:t>
            </a:r>
            <a:r>
              <a:rPr lang="en-US" sz="2800" dirty="0" smtClean="0"/>
              <a:t> </a:t>
            </a:r>
            <a:r>
              <a:rPr lang="en-US" sz="2800" dirty="0"/>
              <a:t>– </a:t>
            </a:r>
            <a:r>
              <a:rPr lang="ru-RU" sz="2800" dirty="0"/>
              <a:t>рисует прямоугольник.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DrawArc</a:t>
            </a:r>
            <a:r>
              <a:rPr lang="en-US" sz="2800" dirty="0" smtClean="0"/>
              <a:t> </a:t>
            </a:r>
            <a:r>
              <a:rPr lang="en-US" sz="2800" dirty="0"/>
              <a:t>– </a:t>
            </a:r>
            <a:r>
              <a:rPr lang="ru-RU" sz="2800" dirty="0"/>
              <a:t>рисует дугу эллипса.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DrawBezier</a:t>
            </a:r>
            <a:r>
              <a:rPr lang="en-US" sz="2800" dirty="0" smtClean="0"/>
              <a:t> </a:t>
            </a:r>
            <a:r>
              <a:rPr lang="en-US" sz="2800" dirty="0"/>
              <a:t>– </a:t>
            </a:r>
            <a:r>
              <a:rPr lang="ru-RU" sz="2800" dirty="0"/>
              <a:t>кривая Безье (используется в дизайне, например в </a:t>
            </a:r>
            <a:r>
              <a:rPr lang="en-US" sz="2800" dirty="0"/>
              <a:t>Adobe Illustrator).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DrawCurve</a:t>
            </a:r>
            <a:r>
              <a:rPr lang="en-US" sz="2800" dirty="0" smtClean="0"/>
              <a:t> </a:t>
            </a:r>
            <a:r>
              <a:rPr lang="en-US" sz="2800" dirty="0"/>
              <a:t>– </a:t>
            </a:r>
            <a:r>
              <a:rPr lang="ru-RU" sz="2800" dirty="0"/>
              <a:t>плавная кривая через набор точек.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7638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261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перьями. Класс </a:t>
            </a:r>
            <a:r>
              <a:rPr lang="ru-RU" sz="3200" b="1" dirty="0" err="1">
                <a:solidFill>
                  <a:schemeClr val="tx2"/>
                </a:solidFill>
              </a:rPr>
              <a:t>Pen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262365"/>
            <a:ext cx="856895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Основные свойства </a:t>
            </a:r>
            <a:r>
              <a:rPr lang="ru-RU" sz="2800" dirty="0"/>
              <a:t>класса </a:t>
            </a:r>
            <a:r>
              <a:rPr lang="ru-RU" sz="2800" dirty="0" smtClean="0"/>
              <a:t>Ре</a:t>
            </a:r>
            <a:r>
              <a:rPr lang="en-US" sz="2800" dirty="0" smtClean="0"/>
              <a:t>n</a:t>
            </a:r>
            <a:r>
              <a:rPr lang="ru-RU" sz="2800" dirty="0" smtClean="0"/>
              <a:t>:</a:t>
            </a:r>
          </a:p>
          <a:p>
            <a:endParaRPr lang="ru-RU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Color </a:t>
            </a:r>
            <a:r>
              <a:rPr lang="en-US" sz="2800" dirty="0"/>
              <a:t>– </a:t>
            </a:r>
            <a:r>
              <a:rPr lang="ru-RU" sz="2800" dirty="0"/>
              <a:t>цвет линий.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Width </a:t>
            </a:r>
            <a:r>
              <a:rPr lang="en-US" sz="2800" dirty="0"/>
              <a:t>– </a:t>
            </a:r>
            <a:r>
              <a:rPr lang="ru-RU" sz="2800" dirty="0"/>
              <a:t>толщина линии в пикселях (можно задать дробное значение).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err="1" smtClean="0"/>
              <a:t>DashStyle</a:t>
            </a:r>
            <a:r>
              <a:rPr lang="en-US" sz="2800" dirty="0" smtClean="0"/>
              <a:t> </a:t>
            </a:r>
            <a:r>
              <a:rPr lang="en-US" sz="2800" dirty="0"/>
              <a:t>– </a:t>
            </a:r>
            <a:r>
              <a:rPr lang="ru-RU" sz="2800" dirty="0"/>
              <a:t>стиль линии. Значения: </a:t>
            </a:r>
            <a:r>
              <a:rPr lang="en-US" sz="2800" dirty="0"/>
              <a:t>Solid (</a:t>
            </a:r>
            <a:r>
              <a:rPr lang="ru-RU" sz="2800" dirty="0"/>
              <a:t>сплошная), </a:t>
            </a:r>
            <a:r>
              <a:rPr lang="en-US" sz="2800" dirty="0"/>
              <a:t>Dash (</a:t>
            </a:r>
            <a:r>
              <a:rPr lang="ru-RU" sz="2800" dirty="0"/>
              <a:t>штрихи), </a:t>
            </a:r>
            <a:r>
              <a:rPr lang="en-US" sz="2800" dirty="0"/>
              <a:t>Dot (</a:t>
            </a:r>
            <a:r>
              <a:rPr lang="ru-RU" sz="2800" dirty="0"/>
              <a:t>точки), </a:t>
            </a:r>
            <a:r>
              <a:rPr lang="en-US" sz="2800" dirty="0" err="1"/>
              <a:t>DashDot</a:t>
            </a:r>
            <a:r>
              <a:rPr lang="en-US" sz="2800" dirty="0"/>
              <a:t>, </a:t>
            </a:r>
            <a:r>
              <a:rPr lang="en-US" sz="2800" dirty="0" err="1"/>
              <a:t>DashDotDot</a:t>
            </a:r>
            <a:r>
              <a:rPr lang="en-US" sz="2800" dirty="0"/>
              <a:t>, Custom.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829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52617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перьями. Класс </a:t>
            </a:r>
            <a:r>
              <a:rPr lang="ru-RU" sz="3200" b="1" dirty="0" err="1">
                <a:solidFill>
                  <a:schemeClr val="tx2"/>
                </a:solidFill>
              </a:rPr>
              <a:t>Pen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90" y="1340768"/>
            <a:ext cx="8519290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21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039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кистью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80832"/>
            <a:ext cx="856895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Brush </a:t>
            </a:r>
            <a:r>
              <a:rPr lang="ru-RU" sz="2400" dirty="0"/>
              <a:t>(кисть) используется для </a:t>
            </a:r>
            <a:r>
              <a:rPr lang="ru-RU" sz="2400" dirty="0" smtClean="0"/>
              <a:t>закрашивания внутренней </a:t>
            </a:r>
            <a:r>
              <a:rPr lang="ru-RU" sz="2400" dirty="0"/>
              <a:t>области фигур. Класс Brush абстрактный, поэтому мы работаем с его наследниками.</a:t>
            </a:r>
          </a:p>
          <a:p>
            <a:endParaRPr lang="ru-RU" sz="2400" b="1" dirty="0"/>
          </a:p>
          <a:p>
            <a:r>
              <a:rPr lang="ru-RU" sz="2400" b="1" dirty="0" smtClean="0"/>
              <a:t>Методы</a:t>
            </a:r>
            <a:r>
              <a:rPr lang="ru-RU" sz="2400" dirty="0" smtClean="0"/>
              <a:t>:</a:t>
            </a:r>
          </a:p>
          <a:p>
            <a:r>
              <a:rPr lang="ru-RU" sz="2400" dirty="0" err="1" smtClean="0"/>
              <a:t>FillClosedCurve</a:t>
            </a:r>
            <a:r>
              <a:rPr lang="ru-RU" sz="2400" dirty="0" smtClean="0"/>
              <a:t> </a:t>
            </a:r>
            <a:r>
              <a:rPr lang="ru-RU" sz="2400" dirty="0"/>
              <a:t>Закрашивает область внутри замкнутой кривой</a:t>
            </a:r>
          </a:p>
          <a:p>
            <a:r>
              <a:rPr lang="ru-RU" sz="2400" dirty="0" err="1" smtClean="0"/>
              <a:t>FillEllipse</a:t>
            </a:r>
            <a:r>
              <a:rPr lang="ru-RU" sz="2400" dirty="0" smtClean="0"/>
              <a:t> </a:t>
            </a:r>
            <a:r>
              <a:rPr lang="ru-RU" sz="2400" dirty="0"/>
              <a:t>Закрашивает область внутри эллипса</a:t>
            </a:r>
          </a:p>
          <a:p>
            <a:r>
              <a:rPr lang="ru-RU" sz="2400" dirty="0" err="1" smtClean="0"/>
              <a:t>FillPath</a:t>
            </a:r>
            <a:r>
              <a:rPr lang="ru-RU" sz="2400" dirty="0" smtClean="0"/>
              <a:t> </a:t>
            </a:r>
            <a:r>
              <a:rPr lang="ru-RU" sz="2400" dirty="0"/>
              <a:t>Закрашивает область внутри траектории</a:t>
            </a:r>
          </a:p>
          <a:p>
            <a:r>
              <a:rPr lang="ru-RU" sz="2400" dirty="0" err="1" smtClean="0"/>
              <a:t>FillPie</a:t>
            </a:r>
            <a:r>
              <a:rPr lang="ru-RU" sz="2400" dirty="0" smtClean="0"/>
              <a:t> </a:t>
            </a:r>
            <a:r>
              <a:rPr lang="ru-RU" sz="2400" dirty="0"/>
              <a:t>Закрашивает область внутри сегмента эллипса</a:t>
            </a:r>
          </a:p>
          <a:p>
            <a:r>
              <a:rPr lang="ru-RU" sz="2400" dirty="0" err="1" smtClean="0"/>
              <a:t>FillPolygon</a:t>
            </a:r>
            <a:r>
              <a:rPr lang="ru-RU" sz="2400" dirty="0" smtClean="0"/>
              <a:t> </a:t>
            </a:r>
            <a:r>
              <a:rPr lang="ru-RU" sz="2400" dirty="0"/>
              <a:t>Закрашивает область внутри многоугольника</a:t>
            </a:r>
          </a:p>
          <a:p>
            <a:r>
              <a:rPr lang="ru-RU" sz="2400" dirty="0" err="1" smtClean="0"/>
              <a:t>FillRectangle</a:t>
            </a:r>
            <a:r>
              <a:rPr lang="ru-RU" sz="2400" dirty="0" smtClean="0"/>
              <a:t> </a:t>
            </a:r>
            <a:r>
              <a:rPr lang="ru-RU" sz="2400" dirty="0"/>
              <a:t>Закрашивают область внутри </a:t>
            </a:r>
            <a:r>
              <a:rPr lang="ru-RU" sz="2400" dirty="0" smtClean="0"/>
              <a:t>прямоугольника</a:t>
            </a:r>
            <a:endParaRPr lang="en-US" sz="2400" dirty="0"/>
          </a:p>
          <a:p>
            <a:r>
              <a:rPr lang="ru-RU" sz="2400" dirty="0" err="1" smtClean="0"/>
              <a:t>FillRegion</a:t>
            </a:r>
            <a:r>
              <a:rPr lang="ru-RU" sz="2400" dirty="0" smtClean="0"/>
              <a:t> </a:t>
            </a:r>
            <a:r>
              <a:rPr lang="ru-RU" sz="2400" dirty="0"/>
              <a:t>Закрашивает внутреннюю область объекта </a:t>
            </a:r>
            <a:r>
              <a:rPr lang="ru-RU" sz="2400" dirty="0" err="1"/>
              <a:t>Region</a:t>
            </a:r>
            <a:r>
              <a:rPr lang="ru-RU" sz="2400" dirty="0"/>
              <a:t> (</a:t>
            </a:r>
            <a:r>
              <a:rPr lang="ru-RU" sz="2400" dirty="0" err="1"/>
              <a:t>Region</a:t>
            </a:r>
            <a:r>
              <a:rPr lang="ru-RU" sz="2400" dirty="0"/>
              <a:t> </a:t>
            </a:r>
            <a:r>
              <a:rPr lang="ru-RU" sz="2400" dirty="0" smtClean="0"/>
              <a:t>– это внутренняя область </a:t>
            </a:r>
            <a:r>
              <a:rPr lang="ru-RU" sz="2400" dirty="0"/>
              <a:t>геометрической фигуры)</a:t>
            </a:r>
          </a:p>
        </p:txBody>
      </p:sp>
    </p:spTree>
    <p:extLst>
      <p:ext uri="{BB962C8B-B14F-4D97-AF65-F5344CB8AC3E}">
        <p14:creationId xmlns:p14="http://schemas.microsoft.com/office/powerpoint/2010/main" val="384517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039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кистью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80832"/>
            <a:ext cx="85689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SolidBrush</a:t>
            </a:r>
            <a:r>
              <a:rPr lang="en-US" sz="2400" dirty="0"/>
              <a:t> – </a:t>
            </a:r>
            <a:r>
              <a:rPr lang="ru-RU" sz="2400" dirty="0"/>
              <a:t>однотонная заливка</a:t>
            </a:r>
          </a:p>
          <a:p>
            <a:r>
              <a:rPr lang="ru-RU" sz="2400" dirty="0"/>
              <a:t>Простейший вид кисти. Заливает область одним цветом:</a:t>
            </a:r>
          </a:p>
          <a:p>
            <a:endParaRPr lang="ru-RU" sz="2400" dirty="0" smtClean="0"/>
          </a:p>
          <a:p>
            <a:r>
              <a:rPr lang="en-US" sz="2400" dirty="0" smtClean="0"/>
              <a:t>Graphics </a:t>
            </a:r>
            <a:r>
              <a:rPr lang="en-US" sz="2400" dirty="0"/>
              <a:t>g = </a:t>
            </a:r>
            <a:r>
              <a:rPr lang="en-US" sz="2400" dirty="0" err="1"/>
              <a:t>e.Graphics</a:t>
            </a:r>
            <a:r>
              <a:rPr lang="en-US" sz="2400" dirty="0"/>
              <a:t>;</a:t>
            </a:r>
          </a:p>
          <a:p>
            <a:r>
              <a:rPr lang="en-US" sz="2400" dirty="0"/>
              <a:t>SolidBrush </a:t>
            </a:r>
            <a:r>
              <a:rPr lang="en-US" sz="2400" dirty="0" err="1"/>
              <a:t>blueBrush</a:t>
            </a:r>
            <a:r>
              <a:rPr lang="en-US" sz="2400" dirty="0"/>
              <a:t> = new SolidBrush(</a:t>
            </a:r>
            <a:r>
              <a:rPr lang="en-US" sz="2400" dirty="0" err="1"/>
              <a:t>Color.Blue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g.FillEllipse</a:t>
            </a:r>
            <a:r>
              <a:rPr lang="en-US" sz="2400" dirty="0"/>
              <a:t>(</a:t>
            </a:r>
            <a:r>
              <a:rPr lang="en-US" sz="2400" dirty="0" err="1"/>
              <a:t>blueBrush</a:t>
            </a:r>
            <a:r>
              <a:rPr lang="en-US" sz="2400" dirty="0"/>
              <a:t>, 10, 10, 100, 100);</a:t>
            </a:r>
          </a:p>
          <a:p>
            <a:r>
              <a:rPr lang="en-US" sz="2400" dirty="0" err="1"/>
              <a:t>g.FillPie</a:t>
            </a:r>
            <a:r>
              <a:rPr lang="en-US" sz="2400" dirty="0"/>
              <a:t>(</a:t>
            </a:r>
            <a:r>
              <a:rPr lang="en-US" sz="2400" dirty="0" err="1"/>
              <a:t>Brushes.Red</a:t>
            </a:r>
            <a:r>
              <a:rPr lang="en-US" sz="2400" dirty="0"/>
              <a:t>, 150, 10, 120, 150, 90, 80);</a:t>
            </a:r>
          </a:p>
          <a:p>
            <a:r>
              <a:rPr lang="en-US" sz="2400" dirty="0"/>
              <a:t>SolidBrush brush3 = new SolidBrush(</a:t>
            </a:r>
            <a:r>
              <a:rPr lang="en-US" sz="2400" dirty="0" err="1"/>
              <a:t>Color.Purple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g.FillPolygon</a:t>
            </a:r>
            <a:r>
              <a:rPr lang="en-US" sz="2400" dirty="0"/>
              <a:t>(brush3, new Point[] {</a:t>
            </a:r>
          </a:p>
          <a:p>
            <a:r>
              <a:rPr lang="en-US" sz="2400" dirty="0"/>
              <a:t>    new Point(30, 140), new Point(265, 200), new Point(100, 225)</a:t>
            </a:r>
          </a:p>
          <a:p>
            <a:r>
              <a:rPr lang="en-US" sz="2400" dirty="0"/>
              <a:t>});</a:t>
            </a:r>
          </a:p>
          <a:p>
            <a:r>
              <a:rPr lang="en-US" sz="2400" dirty="0" err="1"/>
              <a:t>g.FillRectangle</a:t>
            </a:r>
            <a:r>
              <a:rPr lang="en-US" sz="2400" dirty="0"/>
              <a:t>(</a:t>
            </a:r>
            <a:r>
              <a:rPr lang="en-US" sz="2400" dirty="0" err="1"/>
              <a:t>Brushes.Green</a:t>
            </a:r>
            <a:r>
              <a:rPr lang="en-US" sz="2400" dirty="0"/>
              <a:t>, new Rectangle(150, 10, 130, 60));</a:t>
            </a:r>
          </a:p>
        </p:txBody>
      </p:sp>
    </p:spTree>
    <p:extLst>
      <p:ext uri="{BB962C8B-B14F-4D97-AF65-F5344CB8AC3E}">
        <p14:creationId xmlns:p14="http://schemas.microsoft.com/office/powerpoint/2010/main" val="63197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039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кистью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80832"/>
            <a:ext cx="856895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HatchBrush</a:t>
            </a:r>
            <a:r>
              <a:rPr lang="en-US" sz="2400" dirty="0"/>
              <a:t> – </a:t>
            </a:r>
            <a:r>
              <a:rPr lang="ru-RU" sz="2400" dirty="0"/>
              <a:t>штрихованная кисть</a:t>
            </a:r>
          </a:p>
          <a:p>
            <a:r>
              <a:rPr lang="ru-RU" sz="2400" dirty="0"/>
              <a:t>Класс из </a:t>
            </a:r>
            <a:r>
              <a:rPr lang="en-US" sz="2400" dirty="0"/>
              <a:t>System.Drawing.Drawing2D. </a:t>
            </a:r>
            <a:r>
              <a:rPr lang="ru-RU" sz="2400" dirty="0"/>
              <a:t>Позволяет создавать фигуры с различными узорами штриховки:</a:t>
            </a:r>
          </a:p>
          <a:p>
            <a:endParaRPr lang="ru-R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Horizontal </a:t>
            </a:r>
            <a:r>
              <a:rPr lang="en-US" sz="2400" dirty="0"/>
              <a:t>– </a:t>
            </a:r>
            <a:r>
              <a:rPr lang="ru-RU" sz="2400" dirty="0"/>
              <a:t>горизонтальные линии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Vertical </a:t>
            </a:r>
            <a:r>
              <a:rPr lang="en-US" sz="2400" dirty="0"/>
              <a:t>– </a:t>
            </a:r>
            <a:r>
              <a:rPr lang="ru-RU" sz="2400" dirty="0"/>
              <a:t>вертикальные линии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Cross </a:t>
            </a:r>
            <a:r>
              <a:rPr lang="en-US" sz="2400" dirty="0"/>
              <a:t>– </a:t>
            </a:r>
            <a:r>
              <a:rPr lang="ru-RU" sz="2400" dirty="0" smtClean="0"/>
              <a:t>перекр</a:t>
            </a:r>
            <a:r>
              <a:rPr lang="ru-RU" sz="2400" dirty="0"/>
              <a:t>е</a:t>
            </a:r>
            <a:r>
              <a:rPr lang="ru-RU" sz="2400" dirty="0" smtClean="0"/>
              <a:t>стная </a:t>
            </a:r>
            <a:r>
              <a:rPr lang="ru-RU" sz="2400" dirty="0"/>
              <a:t>(горизонталь + вертикаль)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DiagonalCross</a:t>
            </a:r>
            <a:r>
              <a:rPr lang="en-US" sz="2400" dirty="0" smtClean="0"/>
              <a:t> </a:t>
            </a:r>
            <a:r>
              <a:rPr lang="en-US" sz="2400" dirty="0"/>
              <a:t>– </a:t>
            </a:r>
            <a:r>
              <a:rPr lang="ru-RU" sz="2400" dirty="0" smtClean="0"/>
              <a:t>перекр</a:t>
            </a:r>
            <a:r>
              <a:rPr lang="ru-RU" sz="2400" dirty="0"/>
              <a:t>е</a:t>
            </a:r>
            <a:r>
              <a:rPr lang="ru-RU" sz="2400" dirty="0" smtClean="0"/>
              <a:t>стная </a:t>
            </a:r>
            <a:r>
              <a:rPr lang="ru-RU" sz="2400" dirty="0"/>
              <a:t>диагональная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ForwardDiagonal</a:t>
            </a:r>
            <a:r>
              <a:rPr lang="en-US" sz="2400" dirty="0" smtClean="0"/>
              <a:t> </a:t>
            </a:r>
            <a:r>
              <a:rPr lang="en-US" sz="2400" dirty="0"/>
              <a:t>/ </a:t>
            </a:r>
            <a:r>
              <a:rPr lang="en-US" sz="2400" dirty="0" err="1"/>
              <a:t>BackwardDiagonal</a:t>
            </a:r>
            <a:r>
              <a:rPr lang="en-US" sz="2400" dirty="0"/>
              <a:t> – </a:t>
            </a:r>
            <a:r>
              <a:rPr lang="ru-RU" sz="2400" dirty="0"/>
              <a:t>диагонали</a:t>
            </a:r>
          </a:p>
          <a:p>
            <a:endParaRPr lang="ru-RU" sz="2400" dirty="0" smtClean="0"/>
          </a:p>
          <a:p>
            <a:r>
              <a:rPr lang="ru-RU" sz="2400" dirty="0" smtClean="0"/>
              <a:t>Пример</a:t>
            </a:r>
            <a:r>
              <a:rPr lang="ru-RU" sz="2400" dirty="0"/>
              <a:t>:</a:t>
            </a:r>
          </a:p>
          <a:p>
            <a:r>
              <a:rPr lang="en-US" sz="2400" dirty="0" err="1"/>
              <a:t>HatchBrush</a:t>
            </a:r>
            <a:r>
              <a:rPr lang="en-US" sz="2400" dirty="0"/>
              <a:t> </a:t>
            </a:r>
            <a:r>
              <a:rPr lang="en-US" sz="2400" dirty="0" err="1"/>
              <a:t>theBrush</a:t>
            </a:r>
            <a:r>
              <a:rPr lang="en-US" sz="2400" dirty="0"/>
              <a:t> = new </a:t>
            </a:r>
            <a:r>
              <a:rPr lang="en-US" sz="2400" dirty="0" err="1"/>
              <a:t>HatchBrush</a:t>
            </a:r>
            <a:r>
              <a:rPr lang="en-US" sz="2400" dirty="0"/>
              <a:t>(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HatchStyle.Cross</a:t>
            </a:r>
            <a:r>
              <a:rPr lang="en-US" sz="2400" dirty="0"/>
              <a:t>, </a:t>
            </a:r>
            <a:r>
              <a:rPr lang="en-US" sz="2400" dirty="0" err="1"/>
              <a:t>Color.SeaGreen</a:t>
            </a:r>
            <a:r>
              <a:rPr lang="en-US" sz="2400" dirty="0"/>
              <a:t>, </a:t>
            </a:r>
            <a:r>
              <a:rPr lang="en-US" sz="2400" dirty="0" err="1"/>
              <a:t>Color.Silver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g.FillEllipse</a:t>
            </a:r>
            <a:r>
              <a:rPr lang="en-US" sz="2400" dirty="0"/>
              <a:t>(</a:t>
            </a:r>
            <a:r>
              <a:rPr lang="en-US" sz="2400" dirty="0" err="1"/>
              <a:t>theBrush</a:t>
            </a:r>
            <a:r>
              <a:rPr lang="en-US" sz="2400" dirty="0"/>
              <a:t>, 250, 100, 200, 100);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130" y="5589240"/>
            <a:ext cx="2038350" cy="98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167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039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кистью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196752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Пример:</a:t>
            </a:r>
          </a:p>
          <a:p>
            <a:r>
              <a:rPr lang="en-US" sz="2000" dirty="0"/>
              <a:t>Graphics g = </a:t>
            </a:r>
            <a:r>
              <a:rPr lang="en-US" sz="2000" dirty="0" err="1"/>
              <a:t>e.Graphics</a:t>
            </a:r>
            <a:r>
              <a:rPr lang="en-US" sz="2000" dirty="0"/>
              <a:t>;</a:t>
            </a:r>
          </a:p>
          <a:p>
            <a:r>
              <a:rPr lang="ru-RU" sz="2000" dirty="0"/>
              <a:t>// Создаем кисть синего цвета</a:t>
            </a:r>
          </a:p>
          <a:p>
            <a:r>
              <a:rPr lang="en-US" sz="2000" dirty="0"/>
              <a:t>SolidBrush </a:t>
            </a:r>
            <a:r>
              <a:rPr lang="en-US" sz="2000" dirty="0" err="1"/>
              <a:t>blueBrush</a:t>
            </a:r>
            <a:r>
              <a:rPr lang="en-US" sz="2000" dirty="0"/>
              <a:t> = new SolidBrush(</a:t>
            </a:r>
            <a:r>
              <a:rPr lang="en-US" sz="2000" dirty="0" err="1"/>
              <a:t>Color.Blue</a:t>
            </a:r>
            <a:r>
              <a:rPr lang="en-US" sz="2000" dirty="0"/>
              <a:t>);</a:t>
            </a:r>
          </a:p>
          <a:p>
            <a:r>
              <a:rPr lang="ru-RU" sz="2000" dirty="0"/>
              <a:t>// Закрашиваем геометрические фигуры</a:t>
            </a:r>
          </a:p>
          <a:p>
            <a:r>
              <a:rPr lang="en-US" sz="2000" dirty="0" err="1"/>
              <a:t>g.FillEllipse</a:t>
            </a:r>
            <a:r>
              <a:rPr lang="en-US" sz="2000" dirty="0"/>
              <a:t>(</a:t>
            </a:r>
            <a:r>
              <a:rPr lang="en-US" sz="2000" dirty="0" err="1"/>
              <a:t>blueBrush</a:t>
            </a:r>
            <a:r>
              <a:rPr lang="en-US" sz="2000" dirty="0"/>
              <a:t>, 10, 10, 100, 100);</a:t>
            </a:r>
          </a:p>
          <a:p>
            <a:r>
              <a:rPr lang="en-US" sz="2000" dirty="0" err="1"/>
              <a:t>g.FillPie</a:t>
            </a:r>
            <a:r>
              <a:rPr lang="en-US" sz="2000" dirty="0"/>
              <a:t>(</a:t>
            </a:r>
            <a:r>
              <a:rPr lang="en-US" sz="2000" dirty="0" err="1"/>
              <a:t>Brushes.Red</a:t>
            </a:r>
            <a:r>
              <a:rPr lang="en-US" sz="2000" dirty="0"/>
              <a:t>, 150, 10, 120, 150, 90, 80);</a:t>
            </a:r>
          </a:p>
          <a:p>
            <a:r>
              <a:rPr lang="ru-RU" sz="2000" dirty="0"/>
              <a:t>// Закрашиваем многоугольник пурпурным цветом</a:t>
            </a:r>
          </a:p>
          <a:p>
            <a:r>
              <a:rPr lang="en-US" sz="2000" dirty="0"/>
              <a:t>SolidBrush brush3 = new SolidBrush(</a:t>
            </a:r>
            <a:r>
              <a:rPr lang="en-US" sz="2000" dirty="0" err="1"/>
              <a:t>Color.Purple</a:t>
            </a:r>
            <a:r>
              <a:rPr lang="en-US" sz="2000" dirty="0"/>
              <a:t>);</a:t>
            </a:r>
          </a:p>
          <a:p>
            <a:r>
              <a:rPr lang="en-US" sz="2000" dirty="0" err="1"/>
              <a:t>g.FillPolygon</a:t>
            </a:r>
            <a:r>
              <a:rPr lang="en-US" sz="2000" dirty="0"/>
              <a:t>(brush3, new Point[]{ new Point(30, 140),</a:t>
            </a:r>
          </a:p>
          <a:p>
            <a:r>
              <a:rPr lang="en-US" sz="2000" dirty="0"/>
              <a:t>    new Point (265, 200),</a:t>
            </a:r>
          </a:p>
          <a:p>
            <a:r>
              <a:rPr lang="en-US" sz="2000" dirty="0"/>
              <a:t>    new Point(100, 225),</a:t>
            </a:r>
          </a:p>
          <a:p>
            <a:r>
              <a:rPr lang="en-US" sz="2000" dirty="0"/>
              <a:t>    new Point (190, 190),</a:t>
            </a:r>
          </a:p>
          <a:p>
            <a:r>
              <a:rPr lang="en-US" sz="2000" dirty="0"/>
              <a:t>    new Point (50, 330),</a:t>
            </a:r>
          </a:p>
          <a:p>
            <a:r>
              <a:rPr lang="en-US" sz="2000" dirty="0"/>
              <a:t>    new Point (20, 180)});</a:t>
            </a:r>
          </a:p>
          <a:p>
            <a:r>
              <a:rPr lang="ru-RU" sz="2000" dirty="0"/>
              <a:t>// прямоугольник </a:t>
            </a:r>
            <a:r>
              <a:rPr lang="ru-RU" sz="2000" dirty="0" smtClean="0"/>
              <a:t>зеленого цвета:</a:t>
            </a:r>
            <a:endParaRPr lang="ru-RU" sz="2000" dirty="0"/>
          </a:p>
          <a:p>
            <a:r>
              <a:rPr lang="en-US" sz="2000" dirty="0"/>
              <a:t>Rectangle r = new Rectangle(150, 10, 130, 60);</a:t>
            </a:r>
          </a:p>
          <a:p>
            <a:r>
              <a:rPr lang="en-US" sz="2000" dirty="0" err="1"/>
              <a:t>g.FillRectangle</a:t>
            </a:r>
            <a:r>
              <a:rPr lang="en-US" sz="2000" dirty="0"/>
              <a:t>(</a:t>
            </a:r>
            <a:r>
              <a:rPr lang="en-US" sz="2000" dirty="0" err="1"/>
              <a:t>Brushes.Green</a:t>
            </a:r>
            <a:r>
              <a:rPr lang="en-US" sz="2000" dirty="0"/>
              <a:t>, r);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431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0394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Работа с кистью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683568" y="1412776"/>
            <a:ext cx="82089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Результат:</a:t>
            </a:r>
            <a:endParaRPr lang="ru-RU" sz="24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996814"/>
            <a:ext cx="3240360" cy="366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940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032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изображений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51796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Для работы с изображениями в </a:t>
            </a:r>
            <a:r>
              <a:rPr lang="en-US" sz="2800" dirty="0"/>
              <a:t>GDI+ </a:t>
            </a:r>
            <a:r>
              <a:rPr lang="ru-RU" sz="2800" dirty="0"/>
              <a:t>используются классы </a:t>
            </a:r>
            <a:r>
              <a:rPr lang="en-US" sz="2800" b="1" dirty="0"/>
              <a:t>Image </a:t>
            </a:r>
            <a:r>
              <a:rPr lang="ru-RU" sz="2800" dirty="0"/>
              <a:t>и </a:t>
            </a:r>
            <a:r>
              <a:rPr lang="en-US" sz="2800" b="1" dirty="0"/>
              <a:t>Bitmap</a:t>
            </a:r>
            <a:r>
              <a:rPr lang="en-US" sz="2800" dirty="0"/>
              <a:t>.</a:t>
            </a:r>
          </a:p>
          <a:p>
            <a:endParaRPr lang="ru-RU" sz="2800" dirty="0" smtClean="0"/>
          </a:p>
          <a:p>
            <a:r>
              <a:rPr lang="en-US" sz="2800" dirty="0" smtClean="0"/>
              <a:t>Image </a:t>
            </a:r>
            <a:r>
              <a:rPr lang="en-US" sz="2800" dirty="0"/>
              <a:t>– </a:t>
            </a:r>
            <a:r>
              <a:rPr lang="ru-RU" sz="2800" dirty="0"/>
              <a:t>абстрактный базовый класс. </a:t>
            </a:r>
            <a:endParaRPr lang="ru-RU" sz="2800" dirty="0" smtClean="0"/>
          </a:p>
          <a:p>
            <a:endParaRPr lang="ru-RU" sz="2800" dirty="0" smtClean="0"/>
          </a:p>
          <a:p>
            <a:r>
              <a:rPr lang="ru-RU" sz="2800" b="1" dirty="0" smtClean="0"/>
              <a:t>Основные </a:t>
            </a:r>
            <a:r>
              <a:rPr lang="ru-RU" sz="2800" b="1" dirty="0"/>
              <a:t>методы: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Image.FromFile</a:t>
            </a:r>
            <a:r>
              <a:rPr lang="en-US" sz="2800" dirty="0" smtClean="0"/>
              <a:t>(path</a:t>
            </a:r>
            <a:r>
              <a:rPr lang="en-US" sz="2800" dirty="0"/>
              <a:t>) – </a:t>
            </a:r>
            <a:r>
              <a:rPr lang="ru-RU" sz="2800" dirty="0"/>
              <a:t>загрузить изображение из файла.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/>
              <a:t>GetBounds</a:t>
            </a:r>
            <a:r>
              <a:rPr lang="en-US" sz="2800" dirty="0"/>
              <a:t>() – </a:t>
            </a:r>
            <a:r>
              <a:rPr lang="ru-RU" sz="2800" dirty="0"/>
              <a:t>получить прямоугольник, занимаемый изображением.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Save(path</a:t>
            </a:r>
            <a:r>
              <a:rPr lang="en-US" sz="2800" dirty="0"/>
              <a:t>) – </a:t>
            </a:r>
            <a:r>
              <a:rPr lang="ru-RU" sz="2800" dirty="0"/>
              <a:t>сохранить изображение в файл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2976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032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изображений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43665"/>
            <a:ext cx="87129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Для </a:t>
            </a:r>
            <a:r>
              <a:rPr lang="ru-RU" sz="2600" dirty="0"/>
              <a:t>отображения изображения на форме используем метод </a:t>
            </a:r>
            <a:r>
              <a:rPr lang="en-US" sz="2600" b="1" dirty="0" err="1"/>
              <a:t>DrawImage</a:t>
            </a:r>
            <a:r>
              <a:rPr lang="en-US" sz="2600" b="1" dirty="0"/>
              <a:t>()</a:t>
            </a:r>
            <a:r>
              <a:rPr lang="en-US" sz="2600" dirty="0"/>
              <a:t> </a:t>
            </a:r>
            <a:r>
              <a:rPr lang="ru-RU" sz="2600" dirty="0"/>
              <a:t>класса </a:t>
            </a:r>
            <a:r>
              <a:rPr lang="en-US" sz="2600" dirty="0"/>
              <a:t>Graphics:</a:t>
            </a:r>
          </a:p>
          <a:p>
            <a:endParaRPr lang="ru-RU" sz="2600" dirty="0" smtClean="0"/>
          </a:p>
          <a:p>
            <a:r>
              <a:rPr lang="en-US" sz="2600" dirty="0" smtClean="0"/>
              <a:t>Image </a:t>
            </a:r>
            <a:r>
              <a:rPr lang="en-US" sz="2600" dirty="0" err="1"/>
              <a:t>img</a:t>
            </a:r>
            <a:r>
              <a:rPr lang="en-US" sz="2600" dirty="0"/>
              <a:t> = new Bitmap("c:\\image.jpg");</a:t>
            </a:r>
          </a:p>
          <a:p>
            <a:r>
              <a:rPr lang="en-US" sz="2600" dirty="0" err="1"/>
              <a:t>g.DrawImage</a:t>
            </a:r>
            <a:r>
              <a:rPr lang="en-US" sz="2600" dirty="0"/>
              <a:t>(</a:t>
            </a:r>
            <a:r>
              <a:rPr lang="en-US" sz="2600" dirty="0" err="1"/>
              <a:t>img</a:t>
            </a:r>
            <a:r>
              <a:rPr lang="en-US" sz="2600" dirty="0"/>
              <a:t>, 10, 10, 200, 260);</a:t>
            </a:r>
          </a:p>
          <a:p>
            <a:endParaRPr lang="ru-RU" sz="2600" dirty="0" smtClean="0"/>
          </a:p>
          <a:p>
            <a:r>
              <a:rPr lang="ru-RU" sz="2600" dirty="0"/>
              <a:t>Четыре параметра </a:t>
            </a:r>
            <a:r>
              <a:rPr lang="en-US" sz="2600" dirty="0" err="1"/>
              <a:t>DrawImage</a:t>
            </a:r>
            <a:r>
              <a:rPr lang="en-US" sz="2600" dirty="0"/>
              <a:t>:</a:t>
            </a:r>
            <a:endParaRPr lang="ru-RU" sz="2600" dirty="0" smtClean="0"/>
          </a:p>
          <a:p>
            <a:r>
              <a:rPr lang="en-US" sz="2600" dirty="0" smtClean="0"/>
              <a:t>x</a:t>
            </a:r>
            <a:r>
              <a:rPr lang="en-US" sz="2600" dirty="0"/>
              <a:t>, y </a:t>
            </a:r>
            <a:r>
              <a:rPr lang="ru-RU" sz="2600" dirty="0" smtClean="0"/>
              <a:t>– позиция</a:t>
            </a:r>
          </a:p>
          <a:p>
            <a:r>
              <a:rPr lang="en-US" sz="2600" dirty="0" smtClean="0"/>
              <a:t>width</a:t>
            </a:r>
            <a:r>
              <a:rPr lang="en-US" sz="2600" dirty="0"/>
              <a:t>, height </a:t>
            </a:r>
            <a:r>
              <a:rPr lang="ru-RU" sz="2600" dirty="0" smtClean="0"/>
              <a:t>– размер</a:t>
            </a:r>
          </a:p>
          <a:p>
            <a:r>
              <a:rPr lang="ru-RU" sz="2600" dirty="0" smtClean="0"/>
              <a:t> </a:t>
            </a:r>
          </a:p>
          <a:p>
            <a:r>
              <a:rPr lang="ru-RU" sz="2600" dirty="0" smtClean="0"/>
              <a:t>Изображение </a:t>
            </a:r>
            <a:r>
              <a:rPr lang="ru-RU" sz="2600" dirty="0"/>
              <a:t>масштабируется под заданный размер автоматически.</a:t>
            </a:r>
          </a:p>
        </p:txBody>
      </p:sp>
    </p:spTree>
    <p:extLst>
      <p:ext uri="{BB962C8B-B14F-4D97-AF65-F5344CB8AC3E}">
        <p14:creationId xmlns:p14="http://schemas.microsoft.com/office/powerpoint/2010/main" val="76384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032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изображений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325086"/>
            <a:ext cx="87129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/>
              <a:t>PictureBox</a:t>
            </a:r>
            <a:r>
              <a:rPr lang="ru-RU" sz="2800" dirty="0"/>
              <a:t> </a:t>
            </a:r>
            <a:r>
              <a:rPr lang="ru-RU" sz="2800" dirty="0" smtClean="0"/>
              <a:t>– встроенный компонент для отображения изображений в </a:t>
            </a:r>
            <a:r>
              <a:rPr lang="ru-RU" sz="2800" dirty="0" err="1"/>
              <a:t>Windows</a:t>
            </a:r>
            <a:r>
              <a:rPr lang="ru-RU" sz="2800" dirty="0"/>
              <a:t> </a:t>
            </a:r>
            <a:r>
              <a:rPr lang="ru-RU" sz="2800" dirty="0" err="1" smtClean="0"/>
              <a:t>Forms</a:t>
            </a:r>
            <a:endParaRPr lang="ru-RU" sz="2800" dirty="0" smtClean="0"/>
          </a:p>
          <a:p>
            <a:endParaRPr lang="ru-RU" sz="2800" dirty="0"/>
          </a:p>
          <a:p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86225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01906" y="477253"/>
            <a:ext cx="39032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Вывод изображений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124744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/>
              <a:t>Пример. Перетаскивание элемента </a:t>
            </a:r>
            <a:r>
              <a:rPr lang="en-US" sz="2000" b="1" dirty="0" err="1" smtClean="0"/>
              <a:t>PictureBox</a:t>
            </a:r>
            <a:r>
              <a:rPr lang="ru-RU" sz="2000" b="1" dirty="0" smtClean="0"/>
              <a:t>:</a:t>
            </a:r>
            <a:endParaRPr lang="en-US" sz="2000" b="1" dirty="0" smtClean="0"/>
          </a:p>
          <a:p>
            <a:r>
              <a:rPr lang="en-US" sz="2000" dirty="0" err="1"/>
              <a:t>bool</a:t>
            </a:r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/>
              <a:t>isDragging</a:t>
            </a:r>
            <a:r>
              <a:rPr lang="en-US" sz="2000" dirty="0"/>
              <a:t>;</a:t>
            </a:r>
            <a:endParaRPr lang="en-US" sz="2000" dirty="0" smtClean="0"/>
          </a:p>
          <a:p>
            <a:r>
              <a:rPr lang="en-US" sz="2000" dirty="0" smtClean="0"/>
              <a:t>private </a:t>
            </a:r>
            <a:r>
              <a:rPr lang="en-US" sz="2000" dirty="0"/>
              <a:t>void pictureBox1_MouseDown(object sender</a:t>
            </a:r>
            <a:r>
              <a:rPr lang="en-US" sz="2000" dirty="0" smtClean="0"/>
              <a:t>, </a:t>
            </a:r>
            <a:r>
              <a:rPr lang="en-US" sz="2000" dirty="0" err="1" smtClean="0"/>
              <a:t>MouseEventArgs</a:t>
            </a:r>
            <a:r>
              <a:rPr lang="en-US" sz="2000" dirty="0" smtClean="0"/>
              <a:t> </a:t>
            </a:r>
            <a:r>
              <a:rPr lang="en-US" sz="2000" dirty="0"/>
              <a:t>e)</a:t>
            </a:r>
          </a:p>
          <a:p>
            <a:r>
              <a:rPr lang="ru-RU" sz="2000" dirty="0"/>
              <a:t>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isDragging</a:t>
            </a:r>
            <a:r>
              <a:rPr lang="en-US" sz="2000" dirty="0"/>
              <a:t> = true;</a:t>
            </a:r>
          </a:p>
          <a:p>
            <a:r>
              <a:rPr lang="ru-RU" sz="2000" dirty="0"/>
              <a:t>}</a:t>
            </a:r>
          </a:p>
          <a:p>
            <a:r>
              <a:rPr lang="en-US" sz="2000" dirty="0" smtClean="0"/>
              <a:t>private </a:t>
            </a:r>
            <a:r>
              <a:rPr lang="en-US" sz="2000" dirty="0"/>
              <a:t>void pictureBox1_MouseMove(object sender, </a:t>
            </a:r>
            <a:r>
              <a:rPr lang="en-US" sz="2000" dirty="0" err="1" smtClean="0"/>
              <a:t>MouseEventArgs</a:t>
            </a:r>
            <a:r>
              <a:rPr lang="en-US" sz="2000" dirty="0" smtClean="0"/>
              <a:t> </a:t>
            </a:r>
            <a:r>
              <a:rPr lang="en-US" sz="2000" dirty="0"/>
              <a:t>e)</a:t>
            </a:r>
          </a:p>
          <a:p>
            <a:r>
              <a:rPr lang="ru-RU" sz="2000" dirty="0"/>
              <a:t>{</a:t>
            </a:r>
          </a:p>
          <a:p>
            <a:r>
              <a:rPr lang="en-US" sz="2000" dirty="0"/>
              <a:t>    if (</a:t>
            </a:r>
            <a:r>
              <a:rPr lang="en-US" sz="2000" dirty="0" err="1"/>
              <a:t>isDragging</a:t>
            </a:r>
            <a:r>
              <a:rPr lang="en-US" sz="2000" dirty="0"/>
              <a:t>)</a:t>
            </a:r>
          </a:p>
          <a:p>
            <a:r>
              <a:rPr lang="ru-RU" sz="2000" dirty="0"/>
              <a:t>    {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 pictureBox1.Top </a:t>
            </a:r>
            <a:r>
              <a:rPr lang="en-US" sz="2000" dirty="0"/>
              <a:t>= pictureBox1.Top + (</a:t>
            </a:r>
            <a:r>
              <a:rPr lang="en-US" sz="2000" dirty="0" err="1" smtClean="0"/>
              <a:t>e.Y</a:t>
            </a:r>
            <a:r>
              <a:rPr lang="en-US" sz="2000" dirty="0" smtClean="0"/>
              <a:t>);</a:t>
            </a:r>
            <a:endParaRPr lang="en-US" sz="2000" dirty="0"/>
          </a:p>
          <a:p>
            <a:r>
              <a:rPr lang="en-US" sz="2000" dirty="0" smtClean="0"/>
              <a:t>        pictureBox1.Left </a:t>
            </a:r>
            <a:r>
              <a:rPr lang="en-US" sz="2000" dirty="0"/>
              <a:t>= pictureBox1.Left + (</a:t>
            </a:r>
            <a:r>
              <a:rPr lang="en-US" sz="2000" dirty="0" err="1" smtClean="0"/>
              <a:t>e.X</a:t>
            </a:r>
            <a:r>
              <a:rPr lang="en-US" sz="2000" dirty="0" smtClean="0"/>
              <a:t>);</a:t>
            </a:r>
            <a:endParaRPr lang="en-US" sz="2000" dirty="0"/>
          </a:p>
          <a:p>
            <a:r>
              <a:rPr lang="ru-RU" sz="2000" dirty="0"/>
              <a:t>    }</a:t>
            </a:r>
          </a:p>
          <a:p>
            <a:r>
              <a:rPr lang="ru-RU" sz="2000" dirty="0"/>
              <a:t>}</a:t>
            </a:r>
          </a:p>
          <a:p>
            <a:r>
              <a:rPr lang="en-US" sz="2000" dirty="0" smtClean="0"/>
              <a:t>private </a:t>
            </a:r>
            <a:r>
              <a:rPr lang="en-US" sz="2000" dirty="0"/>
              <a:t>void pictureBox1_MouseUp(object sender, </a:t>
            </a:r>
            <a:r>
              <a:rPr lang="en-US" sz="2000" dirty="0" err="1" smtClean="0"/>
              <a:t>MouseEventArgs</a:t>
            </a:r>
            <a:r>
              <a:rPr lang="en-US" sz="2000" dirty="0" smtClean="0"/>
              <a:t> </a:t>
            </a:r>
            <a:r>
              <a:rPr lang="en-US" sz="2000" dirty="0"/>
              <a:t>e)</a:t>
            </a:r>
          </a:p>
          <a:p>
            <a:r>
              <a:rPr lang="ru-RU" sz="2000" dirty="0"/>
              <a:t>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isDragging</a:t>
            </a:r>
            <a:r>
              <a:rPr lang="en-US" sz="2000" dirty="0"/>
              <a:t> = false;</a:t>
            </a:r>
          </a:p>
          <a:p>
            <a:r>
              <a:rPr lang="ru-RU" sz="2000" dirty="0"/>
              <a:t>}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89604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9361" y="168170"/>
            <a:ext cx="45574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Лабораторная работа </a:t>
            </a:r>
            <a:r>
              <a:rPr lang="en-US" sz="3200" b="1" dirty="0" smtClean="0">
                <a:solidFill>
                  <a:schemeClr val="tx2"/>
                </a:solidFill>
              </a:rPr>
              <a:t>11</a:t>
            </a:r>
            <a:endParaRPr lang="en-US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764704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79512" y="965041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88000" algn="just"/>
            <a:r>
              <a:rPr lang="ru-RU" sz="2000" dirty="0"/>
              <a:t>Создайте на форме компонент </a:t>
            </a:r>
            <a:r>
              <a:rPr lang="ru-RU" sz="2000" dirty="0" err="1"/>
              <a:t>PictureBox</a:t>
            </a:r>
            <a:r>
              <a:rPr lang="ru-RU" sz="2000" dirty="0"/>
              <a:t> и меню (</a:t>
            </a:r>
            <a:r>
              <a:rPr lang="ru-RU" sz="2000" dirty="0" err="1"/>
              <a:t>MenuStrip</a:t>
            </a:r>
            <a:r>
              <a:rPr lang="ru-RU" sz="2000" dirty="0" smtClean="0"/>
              <a:t>).</a:t>
            </a:r>
          </a:p>
          <a:p>
            <a:pPr indent="288000" algn="just"/>
            <a:r>
              <a:rPr lang="ru-RU" sz="2000" dirty="0" smtClean="0"/>
              <a:t>В </a:t>
            </a:r>
            <a:r>
              <a:rPr lang="ru-RU" sz="2000" dirty="0"/>
              <a:t>меню добавьте два раздела: </a:t>
            </a:r>
            <a:r>
              <a:rPr lang="ru-RU" sz="2000" b="1" dirty="0"/>
              <a:t>Файл </a:t>
            </a:r>
            <a:r>
              <a:rPr lang="ru-RU" sz="2000" dirty="0"/>
              <a:t>и </a:t>
            </a:r>
            <a:r>
              <a:rPr lang="ru-RU" sz="2000" b="1" dirty="0"/>
              <a:t>Нарисовать</a:t>
            </a:r>
            <a:r>
              <a:rPr lang="ru-RU" sz="2000" dirty="0" smtClean="0"/>
              <a:t>.</a:t>
            </a:r>
          </a:p>
          <a:p>
            <a:pPr indent="288000" algn="just"/>
            <a:r>
              <a:rPr lang="ru-RU" sz="2000" dirty="0" smtClean="0"/>
              <a:t>Раздел </a:t>
            </a:r>
            <a:r>
              <a:rPr lang="ru-RU" sz="2000" b="1" dirty="0"/>
              <a:t>Файл </a:t>
            </a:r>
            <a:r>
              <a:rPr lang="ru-RU" sz="2000" dirty="0"/>
              <a:t>содержит три пункта</a:t>
            </a:r>
            <a:r>
              <a:rPr lang="ru-RU" sz="2000" dirty="0" smtClean="0"/>
              <a:t>:</a:t>
            </a:r>
          </a:p>
          <a:p>
            <a:pPr indent="288000" algn="just"/>
            <a:r>
              <a:rPr lang="ru-RU" sz="2000" b="1" dirty="0" smtClean="0"/>
              <a:t>Новый </a:t>
            </a:r>
            <a:r>
              <a:rPr lang="ru-RU" sz="2000" dirty="0"/>
              <a:t>— очищает </a:t>
            </a:r>
            <a:r>
              <a:rPr lang="ru-RU" sz="2000" dirty="0" err="1"/>
              <a:t>PictureBox</a:t>
            </a:r>
            <a:r>
              <a:rPr lang="ru-RU" sz="2000" dirty="0"/>
              <a:t>, заливая его белым фоном</a:t>
            </a:r>
            <a:r>
              <a:rPr lang="ru-RU" sz="2000" dirty="0" smtClean="0"/>
              <a:t>.</a:t>
            </a:r>
          </a:p>
          <a:p>
            <a:pPr indent="288000" algn="just"/>
            <a:r>
              <a:rPr lang="ru-RU" sz="2000" b="1" dirty="0" smtClean="0"/>
              <a:t>Открыть</a:t>
            </a:r>
            <a:r>
              <a:rPr lang="ru-RU" sz="2000" dirty="0" smtClean="0"/>
              <a:t> </a:t>
            </a:r>
            <a:r>
              <a:rPr lang="ru-RU" sz="2000" dirty="0"/>
              <a:t>— открывает диалог выбора файла и загружает выбранное изображение в </a:t>
            </a:r>
            <a:r>
              <a:rPr lang="ru-RU" sz="2000" dirty="0" err="1"/>
              <a:t>PictureBox</a:t>
            </a:r>
            <a:r>
              <a:rPr lang="ru-RU" sz="2000" dirty="0" smtClean="0"/>
              <a:t>.</a:t>
            </a:r>
          </a:p>
          <a:p>
            <a:pPr indent="288000" algn="just"/>
            <a:r>
              <a:rPr lang="ru-RU" sz="2000" b="1" dirty="0" smtClean="0"/>
              <a:t>Сохранить</a:t>
            </a:r>
            <a:r>
              <a:rPr lang="ru-RU" sz="2000" dirty="0" smtClean="0"/>
              <a:t> </a:t>
            </a:r>
            <a:r>
              <a:rPr lang="ru-RU" sz="2000" dirty="0"/>
              <a:t>— сохраняет текущее содержимое </a:t>
            </a:r>
            <a:r>
              <a:rPr lang="ru-RU" sz="2000" dirty="0" err="1"/>
              <a:t>PictureBox</a:t>
            </a:r>
            <a:r>
              <a:rPr lang="ru-RU" sz="2000" dirty="0"/>
              <a:t> на диск</a:t>
            </a:r>
            <a:r>
              <a:rPr lang="ru-RU" sz="2000" dirty="0" smtClean="0"/>
              <a:t>.</a:t>
            </a:r>
          </a:p>
          <a:p>
            <a:pPr indent="288000" algn="just"/>
            <a:r>
              <a:rPr lang="ru-RU" sz="2000" dirty="0" smtClean="0"/>
              <a:t>Раздел </a:t>
            </a:r>
            <a:r>
              <a:rPr lang="ru-RU" sz="2000" b="1" dirty="0"/>
              <a:t>Нарисовать </a:t>
            </a:r>
            <a:r>
              <a:rPr lang="ru-RU" sz="2000" dirty="0"/>
              <a:t>содержит три пункта</a:t>
            </a:r>
            <a:r>
              <a:rPr lang="ru-RU" sz="2000" dirty="0" smtClean="0"/>
              <a:t>:</a:t>
            </a:r>
          </a:p>
          <a:p>
            <a:pPr indent="288000" algn="just"/>
            <a:r>
              <a:rPr lang="ru-RU" sz="2000" b="1" dirty="0" smtClean="0"/>
              <a:t>Круг</a:t>
            </a:r>
            <a:r>
              <a:rPr lang="ru-RU" sz="2000" dirty="0" smtClean="0"/>
              <a:t> </a:t>
            </a:r>
            <a:r>
              <a:rPr lang="ru-RU" sz="2000" dirty="0"/>
              <a:t>— </a:t>
            </a:r>
            <a:r>
              <a:rPr lang="ru-RU" sz="2000" dirty="0" smtClean="0"/>
              <a:t>рисует </a:t>
            </a:r>
            <a:r>
              <a:rPr lang="ru-RU" sz="2000" dirty="0"/>
              <a:t>круг </a:t>
            </a:r>
            <a:r>
              <a:rPr lang="ru-RU" sz="2000" dirty="0" smtClean="0"/>
              <a:t>со случайными размером </a:t>
            </a:r>
            <a:r>
              <a:rPr lang="ru-RU" sz="2000" dirty="0"/>
              <a:t>и </a:t>
            </a:r>
            <a:r>
              <a:rPr lang="ru-RU" sz="2000" dirty="0" smtClean="0"/>
              <a:t>цветом.</a:t>
            </a:r>
          </a:p>
          <a:p>
            <a:pPr indent="288000" algn="just"/>
            <a:r>
              <a:rPr lang="ru-RU" sz="2000" b="1" dirty="0" smtClean="0"/>
              <a:t>Концентрические </a:t>
            </a:r>
            <a:r>
              <a:rPr lang="ru-RU" sz="2000" b="1" dirty="0"/>
              <a:t>окружности</a:t>
            </a:r>
            <a:r>
              <a:rPr lang="ru-RU" sz="2000" dirty="0"/>
              <a:t> — рисует набор окружностей с общим центром. Количество окружностей и их радиусы задаются случайно</a:t>
            </a:r>
            <a:r>
              <a:rPr lang="ru-RU" sz="2000" dirty="0" smtClean="0"/>
              <a:t>.</a:t>
            </a:r>
          </a:p>
          <a:p>
            <a:pPr indent="288000" algn="just"/>
            <a:r>
              <a:rPr lang="ru-RU" sz="2000" b="1" dirty="0" smtClean="0"/>
              <a:t>Последовательность </a:t>
            </a:r>
            <a:r>
              <a:rPr lang="ru-RU" sz="2000" b="1" dirty="0"/>
              <a:t>кругов </a:t>
            </a:r>
            <a:r>
              <a:rPr lang="ru-RU" sz="2000" dirty="0"/>
              <a:t>— рисует круги с уменьшающимся радиусом, центры которых равномерно расположены вдоль отрезка. Количество кругов, начальный радиус и шаг уменьшения задаются </a:t>
            </a:r>
            <a:r>
              <a:rPr lang="ru-RU" sz="2000" dirty="0" smtClean="0"/>
              <a:t>случайно.</a:t>
            </a:r>
          </a:p>
          <a:p>
            <a:pPr indent="288000" algn="just"/>
            <a:r>
              <a:rPr lang="ru-RU" sz="2000" dirty="0" smtClean="0"/>
              <a:t>Центр </a:t>
            </a:r>
            <a:r>
              <a:rPr lang="ru-RU" sz="2000" dirty="0"/>
              <a:t>для </a:t>
            </a:r>
            <a:r>
              <a:rPr lang="ru-RU" sz="2000" b="1" dirty="0"/>
              <a:t>Круга </a:t>
            </a:r>
            <a:r>
              <a:rPr lang="ru-RU" sz="2000" dirty="0"/>
              <a:t>и </a:t>
            </a:r>
            <a:r>
              <a:rPr lang="ru-RU" sz="2000" b="1" dirty="0"/>
              <a:t>Концентрических окружностей </a:t>
            </a:r>
            <a:r>
              <a:rPr lang="ru-RU" sz="2000" dirty="0" smtClean="0"/>
              <a:t>задается </a:t>
            </a:r>
            <a:r>
              <a:rPr lang="ru-RU" sz="2000" dirty="0"/>
              <a:t>одним кликом по </a:t>
            </a:r>
            <a:r>
              <a:rPr lang="ru-RU" sz="2000" dirty="0" err="1"/>
              <a:t>PictureBox</a:t>
            </a:r>
            <a:r>
              <a:rPr lang="ru-RU" sz="2000" dirty="0" smtClean="0"/>
              <a:t>. </a:t>
            </a:r>
          </a:p>
          <a:p>
            <a:pPr indent="288000" algn="just"/>
            <a:r>
              <a:rPr lang="ru-RU" sz="2000" dirty="0" smtClean="0"/>
              <a:t>Для </a:t>
            </a:r>
            <a:r>
              <a:rPr lang="ru-RU" sz="2000" b="1" dirty="0"/>
              <a:t>Последовательности кругов</a:t>
            </a:r>
            <a:r>
              <a:rPr lang="ru-RU" sz="2000" dirty="0"/>
              <a:t> нужно сделать два </a:t>
            </a:r>
            <a:r>
              <a:rPr lang="ru-RU" sz="2000" dirty="0" smtClean="0"/>
              <a:t>клика: начало и конец отрезка. </a:t>
            </a:r>
            <a:r>
              <a:rPr lang="ru-RU" sz="2000" dirty="0"/>
              <a:t>Центры кругов будут расположены вдоль этого </a:t>
            </a:r>
            <a:r>
              <a:rPr lang="ru-RU" sz="2000" dirty="0" smtClean="0"/>
              <a:t>отрезка.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8861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944" t="11330" r="54716" b="46182"/>
          <a:stretch/>
        </p:blipFill>
        <p:spPr>
          <a:xfrm>
            <a:off x="755576" y="908720"/>
            <a:ext cx="3168352" cy="202235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t="12500" r="21301" b="41667"/>
          <a:stretch/>
        </p:blipFill>
        <p:spPr>
          <a:xfrm>
            <a:off x="2843808" y="3645024"/>
            <a:ext cx="5865379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5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303138</TotalTime>
  <Words>2246</Words>
  <Application>Microsoft Office PowerPoint</Application>
  <PresentationFormat>Экран (4:3)</PresentationFormat>
  <Paragraphs>304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8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Евгения</cp:lastModifiedBy>
  <cp:revision>783</cp:revision>
  <dcterms:created xsi:type="dcterms:W3CDTF">2012-09-05T13:58:41Z</dcterms:created>
  <dcterms:modified xsi:type="dcterms:W3CDTF">2026-04-09T01:53:16Z</dcterms:modified>
</cp:coreProperties>
</file>