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4" r:id="rId2"/>
    <p:sldId id="320" r:id="rId3"/>
    <p:sldId id="266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4" r:id="rId14"/>
    <p:sldId id="338" r:id="rId15"/>
    <p:sldId id="337" r:id="rId16"/>
    <p:sldId id="344" r:id="rId17"/>
    <p:sldId id="345" r:id="rId18"/>
    <p:sldId id="346" r:id="rId19"/>
    <p:sldId id="347" r:id="rId20"/>
    <p:sldId id="348" r:id="rId21"/>
    <p:sldId id="349" r:id="rId22"/>
    <p:sldId id="350" r:id="rId23"/>
    <p:sldId id="351" r:id="rId24"/>
    <p:sldId id="352" r:id="rId25"/>
    <p:sldId id="353" r:id="rId26"/>
    <p:sldId id="354" r:id="rId27"/>
    <p:sldId id="355" r:id="rId28"/>
    <p:sldId id="356" r:id="rId29"/>
    <p:sldId id="357" r:id="rId30"/>
    <p:sldId id="358" r:id="rId31"/>
    <p:sldId id="359" r:id="rId32"/>
    <p:sldId id="360" r:id="rId33"/>
    <p:sldId id="361" r:id="rId34"/>
    <p:sldId id="362" r:id="rId35"/>
    <p:sldId id="363" r:id="rId3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66" autoAdjust="0"/>
  </p:normalViewPr>
  <p:slideViewPr>
    <p:cSldViewPr>
      <p:cViewPr varScale="1">
        <p:scale>
          <a:sx n="75" d="100"/>
          <a:sy n="75" d="100"/>
        </p:scale>
        <p:origin x="102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77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36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50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22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24.03.2024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889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24.03.2024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40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24.03.2024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5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41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03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07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06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5CE24-9CD1-4E26-AD1D-600F5DCD8325}" type="datetimeFigureOut">
              <a:rPr lang="ru-RU" smtClean="0"/>
              <a:t>24.03.2024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68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48288" y="1556792"/>
            <a:ext cx="82001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4800" b="1" dirty="0" smtClean="0">
                <a:solidFill>
                  <a:schemeClr val="tx2"/>
                </a:solidFill>
              </a:rPr>
              <a:t>Введение в </a:t>
            </a:r>
            <a:r>
              <a:rPr lang="en-US" sz="4800" b="1" dirty="0" smtClean="0">
                <a:solidFill>
                  <a:schemeClr val="tx2"/>
                </a:solidFill>
              </a:rPr>
              <a:t>ADO.NET</a:t>
            </a:r>
            <a:endParaRPr lang="en-US" sz="4800" b="1" dirty="0">
              <a:solidFill>
                <a:schemeClr val="tx2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16024" y="2780928"/>
            <a:ext cx="889248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ru-RU" sz="3200" dirty="0" smtClean="0"/>
              <a:t>Объектная модель </a:t>
            </a:r>
            <a:r>
              <a:rPr lang="en-US" sz="3200" dirty="0" smtClean="0"/>
              <a:t>ADO.NET</a:t>
            </a:r>
            <a:endParaRPr lang="ru-RU" sz="3200" dirty="0" smtClean="0"/>
          </a:p>
          <a:p>
            <a:pPr marL="571500" indent="-571500">
              <a:buFont typeface="Arial" pitchFamily="34" charset="0"/>
              <a:buChar char="•"/>
            </a:pPr>
            <a:r>
              <a:rPr lang="sah-RU" sz="3200" dirty="0"/>
              <a:t>Создание </a:t>
            </a:r>
            <a:r>
              <a:rPr lang="sah-RU" sz="3200" dirty="0" smtClean="0"/>
              <a:t>приложений</a:t>
            </a:r>
            <a:r>
              <a:rPr lang="en-US" sz="3200" dirty="0" smtClean="0"/>
              <a:t> </a:t>
            </a:r>
            <a:r>
              <a:rPr lang="ru-RU" sz="3200" dirty="0" smtClean="0"/>
              <a:t>для работы с базами данных</a:t>
            </a:r>
            <a:endParaRPr lang="en-US" sz="3200" dirty="0" smtClean="0"/>
          </a:p>
          <a:p>
            <a:pPr marL="571500" indent="-571500">
              <a:buFont typeface="Arial" pitchFamily="34" charset="0"/>
              <a:buChar char="•"/>
            </a:pPr>
            <a:r>
              <a:rPr lang="ru-RU" sz="3200" dirty="0"/>
              <a:t>Хранение и извлечение данных с помощью ADO.NET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683568" y="242088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35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52191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Объектная модель </a:t>
            </a:r>
            <a:r>
              <a:rPr lang="en-US" sz="3200" b="1" dirty="0">
                <a:solidFill>
                  <a:schemeClr val="tx2"/>
                </a:solidFill>
              </a:rPr>
              <a:t>ADO.NET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556792"/>
            <a:ext cx="85297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ADO.NET</a:t>
            </a:r>
            <a:r>
              <a:rPr lang="ru-RU" sz="2800" dirty="0" smtClean="0"/>
              <a:t> – это технология доступа к данным или библиотека пространства </a:t>
            </a:r>
            <a:r>
              <a:rPr lang="en-US" sz="2800" dirty="0" err="1" smtClean="0"/>
              <a:t>System.Data</a:t>
            </a:r>
            <a:r>
              <a:rPr lang="ru-RU" sz="2800" dirty="0" smtClean="0"/>
              <a:t>, где размещены используемые при доступе к данным классы, интерфейсы, делегаты и перечисления.</a:t>
            </a:r>
            <a:endParaRPr lang="ru-RU" sz="2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89662" y="3717032"/>
            <a:ext cx="825181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 smtClean="0">
                <a:solidFill>
                  <a:schemeClr val="tx2"/>
                </a:solidFill>
              </a:rPr>
              <a:t>System.Data</a:t>
            </a:r>
            <a:endParaRPr lang="en-US" sz="3600" b="1" dirty="0" smtClean="0">
              <a:solidFill>
                <a:schemeClr val="tx2"/>
              </a:solidFill>
            </a:endParaRPr>
          </a:p>
          <a:p>
            <a:r>
              <a:rPr lang="en-US" sz="3600" b="1" dirty="0" err="1" smtClean="0">
                <a:solidFill>
                  <a:schemeClr val="tx2"/>
                </a:solidFill>
              </a:rPr>
              <a:t>System.Npgsql</a:t>
            </a:r>
            <a:r>
              <a:rPr lang="en-US" sz="3600" b="1" dirty="0" smtClean="0">
                <a:solidFill>
                  <a:schemeClr val="tx2"/>
                </a:solidFill>
              </a:rPr>
              <a:t> – </a:t>
            </a:r>
            <a:r>
              <a:rPr lang="ru-RU" sz="3600" b="1" dirty="0" smtClean="0">
                <a:solidFill>
                  <a:schemeClr val="tx2"/>
                </a:solidFill>
              </a:rPr>
              <a:t>провайдер от </a:t>
            </a:r>
            <a:r>
              <a:rPr lang="en-US" sz="3600" b="1" dirty="0" err="1" smtClean="0">
                <a:solidFill>
                  <a:schemeClr val="tx2"/>
                </a:solidFill>
              </a:rPr>
              <a:t>Postgresql</a:t>
            </a:r>
            <a:endParaRPr lang="ru-RU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84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52191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Объектная модель </a:t>
            </a:r>
            <a:r>
              <a:rPr lang="en-US" sz="3200" b="1" dirty="0">
                <a:solidFill>
                  <a:schemeClr val="tx2"/>
                </a:solidFill>
              </a:rPr>
              <a:t>ADO.NET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136480"/>
            <a:ext cx="7868097" cy="4676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683568" y="1196752"/>
            <a:ext cx="79928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2"/>
                </a:solidFill>
              </a:rPr>
              <a:t>1. </a:t>
            </a:r>
            <a:r>
              <a:rPr lang="ru-RU" sz="2800" dirty="0" smtClean="0">
                <a:solidFill>
                  <a:schemeClr val="tx2"/>
                </a:solidFill>
              </a:rPr>
              <a:t>Отсоединенный </a:t>
            </a:r>
            <a:r>
              <a:rPr lang="ru-RU" sz="2800" dirty="0">
                <a:solidFill>
                  <a:schemeClr val="tx2"/>
                </a:solidFill>
              </a:rPr>
              <a:t>режим с двухсторонним обменом 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118803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52191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Объектная модель </a:t>
            </a:r>
            <a:r>
              <a:rPr lang="en-US" sz="3200" b="1" dirty="0">
                <a:solidFill>
                  <a:schemeClr val="tx2"/>
                </a:solidFill>
              </a:rPr>
              <a:t>ADO.NET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683568" y="1196752"/>
            <a:ext cx="79928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2</a:t>
            </a:r>
            <a:r>
              <a:rPr lang="en-US" sz="2800" dirty="0" smtClean="0">
                <a:solidFill>
                  <a:schemeClr val="tx2"/>
                </a:solidFill>
              </a:rPr>
              <a:t>. </a:t>
            </a:r>
            <a:r>
              <a:rPr lang="ru-RU" sz="2800" dirty="0">
                <a:solidFill>
                  <a:schemeClr val="tx2"/>
                </a:solidFill>
              </a:rPr>
              <a:t>Режим однонаправленного использования данных «только-на-чтение»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121265"/>
            <a:ext cx="7893695" cy="4692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724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81731"/>
            <a:ext cx="6048672" cy="6531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757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54000"/>
            <a:ext cx="6203474" cy="6487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736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52191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Объектная модель </a:t>
            </a:r>
            <a:r>
              <a:rPr lang="en-US" sz="3200" b="1" dirty="0">
                <a:solidFill>
                  <a:schemeClr val="tx2"/>
                </a:solidFill>
              </a:rPr>
              <a:t>ADO.NET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592567" y="1862822"/>
            <a:ext cx="8288679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 smtClean="0">
                <a:solidFill>
                  <a:schemeClr val="tx2"/>
                </a:solidFill>
              </a:rPr>
              <a:t>DataSet</a:t>
            </a:r>
            <a:r>
              <a:rPr lang="en-US" sz="3600" b="1" dirty="0" smtClean="0"/>
              <a:t> –</a:t>
            </a:r>
            <a:r>
              <a:rPr lang="ru-RU" sz="3600" b="1" dirty="0" smtClean="0"/>
              <a:t> элемент для хранения данных</a:t>
            </a:r>
            <a:endParaRPr lang="en-US" sz="3600" b="1" dirty="0" smtClean="0"/>
          </a:p>
          <a:p>
            <a:endParaRPr lang="en-US" sz="3600" b="1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>
                <a:solidFill>
                  <a:schemeClr val="tx2"/>
                </a:solidFill>
              </a:rPr>
              <a:t>Tables</a:t>
            </a:r>
            <a:r>
              <a:rPr lang="en-US" sz="3600" b="1" dirty="0" smtClean="0"/>
              <a:t> – </a:t>
            </a:r>
            <a:r>
              <a:rPr lang="ru-RU" sz="3600" b="1" dirty="0" smtClean="0"/>
              <a:t>таблицы данных (</a:t>
            </a:r>
            <a:r>
              <a:rPr lang="en-US" sz="3600" b="1" dirty="0" err="1" smtClean="0"/>
              <a:t>DataTable</a:t>
            </a:r>
            <a:r>
              <a:rPr lang="ru-RU" sz="3600" b="1" dirty="0" smtClean="0"/>
              <a:t>)</a:t>
            </a:r>
            <a:endParaRPr lang="en-US" sz="3600" b="1" dirty="0" smtClean="0"/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>
                <a:solidFill>
                  <a:schemeClr val="tx2"/>
                </a:solidFill>
              </a:rPr>
              <a:t>Relations </a:t>
            </a:r>
            <a:r>
              <a:rPr lang="en-US" sz="3600" b="1" dirty="0" smtClean="0"/>
              <a:t>– </a:t>
            </a:r>
            <a:r>
              <a:rPr lang="ru-RU" sz="3600" b="1" dirty="0" smtClean="0"/>
              <a:t>отношения между </a:t>
            </a:r>
          </a:p>
          <a:p>
            <a:r>
              <a:rPr lang="ru-RU" sz="3600" b="1" dirty="0"/>
              <a:t>т</a:t>
            </a:r>
            <a:r>
              <a:rPr lang="ru-RU" sz="3600" b="1" dirty="0" smtClean="0"/>
              <a:t>аблицами из </a:t>
            </a:r>
            <a:r>
              <a:rPr lang="en-US" sz="3600" b="1" dirty="0" smtClean="0"/>
              <a:t>DataSet (</a:t>
            </a:r>
            <a:r>
              <a:rPr lang="en-US" sz="3600" b="1" dirty="0" err="1" smtClean="0"/>
              <a:t>DataRelation</a:t>
            </a:r>
            <a:r>
              <a:rPr lang="en-US" sz="3600" b="1" dirty="0" smtClean="0"/>
              <a:t>)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93783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52191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Объектная модель </a:t>
            </a:r>
            <a:r>
              <a:rPr lang="en-US" sz="3200" b="1" dirty="0">
                <a:solidFill>
                  <a:schemeClr val="tx2"/>
                </a:solidFill>
              </a:rPr>
              <a:t>ADO.NET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395536" y="1556792"/>
            <a:ext cx="7992060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 smtClean="0">
                <a:solidFill>
                  <a:schemeClr val="tx2"/>
                </a:solidFill>
              </a:rPr>
              <a:t>DataTable</a:t>
            </a:r>
            <a:r>
              <a:rPr lang="en-US" sz="3600" b="1" dirty="0" smtClean="0"/>
              <a:t> –</a:t>
            </a:r>
            <a:r>
              <a:rPr lang="ru-RU" sz="3600" b="1" dirty="0" smtClean="0"/>
              <a:t> таблицы данных</a:t>
            </a:r>
            <a:endParaRPr lang="en-US" sz="3600" b="1" dirty="0" smtClean="0"/>
          </a:p>
          <a:p>
            <a:r>
              <a:rPr lang="en-US" sz="3600" b="1" dirty="0" smtClean="0">
                <a:solidFill>
                  <a:schemeClr val="tx2"/>
                </a:solidFill>
              </a:rPr>
              <a:t>Columns</a:t>
            </a:r>
            <a:r>
              <a:rPr lang="en-US" sz="3600" b="1" dirty="0" smtClean="0"/>
              <a:t> – </a:t>
            </a:r>
            <a:r>
              <a:rPr lang="ru-RU" sz="3600" b="1" dirty="0" smtClean="0"/>
              <a:t>столбцы (</a:t>
            </a:r>
            <a:r>
              <a:rPr lang="en-US" sz="3600" b="1" dirty="0" err="1" smtClean="0"/>
              <a:t>DataColumn</a:t>
            </a:r>
            <a:r>
              <a:rPr lang="ru-RU" sz="3600" b="1" dirty="0" smtClean="0"/>
              <a:t>)</a:t>
            </a:r>
            <a:endParaRPr lang="en-US" sz="3600" b="1" dirty="0" smtClean="0"/>
          </a:p>
          <a:p>
            <a:r>
              <a:rPr lang="en-US" sz="3600" b="1" dirty="0" smtClean="0">
                <a:solidFill>
                  <a:schemeClr val="tx2"/>
                </a:solidFill>
              </a:rPr>
              <a:t>Rows </a:t>
            </a:r>
            <a:r>
              <a:rPr lang="en-US" sz="3600" b="1" dirty="0" smtClean="0"/>
              <a:t>– </a:t>
            </a:r>
            <a:r>
              <a:rPr lang="ru-RU" sz="3600" b="1" dirty="0" smtClean="0"/>
              <a:t>строки </a:t>
            </a:r>
            <a:r>
              <a:rPr lang="en-US" sz="3600" b="1" dirty="0" smtClean="0"/>
              <a:t>(</a:t>
            </a:r>
            <a:r>
              <a:rPr lang="en-US" sz="3600" b="1" dirty="0" err="1" smtClean="0"/>
              <a:t>DataRow</a:t>
            </a:r>
            <a:r>
              <a:rPr lang="en-US" sz="3600" b="1" dirty="0" smtClean="0"/>
              <a:t>)</a:t>
            </a:r>
          </a:p>
          <a:p>
            <a:endParaRPr lang="en-US" sz="3600" b="1" dirty="0"/>
          </a:p>
          <a:p>
            <a:r>
              <a:rPr lang="en-US" sz="3600" b="1" dirty="0" err="1" smtClean="0">
                <a:solidFill>
                  <a:schemeClr val="tx2"/>
                </a:solidFill>
              </a:rPr>
              <a:t>System.Data.DataView</a:t>
            </a:r>
            <a:r>
              <a:rPr lang="en-US" sz="3600" b="1" dirty="0" smtClean="0"/>
              <a:t> </a:t>
            </a:r>
            <a:r>
              <a:rPr lang="en-US" sz="3600" b="1" dirty="0"/>
              <a:t>–</a:t>
            </a:r>
            <a:r>
              <a:rPr lang="ru-RU" sz="3600" b="1" dirty="0"/>
              <a:t> </a:t>
            </a:r>
            <a:r>
              <a:rPr lang="ru-RU" sz="3600" b="1" dirty="0" smtClean="0"/>
              <a:t>реализуют </a:t>
            </a:r>
            <a:br>
              <a:rPr lang="ru-RU" sz="3600" b="1" dirty="0" smtClean="0"/>
            </a:br>
            <a:r>
              <a:rPr lang="ru-RU" sz="3600" b="1" dirty="0" smtClean="0"/>
              <a:t>просмотры данных, отсортированные </a:t>
            </a:r>
            <a:br>
              <a:rPr lang="ru-RU" sz="3600" b="1" dirty="0" smtClean="0"/>
            </a:br>
            <a:r>
              <a:rPr lang="ru-RU" sz="3600" b="1" dirty="0" smtClean="0"/>
              <a:t>некоторым образом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95789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6538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ah-RU" sz="3200" b="1" dirty="0">
                <a:solidFill>
                  <a:schemeClr val="tx2"/>
                </a:solidFill>
              </a:rPr>
              <a:t>Создание приложений</a:t>
            </a:r>
            <a:r>
              <a:rPr lang="en-US" sz="3200" b="1" dirty="0">
                <a:solidFill>
                  <a:schemeClr val="tx2"/>
                </a:solidFill>
              </a:rPr>
              <a:t> </a:t>
            </a:r>
            <a:r>
              <a:rPr lang="ru-RU" sz="3200" b="1" dirty="0">
                <a:solidFill>
                  <a:schemeClr val="tx2"/>
                </a:solidFill>
              </a:rPr>
              <a:t>баз данных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395537" y="1798945"/>
            <a:ext cx="835292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3200" b="1" dirty="0" smtClean="0"/>
              <a:t>Организация работы с базой данных:</a:t>
            </a:r>
            <a:endParaRPr lang="en-US" sz="3200" b="1" dirty="0" smtClean="0"/>
          </a:p>
          <a:p>
            <a:pPr lvl="0"/>
            <a:endParaRPr lang="ru-RU" sz="3200" b="1" dirty="0" smtClean="0"/>
          </a:p>
          <a:p>
            <a:pPr marL="742950" lvl="0" indent="-742950">
              <a:buFont typeface="+mj-lt"/>
              <a:buAutoNum type="arabicPeriod"/>
            </a:pPr>
            <a:r>
              <a:rPr lang="ru-RU" sz="3200" dirty="0" smtClean="0"/>
              <a:t>Установка </a:t>
            </a:r>
            <a:r>
              <a:rPr lang="ru-RU" sz="3200" dirty="0"/>
              <a:t>соединения с базой </a:t>
            </a:r>
            <a:r>
              <a:rPr lang="ru-RU" sz="3200" dirty="0" smtClean="0"/>
              <a:t>данных</a:t>
            </a:r>
            <a:r>
              <a:rPr lang="en-US" sz="3200" dirty="0" smtClean="0"/>
              <a:t>.</a:t>
            </a:r>
            <a:endParaRPr lang="ru-RU" sz="3200" dirty="0" smtClean="0"/>
          </a:p>
          <a:p>
            <a:pPr marL="742950" lvl="0" indent="-742950">
              <a:buFont typeface="+mj-lt"/>
              <a:buAutoNum type="arabicPeriod"/>
            </a:pPr>
            <a:r>
              <a:rPr lang="ru-RU" sz="3200" dirty="0" smtClean="0"/>
              <a:t>Заполнение объекта </a:t>
            </a:r>
            <a:r>
              <a:rPr lang="en-US" sz="3200" dirty="0" err="1" smtClean="0"/>
              <a:t>DataSet</a:t>
            </a:r>
            <a:r>
              <a:rPr lang="en-US" sz="3200" dirty="0" smtClean="0"/>
              <a:t>.</a:t>
            </a:r>
            <a:endParaRPr lang="ru-RU" sz="3200" dirty="0" smtClean="0"/>
          </a:p>
          <a:p>
            <a:pPr marL="742950" lvl="0" indent="-742950">
              <a:buFont typeface="+mj-lt"/>
              <a:buAutoNum type="arabicPeriod"/>
            </a:pPr>
            <a:r>
              <a:rPr lang="ru-RU" sz="3200" dirty="0" smtClean="0"/>
              <a:t>Считывание </a:t>
            </a:r>
            <a:r>
              <a:rPr lang="ru-RU" sz="3200" dirty="0"/>
              <a:t>из </a:t>
            </a:r>
            <a:r>
              <a:rPr lang="en-US" sz="3200" dirty="0" err="1"/>
              <a:t>DataSet</a:t>
            </a:r>
            <a:r>
              <a:rPr lang="en-US" sz="3200" dirty="0"/>
              <a:t>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88853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6538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ah-RU" sz="3200" b="1" dirty="0">
                <a:solidFill>
                  <a:schemeClr val="tx2"/>
                </a:solidFill>
              </a:rPr>
              <a:t>Создание приложений</a:t>
            </a:r>
            <a:r>
              <a:rPr lang="en-US" sz="3200" b="1" dirty="0">
                <a:solidFill>
                  <a:schemeClr val="tx2"/>
                </a:solidFill>
              </a:rPr>
              <a:t> </a:t>
            </a:r>
            <a:r>
              <a:rPr lang="ru-RU" sz="3200" b="1" dirty="0">
                <a:solidFill>
                  <a:schemeClr val="tx2"/>
                </a:solidFill>
              </a:rPr>
              <a:t>баз </a:t>
            </a:r>
            <a:r>
              <a:rPr lang="ru-RU" sz="3200" b="1" dirty="0" smtClean="0">
                <a:solidFill>
                  <a:schemeClr val="tx2"/>
                </a:solidFill>
              </a:rPr>
              <a:t>данных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251520" y="1649120"/>
            <a:ext cx="878497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800" b="1" dirty="0"/>
              <a:t>Установка соединения с базой </a:t>
            </a:r>
            <a:r>
              <a:rPr lang="ru-RU" sz="2800" b="1" dirty="0" smtClean="0"/>
              <a:t>данных</a:t>
            </a:r>
            <a:r>
              <a:rPr lang="en-US" sz="2800" b="1" dirty="0"/>
              <a:t>:</a:t>
            </a:r>
            <a:endParaRPr lang="ru-RU" sz="2800" b="1" dirty="0" smtClean="0"/>
          </a:p>
          <a:p>
            <a:pPr lvl="0"/>
            <a:endParaRPr lang="en-US" sz="2800" b="1" dirty="0" smtClean="0"/>
          </a:p>
          <a:p>
            <a:pPr lvl="0"/>
            <a:r>
              <a:rPr lang="en-US" sz="2800" i="1" dirty="0" smtClean="0"/>
              <a:t>//</a:t>
            </a:r>
            <a:r>
              <a:rPr lang="ru-RU" sz="2800" i="1" dirty="0" smtClean="0"/>
              <a:t>строка для подключения к базе </a:t>
            </a:r>
            <a:r>
              <a:rPr lang="en-US" sz="2800" i="1" dirty="0" err="1"/>
              <a:t>p</a:t>
            </a:r>
            <a:r>
              <a:rPr lang="en-US" sz="2800" i="1" dirty="0" err="1" smtClean="0"/>
              <a:t>ostgres</a:t>
            </a:r>
            <a:endParaRPr lang="ru-RU" sz="2800" i="1" dirty="0" smtClean="0"/>
          </a:p>
          <a:p>
            <a:pPr lvl="0"/>
            <a:r>
              <a:rPr lang="en-US" sz="2800" dirty="0"/>
              <a:t>s</a:t>
            </a:r>
            <a:r>
              <a:rPr lang="en-US" sz="2800" dirty="0" smtClean="0"/>
              <a:t>tring  </a:t>
            </a:r>
            <a:r>
              <a:rPr lang="en-US" sz="2800" dirty="0" err="1" smtClean="0"/>
              <a:t>connStr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smtClean="0"/>
              <a:t>"server=</a:t>
            </a:r>
            <a:r>
              <a:rPr lang="ru-RU" sz="2800" dirty="0" err="1" smtClean="0"/>
              <a:t>имя_сервера</a:t>
            </a:r>
            <a:r>
              <a:rPr lang="en-US" sz="2800" dirty="0" smtClean="0"/>
              <a:t>;</a:t>
            </a:r>
            <a:r>
              <a:rPr lang="ru-RU" sz="2800" dirty="0" smtClean="0"/>
              <a:t> </a:t>
            </a:r>
            <a:r>
              <a:rPr lang="en-US" sz="2800" dirty="0" smtClean="0"/>
              <a:t>user=</a:t>
            </a:r>
            <a:r>
              <a:rPr lang="ru-RU" sz="2800" dirty="0" err="1" smtClean="0"/>
              <a:t>имя_пользователя</a:t>
            </a:r>
            <a:r>
              <a:rPr lang="en-US" sz="2800" dirty="0" smtClean="0"/>
              <a:t>; password=</a:t>
            </a:r>
            <a:r>
              <a:rPr lang="ru-RU" sz="2800" dirty="0" smtClean="0"/>
              <a:t>пароль</a:t>
            </a:r>
            <a:r>
              <a:rPr lang="en-US" sz="2800" dirty="0" smtClean="0"/>
              <a:t>; database=</a:t>
            </a:r>
            <a:r>
              <a:rPr lang="ru-RU" sz="2800" dirty="0" err="1" smtClean="0"/>
              <a:t>имя_бд</a:t>
            </a:r>
            <a:r>
              <a:rPr lang="en-US" sz="2800" dirty="0" smtClean="0"/>
              <a:t>";</a:t>
            </a:r>
          </a:p>
          <a:p>
            <a:pPr lvl="0"/>
            <a:endParaRPr lang="ru-RU" sz="2800" dirty="0" smtClean="0"/>
          </a:p>
          <a:p>
            <a:pPr lvl="0"/>
            <a:r>
              <a:rPr lang="en-US" sz="2800" i="1" dirty="0" smtClean="0"/>
              <a:t>//</a:t>
            </a:r>
            <a:r>
              <a:rPr lang="ru-RU" sz="2800" i="1" dirty="0" smtClean="0"/>
              <a:t>создаем объект подключения</a:t>
            </a:r>
            <a:endParaRPr lang="en-US" sz="2800" i="1" dirty="0" smtClean="0"/>
          </a:p>
          <a:p>
            <a:pPr lvl="0"/>
            <a:r>
              <a:rPr lang="en-US" sz="2800" b="1" dirty="0" err="1" smtClean="0"/>
              <a:t>NpgsqlConnection</a:t>
            </a:r>
            <a:r>
              <a:rPr lang="en-US" sz="2800" b="1" dirty="0" smtClean="0"/>
              <a:t> </a:t>
            </a:r>
            <a:r>
              <a:rPr lang="en-US" sz="2800" dirty="0" smtClean="0"/>
              <a:t> connection </a:t>
            </a:r>
            <a:r>
              <a:rPr lang="en-US" sz="2800" dirty="0"/>
              <a:t>= </a:t>
            </a:r>
            <a:r>
              <a:rPr lang="en-US" sz="2800" dirty="0" smtClean="0"/>
              <a:t>new </a:t>
            </a:r>
            <a:r>
              <a:rPr lang="en-US" sz="2800" dirty="0" err="1" smtClean="0"/>
              <a:t>NpgsqlConnection</a:t>
            </a:r>
            <a:r>
              <a:rPr lang="en-US" sz="2800" dirty="0"/>
              <a:t>(</a:t>
            </a:r>
            <a:r>
              <a:rPr lang="en-US" sz="2800" dirty="0" err="1"/>
              <a:t>connStr</a:t>
            </a:r>
            <a:r>
              <a:rPr lang="en-US" sz="2800" dirty="0"/>
              <a:t>);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2031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6538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ah-RU" sz="3200" b="1" dirty="0">
                <a:solidFill>
                  <a:schemeClr val="tx2"/>
                </a:solidFill>
              </a:rPr>
              <a:t>Создание приложений</a:t>
            </a:r>
            <a:r>
              <a:rPr lang="en-US" sz="3200" b="1" dirty="0">
                <a:solidFill>
                  <a:schemeClr val="tx2"/>
                </a:solidFill>
              </a:rPr>
              <a:t> </a:t>
            </a:r>
            <a:r>
              <a:rPr lang="ru-RU" sz="3200" b="1" dirty="0">
                <a:solidFill>
                  <a:schemeClr val="tx2"/>
                </a:solidFill>
              </a:rPr>
              <a:t>баз </a:t>
            </a:r>
            <a:r>
              <a:rPr lang="ru-RU" sz="3200" b="1" dirty="0" smtClean="0">
                <a:solidFill>
                  <a:schemeClr val="tx2"/>
                </a:solidFill>
              </a:rPr>
              <a:t>данных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323528" y="1196752"/>
            <a:ext cx="878497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400" b="1" dirty="0" smtClean="0"/>
              <a:t>Заполнение набора данных</a:t>
            </a:r>
            <a:r>
              <a:rPr lang="en-US" sz="2400" b="1" dirty="0" smtClean="0"/>
              <a:t>:</a:t>
            </a:r>
            <a:endParaRPr lang="ru-RU" sz="2400" b="1" dirty="0" smtClean="0"/>
          </a:p>
          <a:p>
            <a:pPr lvl="0"/>
            <a:endParaRPr lang="ru-RU" sz="2400" dirty="0" smtClean="0"/>
          </a:p>
          <a:p>
            <a:pPr lvl="0"/>
            <a:r>
              <a:rPr lang="en-US" sz="2400" i="1" dirty="0" smtClean="0"/>
              <a:t>//SQL</a:t>
            </a:r>
            <a:r>
              <a:rPr lang="ru-RU" sz="2400" i="1" dirty="0" smtClean="0"/>
              <a:t> команда:</a:t>
            </a:r>
          </a:p>
          <a:p>
            <a:pPr lvl="0"/>
            <a:r>
              <a:rPr lang="en-US" sz="2400" dirty="0"/>
              <a:t>s</a:t>
            </a:r>
            <a:r>
              <a:rPr lang="en-US" sz="2400" dirty="0" smtClean="0"/>
              <a:t>tring  command </a:t>
            </a:r>
            <a:r>
              <a:rPr lang="en-US" sz="2400" dirty="0"/>
              <a:t>= </a:t>
            </a:r>
            <a:r>
              <a:rPr lang="en-US" sz="2400" dirty="0" smtClean="0"/>
              <a:t>"SELECT  * FROM  </a:t>
            </a:r>
            <a:r>
              <a:rPr lang="en-US" sz="2400" dirty="0" err="1" smtClean="0"/>
              <a:t>table_name</a:t>
            </a:r>
            <a:r>
              <a:rPr lang="en-US" sz="2400" dirty="0" smtClean="0"/>
              <a:t>;";</a:t>
            </a:r>
            <a:endParaRPr lang="ru-RU" sz="2400" dirty="0" smtClean="0"/>
          </a:p>
          <a:p>
            <a:pPr lvl="0"/>
            <a:endParaRPr lang="ru-RU" sz="2400" i="1" dirty="0" smtClean="0"/>
          </a:p>
          <a:p>
            <a:pPr lvl="0"/>
            <a:r>
              <a:rPr lang="en-US" sz="2400" i="1" dirty="0" smtClean="0"/>
              <a:t>//</a:t>
            </a:r>
            <a:r>
              <a:rPr lang="ru-RU" sz="2400" i="1" dirty="0" smtClean="0"/>
              <a:t>создаем экземпляр адаптера:</a:t>
            </a:r>
          </a:p>
          <a:p>
            <a:pPr lvl="0"/>
            <a:r>
              <a:rPr lang="en-US" sz="2400" dirty="0" err="1" smtClean="0"/>
              <a:t>NpgsqlDataAdapter</a:t>
            </a:r>
            <a:r>
              <a:rPr lang="en-US" sz="2400" dirty="0" smtClean="0"/>
              <a:t> adapter </a:t>
            </a:r>
            <a:r>
              <a:rPr lang="en-US" sz="2400" dirty="0"/>
              <a:t>= </a:t>
            </a:r>
            <a:endParaRPr lang="en-US" sz="2400" dirty="0" smtClean="0"/>
          </a:p>
          <a:p>
            <a:pPr lvl="0"/>
            <a:r>
              <a:rPr lang="en-US" sz="2400" dirty="0" smtClean="0"/>
              <a:t>     new </a:t>
            </a:r>
            <a:r>
              <a:rPr lang="en-US" sz="2400" dirty="0" err="1" smtClean="0"/>
              <a:t>NpgsqlDataAdapter</a:t>
            </a:r>
            <a:r>
              <a:rPr lang="en-US" sz="2400" dirty="0" smtClean="0"/>
              <a:t>(command, connection);</a:t>
            </a:r>
          </a:p>
          <a:p>
            <a:r>
              <a:rPr lang="en-US" sz="2400" i="1" dirty="0" smtClean="0"/>
              <a:t>//</a:t>
            </a:r>
            <a:r>
              <a:rPr lang="ru-RU" sz="2400" i="1" dirty="0" smtClean="0"/>
              <a:t>создаем объект </a:t>
            </a:r>
            <a:r>
              <a:rPr lang="en-US" sz="2400" i="1" dirty="0" err="1"/>
              <a:t>DataSet</a:t>
            </a:r>
            <a:endParaRPr lang="en-US" sz="2400" i="1" dirty="0"/>
          </a:p>
          <a:p>
            <a:pPr lvl="0"/>
            <a:r>
              <a:rPr lang="en-US" sz="2400" dirty="0" err="1" smtClean="0"/>
              <a:t>DataSet</a:t>
            </a:r>
            <a:r>
              <a:rPr lang="en-US" sz="2400" dirty="0" smtClean="0"/>
              <a:t>  </a:t>
            </a:r>
            <a:r>
              <a:rPr lang="en-US" sz="2400" dirty="0" err="1" smtClean="0"/>
              <a:t>dataSet</a:t>
            </a:r>
            <a:r>
              <a:rPr lang="en-US" sz="2400" dirty="0" smtClean="0"/>
              <a:t> </a:t>
            </a:r>
            <a:r>
              <a:rPr lang="en-US" sz="2400" dirty="0"/>
              <a:t>= new DataSet</a:t>
            </a:r>
            <a:r>
              <a:rPr lang="en-US" sz="2400" dirty="0" smtClean="0"/>
              <a:t>();</a:t>
            </a:r>
            <a:r>
              <a:rPr lang="ru-RU" sz="2400" dirty="0" smtClean="0"/>
              <a:t>  </a:t>
            </a:r>
          </a:p>
          <a:p>
            <a:pPr lvl="0"/>
            <a:endParaRPr lang="ru-RU" sz="2400" dirty="0" smtClean="0"/>
          </a:p>
          <a:p>
            <a:pPr lvl="0"/>
            <a:r>
              <a:rPr lang="en-US" sz="2400" dirty="0" err="1" smtClean="0"/>
              <a:t>connection.Open</a:t>
            </a:r>
            <a:r>
              <a:rPr lang="en-US" sz="2400" dirty="0" smtClean="0"/>
              <a:t>();  </a:t>
            </a:r>
            <a:r>
              <a:rPr lang="ru-RU" sz="2400" dirty="0" smtClean="0"/>
              <a:t>    </a:t>
            </a:r>
            <a:r>
              <a:rPr lang="en-US" sz="2400" i="1" dirty="0" smtClean="0"/>
              <a:t>//</a:t>
            </a:r>
            <a:r>
              <a:rPr lang="ru-RU" sz="2400" i="1" dirty="0" smtClean="0"/>
              <a:t>открываем соединение</a:t>
            </a:r>
            <a:r>
              <a:rPr lang="en-US" sz="2400" i="1" dirty="0" smtClean="0"/>
              <a:t> </a:t>
            </a:r>
          </a:p>
          <a:p>
            <a:pPr lvl="0"/>
            <a:r>
              <a:rPr lang="en-US" sz="2400" dirty="0" err="1" smtClean="0"/>
              <a:t>adapter.</a:t>
            </a:r>
            <a:r>
              <a:rPr lang="en-US" sz="2400" b="1" dirty="0" err="1" smtClean="0"/>
              <a:t>Fill</a:t>
            </a:r>
            <a:r>
              <a:rPr lang="en-US" sz="2400" dirty="0" smtClean="0"/>
              <a:t>(ds, "</a:t>
            </a:r>
            <a:r>
              <a:rPr lang="en-US" sz="2400" dirty="0" err="1" smtClean="0"/>
              <a:t>tabl_name</a:t>
            </a:r>
            <a:r>
              <a:rPr lang="en-US" sz="2400" dirty="0" smtClean="0"/>
              <a:t>");  //</a:t>
            </a:r>
            <a:r>
              <a:rPr lang="ru-RU" sz="2400" dirty="0" smtClean="0"/>
              <a:t>заполняем </a:t>
            </a:r>
            <a:r>
              <a:rPr lang="en-US" sz="2400" dirty="0" err="1" smtClean="0"/>
              <a:t>DataSet</a:t>
            </a:r>
            <a:endParaRPr lang="ru-RU" sz="2400" i="1" dirty="0" smtClean="0"/>
          </a:p>
          <a:p>
            <a:r>
              <a:rPr lang="en-US" sz="2400" dirty="0" err="1" smtClean="0"/>
              <a:t>connection.Close</a:t>
            </a:r>
            <a:r>
              <a:rPr lang="en-US" sz="2400" dirty="0" smtClean="0"/>
              <a:t>();  </a:t>
            </a:r>
            <a:r>
              <a:rPr lang="ru-RU" sz="2400" dirty="0" smtClean="0"/>
              <a:t>    </a:t>
            </a:r>
            <a:r>
              <a:rPr lang="en-US" sz="2400" i="1" dirty="0" smtClean="0"/>
              <a:t>//</a:t>
            </a:r>
            <a:r>
              <a:rPr lang="ru-RU" sz="2400" i="1" dirty="0" smtClean="0"/>
              <a:t>закрываем соединение</a:t>
            </a:r>
            <a:r>
              <a:rPr lang="en-US" sz="2400" dirty="0" smtClean="0"/>
              <a:t>     </a:t>
            </a: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1001850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6538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ah-RU" sz="3200" b="1" dirty="0">
                <a:solidFill>
                  <a:schemeClr val="tx2"/>
                </a:solidFill>
              </a:rPr>
              <a:t>Создание приложений</a:t>
            </a:r>
            <a:r>
              <a:rPr lang="en-US" sz="3200" b="1" dirty="0">
                <a:solidFill>
                  <a:schemeClr val="tx2"/>
                </a:solidFill>
              </a:rPr>
              <a:t> </a:t>
            </a:r>
            <a:r>
              <a:rPr lang="ru-RU" sz="3200" b="1" dirty="0">
                <a:solidFill>
                  <a:schemeClr val="tx2"/>
                </a:solidFill>
              </a:rPr>
              <a:t>баз </a:t>
            </a:r>
            <a:r>
              <a:rPr lang="ru-RU" sz="3200" b="1" dirty="0" smtClean="0">
                <a:solidFill>
                  <a:schemeClr val="tx2"/>
                </a:solidFill>
              </a:rPr>
              <a:t>данных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216024" y="1334373"/>
            <a:ext cx="889248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800" b="1" dirty="0" smtClean="0"/>
              <a:t>Работа с БД без использования </a:t>
            </a:r>
            <a:r>
              <a:rPr lang="en-US" sz="2800" b="1" dirty="0" err="1" smtClean="0"/>
              <a:t>DataSet</a:t>
            </a:r>
            <a:r>
              <a:rPr lang="en-US" sz="2800" b="1" dirty="0" smtClean="0"/>
              <a:t>:</a:t>
            </a:r>
            <a:endParaRPr lang="ru-RU" sz="2800" b="1" dirty="0" smtClean="0"/>
          </a:p>
          <a:p>
            <a:pPr lvl="0"/>
            <a:endParaRPr lang="en-US" sz="2800" dirty="0" smtClean="0"/>
          </a:p>
          <a:p>
            <a:pPr lvl="0"/>
            <a:r>
              <a:rPr lang="en-US" sz="2800" dirty="0" smtClean="0"/>
              <a:t>string </a:t>
            </a:r>
            <a:r>
              <a:rPr lang="en-US" sz="2800" dirty="0" err="1" smtClean="0"/>
              <a:t>commStr</a:t>
            </a:r>
            <a:r>
              <a:rPr lang="en-US" sz="2800" dirty="0" smtClean="0"/>
              <a:t> = "UPDATE * FROM … ";</a:t>
            </a:r>
            <a:endParaRPr lang="ru-RU" sz="2800" dirty="0" smtClean="0"/>
          </a:p>
          <a:p>
            <a:pPr lvl="0"/>
            <a:r>
              <a:rPr lang="en-US" sz="2800" i="1" dirty="0" smtClean="0"/>
              <a:t>//</a:t>
            </a:r>
            <a:r>
              <a:rPr lang="ru-RU" sz="2800" i="1" dirty="0" smtClean="0"/>
              <a:t>создаем экземпляр </a:t>
            </a:r>
            <a:r>
              <a:rPr lang="en-US" sz="2800" i="1" dirty="0" err="1" smtClean="0"/>
              <a:t>SqlCommand</a:t>
            </a:r>
            <a:r>
              <a:rPr lang="ru-RU" sz="2800" i="1" dirty="0" smtClean="0"/>
              <a:t>:</a:t>
            </a:r>
            <a:endParaRPr lang="en-US" sz="2800" i="1" dirty="0"/>
          </a:p>
          <a:p>
            <a:pPr lvl="0"/>
            <a:r>
              <a:rPr lang="en-US" sz="2800" dirty="0" err="1" smtClean="0"/>
              <a:t>NpgSqlCommand</a:t>
            </a:r>
            <a:r>
              <a:rPr lang="en-US" sz="2800" dirty="0" smtClean="0"/>
              <a:t> command </a:t>
            </a:r>
            <a:r>
              <a:rPr lang="en-US" sz="2800" dirty="0"/>
              <a:t>= </a:t>
            </a:r>
            <a:endParaRPr lang="en-US" sz="2800" dirty="0" smtClean="0"/>
          </a:p>
          <a:p>
            <a:pPr lvl="0"/>
            <a:r>
              <a:rPr lang="en-US" sz="2800" dirty="0"/>
              <a:t> </a:t>
            </a:r>
            <a:r>
              <a:rPr lang="en-US" sz="2800" dirty="0" smtClean="0"/>
              <a:t>       new </a:t>
            </a:r>
            <a:r>
              <a:rPr lang="en-US" sz="2800" dirty="0" err="1" smtClean="0"/>
              <a:t>SqlCommand</a:t>
            </a:r>
            <a:r>
              <a:rPr lang="en-US" sz="2800" dirty="0" smtClean="0"/>
              <a:t>(</a:t>
            </a:r>
            <a:r>
              <a:rPr lang="en-US" sz="2800" dirty="0" err="1" smtClean="0"/>
              <a:t>commStr</a:t>
            </a:r>
            <a:r>
              <a:rPr lang="en-US" sz="2800" dirty="0" smtClean="0"/>
              <a:t>, connection);</a:t>
            </a:r>
          </a:p>
          <a:p>
            <a:pPr lvl="0"/>
            <a:endParaRPr lang="en-US" sz="2800" dirty="0"/>
          </a:p>
          <a:p>
            <a:pPr lvl="0"/>
            <a:r>
              <a:rPr lang="en-US" sz="2800" dirty="0" err="1" smtClean="0"/>
              <a:t>connection.Open</a:t>
            </a:r>
            <a:r>
              <a:rPr lang="en-US" sz="2800" dirty="0" smtClean="0"/>
              <a:t>(); </a:t>
            </a:r>
          </a:p>
          <a:p>
            <a:pPr lvl="0"/>
            <a:r>
              <a:rPr lang="en-US" sz="2800" i="1" dirty="0" smtClean="0"/>
              <a:t>//</a:t>
            </a:r>
            <a:r>
              <a:rPr lang="ru-RU" sz="2800" i="1" dirty="0" smtClean="0"/>
              <a:t>выполняем </a:t>
            </a:r>
            <a:r>
              <a:rPr lang="en-US" sz="2800" i="1" dirty="0" smtClean="0"/>
              <a:t>SQL-</a:t>
            </a:r>
            <a:r>
              <a:rPr lang="ru-RU" sz="2800" i="1" dirty="0" smtClean="0"/>
              <a:t>команду: </a:t>
            </a:r>
            <a:endParaRPr lang="en-US" sz="2800" dirty="0"/>
          </a:p>
          <a:p>
            <a:pPr lvl="0"/>
            <a:r>
              <a:rPr lang="en-US" sz="2800" dirty="0" err="1"/>
              <a:t>i</a:t>
            </a:r>
            <a:r>
              <a:rPr lang="en-US" sz="2800" dirty="0" err="1" smtClean="0"/>
              <a:t>nt</a:t>
            </a:r>
            <a:r>
              <a:rPr lang="en-US" sz="2800" dirty="0" smtClean="0"/>
              <a:t> </a:t>
            </a:r>
            <a:r>
              <a:rPr lang="ru-RU" sz="2800" dirty="0" smtClean="0"/>
              <a:t> </a:t>
            </a:r>
            <a:r>
              <a:rPr lang="en-US" sz="2800" dirty="0" err="1" smtClean="0"/>
              <a:t>ch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 smtClean="0"/>
              <a:t>command.</a:t>
            </a:r>
            <a:r>
              <a:rPr lang="en-US" sz="2800" b="1" dirty="0" err="1" smtClean="0"/>
              <a:t>ExecuteNonQuery</a:t>
            </a:r>
            <a:r>
              <a:rPr lang="en-US" sz="2800" b="1" dirty="0" smtClean="0"/>
              <a:t>();</a:t>
            </a:r>
          </a:p>
          <a:p>
            <a:pPr lvl="0"/>
            <a:r>
              <a:rPr lang="en-US" sz="2800" dirty="0" err="1" smtClean="0"/>
              <a:t>connection.Close</a:t>
            </a:r>
            <a:r>
              <a:rPr lang="en-US" sz="2800" dirty="0"/>
              <a:t>(); </a:t>
            </a:r>
            <a:r>
              <a:rPr lang="ru-RU" sz="2800" dirty="0" smtClean="0"/>
              <a:t>     </a:t>
            </a:r>
            <a:r>
              <a:rPr lang="en-US" sz="2800" i="1" dirty="0" smtClean="0"/>
              <a:t>//</a:t>
            </a:r>
            <a:r>
              <a:rPr lang="ru-RU" sz="2800" i="1" dirty="0" smtClean="0"/>
              <a:t>закрываем соединение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89840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59837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объектом </a:t>
            </a:r>
            <a:r>
              <a:rPr lang="en-US" sz="3200" b="1" dirty="0" err="1" smtClean="0">
                <a:solidFill>
                  <a:schemeClr val="tx2"/>
                </a:solidFill>
              </a:rPr>
              <a:t>DataGridView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395288" y="1412875"/>
            <a:ext cx="8529637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ru-RU" sz="2400" b="1" dirty="0" smtClean="0"/>
              <a:t>Заполнение элемента таблицы</a:t>
            </a:r>
            <a:endParaRPr lang="nn-NO" sz="2400" b="1" dirty="0" smtClean="0"/>
          </a:p>
          <a:p>
            <a:r>
              <a:rPr lang="nn-NO" sz="2400" dirty="0" smtClean="0"/>
              <a:t>for </a:t>
            </a:r>
            <a:r>
              <a:rPr lang="nn-NO" sz="2400" dirty="0"/>
              <a:t>(int i = 0; i &lt; myDataSet.Tables["tabl"].Rows.Count; i++)</a:t>
            </a:r>
          </a:p>
          <a:p>
            <a:r>
              <a:rPr lang="ru-RU" sz="2400" dirty="0"/>
              <a:t>{</a:t>
            </a:r>
          </a:p>
          <a:p>
            <a:r>
              <a:rPr lang="en-US" sz="2400" dirty="0"/>
              <a:t>    dataGridView1.Rows.Add();</a:t>
            </a:r>
          </a:p>
          <a:p>
            <a:r>
              <a:rPr lang="en-US" sz="2400" dirty="0"/>
              <a:t>    dataGridView1.Rows[</a:t>
            </a:r>
            <a:r>
              <a:rPr lang="en-US" sz="2400" dirty="0" err="1"/>
              <a:t>i</a:t>
            </a:r>
            <a:r>
              <a:rPr lang="en-US" sz="2400" dirty="0"/>
              <a:t>].Cells["</a:t>
            </a:r>
            <a:r>
              <a:rPr lang="en-US" sz="2400" dirty="0" err="1"/>
              <a:t>Exam_id</a:t>
            </a:r>
            <a:r>
              <a:rPr lang="en-US" sz="2400" dirty="0"/>
              <a:t>"].Value = </a:t>
            </a:r>
          </a:p>
          <a:p>
            <a:r>
              <a:rPr lang="en-US" sz="2400" dirty="0"/>
              <a:t>               </a:t>
            </a:r>
            <a:r>
              <a:rPr lang="en-US" sz="2400" dirty="0" err="1"/>
              <a:t>myDataSet.Tables</a:t>
            </a:r>
            <a:r>
              <a:rPr lang="en-US" sz="2400" dirty="0"/>
              <a:t>["</a:t>
            </a:r>
            <a:r>
              <a:rPr lang="en-US" sz="2400" dirty="0" err="1"/>
              <a:t>tabl</a:t>
            </a:r>
            <a:r>
              <a:rPr lang="en-US" sz="2400" dirty="0"/>
              <a:t>"].Rows[</a:t>
            </a:r>
            <a:r>
              <a:rPr lang="en-US" sz="2400" dirty="0" err="1"/>
              <a:t>i</a:t>
            </a:r>
            <a:r>
              <a:rPr lang="en-US" sz="2400" dirty="0"/>
              <a:t>]["</a:t>
            </a:r>
            <a:r>
              <a:rPr lang="en-US" sz="2400" dirty="0" err="1"/>
              <a:t>exam_id</a:t>
            </a:r>
            <a:r>
              <a:rPr lang="en-US" sz="2400" dirty="0"/>
              <a:t>"].</a:t>
            </a:r>
            <a:r>
              <a:rPr lang="en-US" sz="2400" dirty="0" err="1"/>
              <a:t>ToString</a:t>
            </a:r>
            <a:r>
              <a:rPr lang="en-US" sz="2400" dirty="0"/>
              <a:t>();</a:t>
            </a:r>
          </a:p>
          <a:p>
            <a:r>
              <a:rPr lang="ru-RU" sz="2400" dirty="0"/>
              <a:t>}</a:t>
            </a:r>
          </a:p>
          <a:p>
            <a:endParaRPr lang="en-US" sz="2400" dirty="0"/>
          </a:p>
          <a:p>
            <a:r>
              <a:rPr lang="en-US" sz="2400" dirty="0"/>
              <a:t>dataGridView1.Rows.</a:t>
            </a:r>
            <a:r>
              <a:rPr lang="en-US" sz="2400" b="1" dirty="0"/>
              <a:t>Add()</a:t>
            </a:r>
            <a:r>
              <a:rPr lang="en-US" sz="2400" dirty="0"/>
              <a:t> – </a:t>
            </a:r>
            <a:r>
              <a:rPr lang="ru-RU" sz="2400" dirty="0"/>
              <a:t>метод, добавляющий пустую строку в таблицу</a:t>
            </a:r>
          </a:p>
          <a:p>
            <a:r>
              <a:rPr lang="en-US" sz="2400" dirty="0"/>
              <a:t>dataGridView1.Rows[</a:t>
            </a:r>
            <a:r>
              <a:rPr lang="en-US" sz="2400" dirty="0" err="1"/>
              <a:t>i</a:t>
            </a:r>
            <a:r>
              <a:rPr lang="en-US" sz="2400" dirty="0"/>
              <a:t>] – </a:t>
            </a:r>
            <a:r>
              <a:rPr lang="ru-RU" sz="2400" dirty="0"/>
              <a:t>обращаемся к </a:t>
            </a:r>
            <a:r>
              <a:rPr lang="en-US" sz="2400" dirty="0" err="1"/>
              <a:t>i</a:t>
            </a:r>
            <a:r>
              <a:rPr lang="en-US" sz="2400" dirty="0"/>
              <a:t>-</a:t>
            </a:r>
            <a:r>
              <a:rPr lang="ru-RU" sz="2400" dirty="0"/>
              <a:t>ой строке таблицы</a:t>
            </a:r>
          </a:p>
          <a:p>
            <a:r>
              <a:rPr lang="en-US" sz="2400" dirty="0"/>
              <a:t>dataGridView1.Rows[</a:t>
            </a:r>
            <a:r>
              <a:rPr lang="en-US" sz="2400" dirty="0" err="1"/>
              <a:t>i</a:t>
            </a:r>
            <a:r>
              <a:rPr lang="en-US" sz="2400" dirty="0"/>
              <a:t>].Cells["</a:t>
            </a:r>
            <a:r>
              <a:rPr lang="en-US" sz="2400" dirty="0" err="1"/>
              <a:t>Exam_id</a:t>
            </a:r>
            <a:r>
              <a:rPr lang="en-US" sz="2400" dirty="0"/>
              <a:t>"] .</a:t>
            </a:r>
            <a:r>
              <a:rPr lang="en-US" sz="2400" b="1" dirty="0"/>
              <a:t>Value  </a:t>
            </a:r>
            <a:r>
              <a:rPr lang="en-US" sz="2400" dirty="0"/>
              <a:t>– </a:t>
            </a:r>
            <a:r>
              <a:rPr lang="ru-RU" sz="2400" dirty="0"/>
              <a:t>значение в ячейке таблицы на пересечении </a:t>
            </a:r>
            <a:r>
              <a:rPr lang="en-US" sz="2400" dirty="0" err="1"/>
              <a:t>i</a:t>
            </a:r>
            <a:r>
              <a:rPr lang="en-US" sz="2400" dirty="0"/>
              <a:t>-</a:t>
            </a:r>
            <a:r>
              <a:rPr lang="ru-RU" sz="2400" dirty="0"/>
              <a:t>ой строки и столбца «</a:t>
            </a:r>
            <a:r>
              <a:rPr lang="en-US" sz="2400" dirty="0" err="1"/>
              <a:t>Exam_id</a:t>
            </a:r>
            <a:r>
              <a:rPr lang="ru-RU" sz="2400" dirty="0"/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2015683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59837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объектом </a:t>
            </a:r>
            <a:r>
              <a:rPr lang="en-US" sz="3200" b="1" dirty="0" err="1" smtClean="0">
                <a:solidFill>
                  <a:schemeClr val="tx2"/>
                </a:solidFill>
              </a:rPr>
              <a:t>DataGridView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395288" y="1412875"/>
            <a:ext cx="8529637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ru-RU" sz="2800" dirty="0"/>
              <a:t>Элемент </a:t>
            </a:r>
            <a:r>
              <a:rPr lang="ru-RU" sz="2800" dirty="0" smtClean="0"/>
              <a:t>управления</a:t>
            </a:r>
            <a:r>
              <a:rPr lang="en-US" sz="2800" dirty="0" smtClean="0"/>
              <a:t> </a:t>
            </a:r>
            <a:r>
              <a:rPr lang="en-US" sz="2800" b="1" dirty="0" err="1" smtClean="0"/>
              <a:t>DataGridView</a:t>
            </a:r>
            <a:r>
              <a:rPr lang="en-US" sz="2800" b="1" dirty="0" smtClean="0"/>
              <a:t> </a:t>
            </a:r>
            <a:r>
              <a:rPr lang="ru-RU" sz="2800" dirty="0" smtClean="0"/>
              <a:t>позволяет </a:t>
            </a:r>
            <a:r>
              <a:rPr lang="ru-RU" sz="2800" dirty="0"/>
              <a:t>отображать и редактировать табличные данные из различных типов источников данных</a:t>
            </a:r>
            <a:r>
              <a:rPr lang="ru-RU" sz="2800" dirty="0" smtClean="0"/>
              <a:t>.</a:t>
            </a:r>
            <a:endParaRPr lang="en-US" sz="2800" dirty="0" smtClean="0"/>
          </a:p>
          <a:p>
            <a:endParaRPr lang="en-US" sz="2800" dirty="0"/>
          </a:p>
          <a:p>
            <a:r>
              <a:rPr lang="ru-RU" sz="2800" dirty="0" smtClean="0"/>
              <a:t>Можно сделать привязку </a:t>
            </a:r>
            <a:r>
              <a:rPr lang="en-US" sz="2800" dirty="0" smtClean="0"/>
              <a:t>c </a:t>
            </a:r>
            <a:r>
              <a:rPr lang="ru-RU" sz="2800" dirty="0" smtClean="0"/>
              <a:t>помощью объекта </a:t>
            </a:r>
            <a:r>
              <a:rPr lang="en-US" sz="2800" b="1" dirty="0" err="1" smtClean="0"/>
              <a:t>DataSource</a:t>
            </a:r>
            <a:r>
              <a:rPr lang="en-US" sz="2800" b="1" dirty="0" smtClean="0"/>
              <a:t> </a:t>
            </a:r>
            <a:r>
              <a:rPr lang="ru-RU" sz="2800" dirty="0"/>
              <a:t>(</a:t>
            </a:r>
            <a:r>
              <a:rPr lang="ru-RU" sz="2800" dirty="0" smtClean="0"/>
              <a:t>источник данных).</a:t>
            </a:r>
          </a:p>
          <a:p>
            <a:endParaRPr lang="ru-RU" sz="2800" dirty="0"/>
          </a:p>
          <a:p>
            <a:r>
              <a:rPr lang="en-US" sz="2800" dirty="0" smtClean="0"/>
              <a:t>dataGridView1.DataSource </a:t>
            </a:r>
            <a:r>
              <a:rPr lang="en-US" sz="2800" dirty="0"/>
              <a:t>= </a:t>
            </a:r>
            <a:r>
              <a:rPr lang="en-US" sz="2800" dirty="0" err="1"/>
              <a:t>ds.Tables</a:t>
            </a:r>
            <a:r>
              <a:rPr lang="en-US" sz="2800" dirty="0"/>
              <a:t>["Student"];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5136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341" name="Прямоугольник 2"/>
          <p:cNvSpPr>
            <a:spLocks noChangeArrowheads="1"/>
          </p:cNvSpPr>
          <p:nvPr/>
        </p:nvSpPr>
        <p:spPr bwMode="auto">
          <a:xfrm>
            <a:off x="250825" y="1340768"/>
            <a:ext cx="8785225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ru-RU" sz="2400" b="1">
                <a:solidFill>
                  <a:schemeClr val="tx2"/>
                </a:solidFill>
              </a:rPr>
              <a:t>CellValidating</a:t>
            </a:r>
            <a:r>
              <a:rPr lang="ru-RU" sz="2400"/>
              <a:t> – Проверка корректности ввода значения ячейки и запрет ввода недопустимого значения.</a:t>
            </a:r>
          </a:p>
          <a:p>
            <a:r>
              <a:rPr lang="ru-RU" sz="2400" b="1">
                <a:solidFill>
                  <a:schemeClr val="tx2"/>
                </a:solidFill>
              </a:rPr>
              <a:t>DataError</a:t>
            </a:r>
            <a:r>
              <a:rPr lang="ru-RU" sz="2400"/>
              <a:t> – Реакция на необработанную ошибку при работе с данными.</a:t>
            </a:r>
          </a:p>
          <a:p>
            <a:r>
              <a:rPr lang="ru-RU" sz="2400" b="1">
                <a:solidFill>
                  <a:schemeClr val="tx2"/>
                </a:solidFill>
              </a:rPr>
              <a:t>CellValueChanged </a:t>
            </a:r>
            <a:r>
              <a:rPr lang="ru-RU" sz="2400"/>
              <a:t>– Установка признака изменения данных, управление доступностью функций, связанных с наличием несохранённых изменений.</a:t>
            </a:r>
          </a:p>
          <a:p>
            <a:r>
              <a:rPr lang="ru-RU" sz="2400" b="1">
                <a:solidFill>
                  <a:schemeClr val="tx2"/>
                </a:solidFill>
              </a:rPr>
              <a:t>Leave </a:t>
            </a:r>
            <a:r>
              <a:rPr lang="ru-RU" sz="2400"/>
              <a:t>– Отмена редактирования ячейки, если её значение некорректно, и вывод сообщения об ошибке.</a:t>
            </a:r>
          </a:p>
          <a:p>
            <a:r>
              <a:rPr lang="ru-RU" sz="2400" b="1">
                <a:solidFill>
                  <a:schemeClr val="tx2"/>
                </a:solidFill>
              </a:rPr>
              <a:t>CellMouseClick </a:t>
            </a:r>
            <a:r>
              <a:rPr lang="ru-RU" sz="2400"/>
              <a:t>– Вызов контекстного меню редактируемой таблицы.</a:t>
            </a:r>
          </a:p>
          <a:p>
            <a:r>
              <a:rPr lang="ru-RU" sz="2400" b="1">
                <a:solidFill>
                  <a:schemeClr val="tx2"/>
                </a:solidFill>
              </a:rPr>
              <a:t>CellMouseDoubleClick </a:t>
            </a:r>
            <a:r>
              <a:rPr lang="ru-RU" sz="2400"/>
              <a:t>– Вызов формы выбора значения ячейки, например цвета.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83568" y="477253"/>
            <a:ext cx="76015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Основные события объекта </a:t>
            </a:r>
            <a:r>
              <a:rPr lang="en-US" sz="3200" b="1" dirty="0" err="1">
                <a:solidFill>
                  <a:schemeClr val="tx2"/>
                </a:solidFill>
              </a:rPr>
              <a:t>DataGridView</a:t>
            </a:r>
            <a:endParaRPr lang="en-US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20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Прямоугольник 1"/>
          <p:cNvSpPr>
            <a:spLocks noChangeArrowheads="1"/>
          </p:cNvSpPr>
          <p:nvPr/>
        </p:nvSpPr>
        <p:spPr bwMode="auto">
          <a:xfrm>
            <a:off x="539750" y="477838"/>
            <a:ext cx="572945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Пример работы с БД </a:t>
            </a:r>
            <a:r>
              <a:rPr lang="en-US" sz="3200" b="1" dirty="0" err="1" smtClean="0">
                <a:solidFill>
                  <a:schemeClr val="tx2"/>
                </a:solidFill>
              </a:rPr>
              <a:t>Postgresql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341" name="Прямоугольник 2"/>
          <p:cNvSpPr>
            <a:spLocks noChangeArrowheads="1"/>
          </p:cNvSpPr>
          <p:nvPr/>
        </p:nvSpPr>
        <p:spPr bwMode="auto">
          <a:xfrm>
            <a:off x="107504" y="1364570"/>
            <a:ext cx="8964488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000" dirty="0" err="1"/>
              <a:t>NpgsqlConnection</a:t>
            </a:r>
            <a:r>
              <a:rPr lang="en-US" sz="2000" dirty="0"/>
              <a:t> conn = new </a:t>
            </a:r>
            <a:r>
              <a:rPr lang="en-US" sz="2000" dirty="0" err="1"/>
              <a:t>NpgsqlConnection</a:t>
            </a:r>
            <a:r>
              <a:rPr lang="en-US" sz="2000" dirty="0"/>
              <a:t>("Server=127.0.0.1;Port=5432;User </a:t>
            </a:r>
            <a:r>
              <a:rPr lang="en-US" sz="2000" dirty="0" smtClean="0"/>
              <a:t>Id=</a:t>
            </a:r>
            <a:r>
              <a:rPr lang="en-US" sz="2000" dirty="0" err="1" smtClean="0"/>
              <a:t>postgres;Password</a:t>
            </a:r>
            <a:r>
              <a:rPr lang="en-US" sz="2000" dirty="0" smtClean="0"/>
              <a:t>=</a:t>
            </a:r>
            <a:r>
              <a:rPr lang="en-US" sz="2000" dirty="0" err="1" smtClean="0"/>
              <a:t>secret;Database</a:t>
            </a:r>
            <a:r>
              <a:rPr lang="en-US" sz="2000" dirty="0" smtClean="0"/>
              <a:t>=</a:t>
            </a:r>
            <a:r>
              <a:rPr lang="en-US" sz="2000" dirty="0" err="1" smtClean="0"/>
              <a:t>university;Encoding</a:t>
            </a:r>
            <a:r>
              <a:rPr lang="en-US" sz="2000" dirty="0" smtClean="0"/>
              <a:t>=</a:t>
            </a:r>
            <a:r>
              <a:rPr lang="en-US" sz="2000" dirty="0" err="1" smtClean="0"/>
              <a:t>unicode</a:t>
            </a:r>
            <a:r>
              <a:rPr lang="en-US" sz="2000" dirty="0" smtClean="0"/>
              <a:t>");</a:t>
            </a:r>
          </a:p>
          <a:p>
            <a:endParaRPr lang="en-US" sz="2000" dirty="0"/>
          </a:p>
          <a:p>
            <a:r>
              <a:rPr lang="en-US" sz="2000" dirty="0" err="1"/>
              <a:t>NpgsqlCommand</a:t>
            </a:r>
            <a:r>
              <a:rPr lang="en-US" sz="2000" dirty="0"/>
              <a:t> command = new </a:t>
            </a:r>
            <a:r>
              <a:rPr lang="en-US" sz="2000" dirty="0" err="1"/>
              <a:t>NpgsqlCommand</a:t>
            </a:r>
            <a:r>
              <a:rPr lang="en-US" sz="2000" dirty="0"/>
              <a:t>("select * from student", conn);</a:t>
            </a:r>
          </a:p>
          <a:p>
            <a:r>
              <a:rPr lang="en-US" sz="2000" dirty="0"/>
              <a:t>try</a:t>
            </a:r>
          </a:p>
          <a:p>
            <a:r>
              <a:rPr lang="en-US" sz="2000" dirty="0"/>
              <a:t>    {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NpgsqlDataReader</a:t>
            </a:r>
            <a:r>
              <a:rPr lang="en-US" sz="2000" dirty="0"/>
              <a:t> </a:t>
            </a:r>
            <a:r>
              <a:rPr lang="en-US" sz="2000" dirty="0" err="1"/>
              <a:t>dr</a:t>
            </a:r>
            <a:r>
              <a:rPr lang="en-US" sz="2000" dirty="0"/>
              <a:t> = </a:t>
            </a:r>
            <a:r>
              <a:rPr lang="en-US" sz="2000" dirty="0" err="1"/>
              <a:t>command.ExecuteReader</a:t>
            </a:r>
            <a:r>
              <a:rPr lang="en-US" sz="2000" dirty="0"/>
              <a:t>();</a:t>
            </a:r>
          </a:p>
          <a:p>
            <a:r>
              <a:rPr lang="en-US" sz="2000" dirty="0"/>
              <a:t>        while (</a:t>
            </a:r>
            <a:r>
              <a:rPr lang="en-US" sz="2000" dirty="0" err="1"/>
              <a:t>dr.Read</a:t>
            </a:r>
            <a:r>
              <a:rPr lang="en-US" sz="2000" dirty="0"/>
              <a:t>())</a:t>
            </a:r>
          </a:p>
          <a:p>
            <a:r>
              <a:rPr lang="en-US" sz="2000" dirty="0"/>
              <a:t>        {</a:t>
            </a:r>
          </a:p>
          <a:p>
            <a:r>
              <a:rPr lang="en-US" sz="2000" dirty="0"/>
              <a:t>            for (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= 0; </a:t>
            </a:r>
            <a:r>
              <a:rPr lang="en-US" sz="2000" dirty="0" err="1"/>
              <a:t>i</a:t>
            </a:r>
            <a:r>
              <a:rPr lang="en-US" sz="2000" dirty="0"/>
              <a:t> &lt; </a:t>
            </a:r>
            <a:r>
              <a:rPr lang="en-US" sz="2000" dirty="0" err="1"/>
              <a:t>dr.FieldCount</a:t>
            </a:r>
            <a:r>
              <a:rPr lang="en-US" sz="2000" dirty="0"/>
              <a:t>; </a:t>
            </a:r>
            <a:r>
              <a:rPr lang="en-US" sz="2000" dirty="0" err="1"/>
              <a:t>i</a:t>
            </a:r>
            <a:r>
              <a:rPr lang="en-US" sz="2000" dirty="0"/>
              <a:t>++)</a:t>
            </a:r>
          </a:p>
          <a:p>
            <a:r>
              <a:rPr lang="en-US" sz="2000" dirty="0"/>
              <a:t>            {</a:t>
            </a:r>
          </a:p>
          <a:p>
            <a:r>
              <a:rPr lang="en-US" sz="2000" dirty="0"/>
              <a:t>                </a:t>
            </a:r>
            <a:r>
              <a:rPr lang="en-US" sz="2000" dirty="0" err="1"/>
              <a:t>Console.Write</a:t>
            </a:r>
            <a:r>
              <a:rPr lang="en-US" sz="2000" dirty="0"/>
              <a:t>("{0} \t", </a:t>
            </a:r>
            <a:r>
              <a:rPr lang="en-US" sz="2000" dirty="0" err="1"/>
              <a:t>dr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]);</a:t>
            </a:r>
          </a:p>
          <a:p>
            <a:r>
              <a:rPr lang="en-US" sz="2000" dirty="0"/>
              <a:t>            }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Console.WriteLine</a:t>
            </a:r>
            <a:r>
              <a:rPr lang="en-US" sz="2000" dirty="0"/>
              <a:t>();</a:t>
            </a:r>
          </a:p>
          <a:p>
            <a:r>
              <a:rPr lang="en-US" sz="2000" dirty="0"/>
              <a:t>        }</a:t>
            </a:r>
          </a:p>
          <a:p>
            <a:r>
              <a:rPr lang="en-US" sz="2000" dirty="0"/>
              <a:t>    </a:t>
            </a:r>
            <a:r>
              <a:rPr lang="en-US" sz="2000" dirty="0" smtClean="0"/>
              <a:t>}</a:t>
            </a:r>
          </a:p>
          <a:p>
            <a:r>
              <a:rPr lang="en-US" sz="2000" dirty="0"/>
              <a:t>catch</a:t>
            </a:r>
            <a:r>
              <a:rPr lang="en-US" sz="2000" dirty="0" smtClean="0"/>
              <a:t> { }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5938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77014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Объекты: </a:t>
            </a:r>
            <a:r>
              <a:rPr lang="en-US" sz="3200" b="1" dirty="0" err="1">
                <a:solidFill>
                  <a:schemeClr val="tx2"/>
                </a:solidFill>
              </a:rPr>
              <a:t>DataTable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DataRow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DataColumn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412776"/>
            <a:ext cx="852973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 smtClean="0"/>
              <a:t>DataTable</a:t>
            </a:r>
            <a:r>
              <a:rPr lang="en-US" sz="2800" b="1" dirty="0" smtClean="0"/>
              <a:t> </a:t>
            </a:r>
            <a:r>
              <a:rPr lang="en-US" sz="2800" dirty="0" smtClean="0"/>
              <a:t>– </a:t>
            </a:r>
            <a:r>
              <a:rPr lang="ru-RU" sz="2800" dirty="0"/>
              <a:t>п</a:t>
            </a:r>
            <a:r>
              <a:rPr lang="ru-RU" sz="2800" dirty="0" smtClean="0"/>
              <a:t>редставляет </a:t>
            </a:r>
            <a:r>
              <a:rPr lang="ru-RU" sz="2800" dirty="0"/>
              <a:t>одну таблицу с данными в </a:t>
            </a:r>
            <a:r>
              <a:rPr lang="ru-RU" sz="2800" dirty="0" smtClean="0"/>
              <a:t>памяти</a:t>
            </a:r>
            <a:r>
              <a:rPr lang="en-US" sz="2800" dirty="0" smtClean="0"/>
              <a:t> (</a:t>
            </a:r>
            <a:r>
              <a:rPr lang="ru-RU" sz="2800" dirty="0" smtClean="0"/>
              <a:t>из </a:t>
            </a:r>
            <a:r>
              <a:rPr lang="en-US" sz="2800" dirty="0" smtClean="0"/>
              <a:t>DataSet)</a:t>
            </a:r>
            <a:r>
              <a:rPr lang="ru-RU" sz="2800" dirty="0" smtClean="0"/>
              <a:t>. </a:t>
            </a:r>
            <a:endParaRPr lang="en-US" sz="2800" dirty="0" smtClean="0"/>
          </a:p>
          <a:p>
            <a:r>
              <a:rPr lang="ru-RU" sz="2800" dirty="0" smtClean="0"/>
              <a:t>Сборка</a:t>
            </a:r>
            <a:r>
              <a:rPr lang="ru-RU" sz="2800" dirty="0"/>
              <a:t>:  </a:t>
            </a:r>
            <a:r>
              <a:rPr lang="en-US" sz="2800" dirty="0" err="1"/>
              <a:t>System.Data</a:t>
            </a:r>
            <a:r>
              <a:rPr lang="en-US" sz="2800" dirty="0"/>
              <a:t> (</a:t>
            </a:r>
            <a:r>
              <a:rPr lang="ru-RU" sz="2800" dirty="0"/>
              <a:t>в </a:t>
            </a:r>
            <a:r>
              <a:rPr lang="en-US" sz="2800" dirty="0"/>
              <a:t>System.Data.dll</a:t>
            </a:r>
            <a:r>
              <a:rPr lang="en-US" sz="2800" dirty="0" smtClean="0"/>
              <a:t>)</a:t>
            </a:r>
            <a:endParaRPr lang="ru-RU" sz="2800" dirty="0" smtClean="0"/>
          </a:p>
          <a:p>
            <a:endParaRPr lang="ru-RU" sz="2800" b="1" dirty="0" smtClean="0"/>
          </a:p>
          <a:p>
            <a:r>
              <a:rPr lang="ru-RU" sz="2800" b="1" dirty="0" smtClean="0"/>
              <a:t>Конструкторы:</a:t>
            </a:r>
            <a:endParaRPr lang="en-US" sz="2800" b="1" dirty="0" smtClean="0"/>
          </a:p>
          <a:p>
            <a:r>
              <a:rPr lang="en-US" sz="2800" b="1" dirty="0" err="1" smtClean="0"/>
              <a:t>DataTable</a:t>
            </a:r>
            <a:r>
              <a:rPr lang="en-US" sz="2800" b="1" dirty="0" smtClean="0"/>
              <a:t>()</a:t>
            </a:r>
            <a:r>
              <a:rPr lang="ru-RU" sz="2800" dirty="0" smtClean="0"/>
              <a:t> – инициализирует новый </a:t>
            </a:r>
            <a:r>
              <a:rPr lang="ru-RU" sz="2800" dirty="0"/>
              <a:t>экземпляр </a:t>
            </a:r>
            <a:r>
              <a:rPr lang="ru-RU" sz="2800" dirty="0" smtClean="0"/>
              <a:t>класса</a:t>
            </a:r>
            <a:endParaRPr lang="ru-RU" sz="2800" dirty="0"/>
          </a:p>
          <a:p>
            <a:r>
              <a:rPr lang="en-US" sz="2800" b="1" dirty="0" err="1" smtClean="0"/>
              <a:t>DataTable</a:t>
            </a:r>
            <a:r>
              <a:rPr lang="en-US" sz="2800" b="1" dirty="0" smtClean="0"/>
              <a:t>(“</a:t>
            </a:r>
            <a:r>
              <a:rPr lang="en-US" sz="2800" b="1" dirty="0" err="1" smtClean="0"/>
              <a:t>Tabl_name</a:t>
            </a:r>
            <a:r>
              <a:rPr lang="en-US" sz="2800" b="1" dirty="0" smtClean="0"/>
              <a:t>”)</a:t>
            </a:r>
            <a:r>
              <a:rPr lang="ru-RU" sz="2800" dirty="0" smtClean="0"/>
              <a:t> – инициализирует новый экземпляр класса</a:t>
            </a:r>
            <a:r>
              <a:rPr lang="en-US" sz="2800" dirty="0" smtClean="0"/>
              <a:t> </a:t>
            </a:r>
            <a:r>
              <a:rPr lang="ru-RU" sz="2800" dirty="0"/>
              <a:t>с указанным именем таблицы</a:t>
            </a:r>
            <a:r>
              <a:rPr lang="ru-RU" sz="2800" dirty="0" smtClean="0"/>
              <a:t>.</a:t>
            </a:r>
          </a:p>
          <a:p>
            <a:endParaRPr lang="ru-RU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722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77014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Объекты: </a:t>
            </a:r>
            <a:r>
              <a:rPr lang="en-US" sz="3200" b="1" dirty="0" err="1">
                <a:solidFill>
                  <a:schemeClr val="tx2"/>
                </a:solidFill>
              </a:rPr>
              <a:t>DataTable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DataRow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DataColumn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251520" y="1412776"/>
            <a:ext cx="889248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 smtClean="0"/>
              <a:t>DataTable</a:t>
            </a:r>
            <a:r>
              <a:rPr lang="en-US" sz="2800" b="1" dirty="0" smtClean="0"/>
              <a:t> </a:t>
            </a:r>
            <a:r>
              <a:rPr lang="ru-RU" sz="2800" dirty="0" smtClean="0"/>
              <a:t>позволяет «укорачивать» код:</a:t>
            </a:r>
          </a:p>
          <a:p>
            <a:endParaRPr lang="en-US" sz="2800" dirty="0" smtClean="0"/>
          </a:p>
          <a:p>
            <a:r>
              <a:rPr lang="en-US" sz="2400" dirty="0" smtClean="0"/>
              <a:t>DataSet  ds;</a:t>
            </a:r>
          </a:p>
          <a:p>
            <a:r>
              <a:rPr lang="en-US" sz="2400" dirty="0" smtClean="0"/>
              <a:t>string  </a:t>
            </a:r>
            <a:r>
              <a:rPr lang="en-US" sz="2400" dirty="0" err="1" smtClean="0"/>
              <a:t>zn</a:t>
            </a:r>
            <a:r>
              <a:rPr lang="en-US" sz="2400" dirty="0" smtClean="0"/>
              <a:t> = </a:t>
            </a:r>
            <a:r>
              <a:rPr lang="en-US" sz="2400" dirty="0" err="1" smtClean="0"/>
              <a:t>ds.Tables</a:t>
            </a:r>
            <a:r>
              <a:rPr lang="en-US" sz="2400" dirty="0"/>
              <a:t>["</a:t>
            </a:r>
            <a:r>
              <a:rPr lang="en-US" sz="2400" dirty="0" err="1" smtClean="0"/>
              <a:t>tbl</a:t>
            </a:r>
            <a:r>
              <a:rPr lang="ru-RU" sz="2400" dirty="0" smtClean="0"/>
              <a:t>_</a:t>
            </a:r>
            <a:r>
              <a:rPr lang="en-US" sz="2400" dirty="0" smtClean="0"/>
              <a:t>nm"].Rows[</a:t>
            </a:r>
            <a:r>
              <a:rPr lang="en-US" sz="2400" dirty="0" err="1" smtClean="0"/>
              <a:t>row_index</a:t>
            </a:r>
            <a:r>
              <a:rPr lang="en-US" sz="2400" dirty="0" smtClean="0"/>
              <a:t>]["</a:t>
            </a:r>
            <a:r>
              <a:rPr lang="en-US" sz="2400" dirty="0" err="1" smtClean="0"/>
              <a:t>col_nm</a:t>
            </a:r>
            <a:r>
              <a:rPr lang="en-US" sz="2400" dirty="0"/>
              <a:t>"</a:t>
            </a:r>
            <a:r>
              <a:rPr lang="en-US" sz="2400" dirty="0" smtClean="0"/>
              <a:t>].</a:t>
            </a:r>
            <a:r>
              <a:rPr lang="en-US" sz="2400" dirty="0" err="1"/>
              <a:t>ToString</a:t>
            </a:r>
            <a:r>
              <a:rPr lang="en-US" sz="2400" dirty="0" smtClean="0"/>
              <a:t>()</a:t>
            </a:r>
            <a:endParaRPr lang="ru-RU" sz="2400" dirty="0" smtClean="0"/>
          </a:p>
          <a:p>
            <a:endParaRPr lang="ru-RU" sz="2400" dirty="0" smtClean="0"/>
          </a:p>
          <a:p>
            <a:r>
              <a:rPr lang="en-US" sz="2400" dirty="0" err="1" smtClean="0"/>
              <a:t>DataTable</a:t>
            </a:r>
            <a:r>
              <a:rPr lang="en-US" sz="2400" dirty="0" smtClean="0"/>
              <a:t>  </a:t>
            </a:r>
            <a:r>
              <a:rPr lang="en-US" sz="2400" dirty="0" err="1"/>
              <a:t>dt</a:t>
            </a:r>
            <a:r>
              <a:rPr lang="en-US" sz="2400" dirty="0"/>
              <a:t> = </a:t>
            </a:r>
            <a:r>
              <a:rPr lang="en-US" sz="2400" dirty="0" err="1"/>
              <a:t>ds.Tables</a:t>
            </a:r>
            <a:r>
              <a:rPr lang="en-US" sz="2400" dirty="0" smtClean="0"/>
              <a:t>[</a:t>
            </a:r>
            <a:r>
              <a:rPr lang="en-US" sz="2400" dirty="0"/>
              <a:t>"</a:t>
            </a:r>
            <a:r>
              <a:rPr lang="en-US" sz="2400" dirty="0" err="1"/>
              <a:t>tbl</a:t>
            </a:r>
            <a:r>
              <a:rPr lang="ru-RU" sz="2400" dirty="0"/>
              <a:t>_</a:t>
            </a:r>
            <a:r>
              <a:rPr lang="en-US" sz="2400" dirty="0"/>
              <a:t>nm"</a:t>
            </a:r>
            <a:r>
              <a:rPr lang="en-US" sz="2400" dirty="0" smtClean="0"/>
              <a:t>]; </a:t>
            </a:r>
            <a:endParaRPr lang="ru-RU" sz="2400" dirty="0"/>
          </a:p>
          <a:p>
            <a:r>
              <a:rPr lang="en-US" sz="2400" dirty="0"/>
              <a:t>s</a:t>
            </a:r>
            <a:r>
              <a:rPr lang="en-US" sz="2400" dirty="0" smtClean="0"/>
              <a:t>tring  </a:t>
            </a:r>
            <a:r>
              <a:rPr lang="en-US" sz="2400" dirty="0" err="1" smtClean="0"/>
              <a:t>zn</a:t>
            </a:r>
            <a:r>
              <a:rPr lang="en-US" sz="2400" dirty="0" smtClean="0"/>
              <a:t> = </a:t>
            </a:r>
            <a:r>
              <a:rPr lang="en-US" sz="2400" dirty="0" err="1" smtClean="0"/>
              <a:t>dt.Rows</a:t>
            </a:r>
            <a:r>
              <a:rPr lang="en-US" sz="2400" dirty="0" smtClean="0"/>
              <a:t>[</a:t>
            </a:r>
            <a:r>
              <a:rPr lang="en-US" sz="2400" dirty="0" err="1" smtClean="0"/>
              <a:t>row_index</a:t>
            </a:r>
            <a:r>
              <a:rPr lang="en-US" sz="2400" dirty="0"/>
              <a:t>]["</a:t>
            </a:r>
            <a:r>
              <a:rPr lang="en-US" sz="2400" dirty="0" err="1"/>
              <a:t>col_nm</a:t>
            </a:r>
            <a:r>
              <a:rPr lang="en-US" sz="2400" dirty="0"/>
              <a:t>"].</a:t>
            </a:r>
            <a:r>
              <a:rPr lang="en-US" sz="2400" dirty="0" err="1"/>
              <a:t>ToString</a:t>
            </a:r>
            <a:r>
              <a:rPr lang="en-US" sz="2400" dirty="0"/>
              <a:t>()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32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77014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Объекты: </a:t>
            </a:r>
            <a:r>
              <a:rPr lang="en-US" sz="3200" b="1" dirty="0" err="1">
                <a:solidFill>
                  <a:schemeClr val="tx2"/>
                </a:solidFill>
              </a:rPr>
              <a:t>DataTable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DataRow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DataColumn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262365"/>
            <a:ext cx="85297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Свойства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DataTable</a:t>
            </a:r>
            <a:r>
              <a:rPr lang="ru-RU" sz="2800" b="1" dirty="0" smtClean="0"/>
              <a:t>:</a:t>
            </a:r>
            <a:endParaRPr lang="en-US" sz="2800" b="1" dirty="0" smtClean="0"/>
          </a:p>
          <a:p>
            <a:endParaRPr lang="ru-RU" sz="2800" b="1" dirty="0" smtClean="0"/>
          </a:p>
          <a:p>
            <a:r>
              <a:rPr lang="ru-RU" sz="2800" b="1" dirty="0" err="1" smtClean="0">
                <a:solidFill>
                  <a:schemeClr val="tx2"/>
                </a:solidFill>
              </a:rPr>
              <a:t>Columns</a:t>
            </a:r>
            <a:r>
              <a:rPr lang="ru-RU" sz="2800" b="1" dirty="0" smtClean="0">
                <a:solidFill>
                  <a:schemeClr val="tx2"/>
                </a:solidFill>
              </a:rPr>
              <a:t> </a:t>
            </a:r>
            <a:r>
              <a:rPr lang="ru-RU" sz="2800" dirty="0" smtClean="0"/>
              <a:t>– коллекция </a:t>
            </a:r>
            <a:r>
              <a:rPr lang="ru-RU" sz="2800" dirty="0"/>
              <a:t>столбцов, принадлежащих данной таблице.</a:t>
            </a:r>
          </a:p>
          <a:p>
            <a:r>
              <a:rPr lang="ru-RU" sz="2800" b="1" dirty="0" smtClean="0">
                <a:solidFill>
                  <a:schemeClr val="tx2"/>
                </a:solidFill>
              </a:rPr>
              <a:t>DataSet </a:t>
            </a:r>
            <a:r>
              <a:rPr lang="ru-RU" sz="2800" dirty="0" smtClean="0"/>
              <a:t>–</a:t>
            </a:r>
            <a:r>
              <a:rPr lang="en-US" sz="2800" dirty="0" smtClean="0"/>
              <a:t> </a:t>
            </a:r>
            <a:r>
              <a:rPr lang="ru-RU" sz="2800" dirty="0" smtClean="0"/>
              <a:t>класс </a:t>
            </a:r>
            <a:r>
              <a:rPr lang="ru-RU" sz="2800" dirty="0"/>
              <a:t>DataSet, к которому принадлежит данная таблица.</a:t>
            </a:r>
          </a:p>
          <a:p>
            <a:r>
              <a:rPr lang="ru-RU" sz="2800" b="1" dirty="0" err="1" smtClean="0">
                <a:solidFill>
                  <a:schemeClr val="tx2"/>
                </a:solidFill>
              </a:rPr>
              <a:t>PrimaryKey</a:t>
            </a:r>
            <a:r>
              <a:rPr lang="ru-RU" sz="2800" b="1" dirty="0" smtClean="0">
                <a:solidFill>
                  <a:schemeClr val="tx2"/>
                </a:solidFill>
              </a:rPr>
              <a:t> </a:t>
            </a:r>
            <a:r>
              <a:rPr lang="ru-RU" sz="2800" dirty="0" smtClean="0"/>
              <a:t>– возвращает или </a:t>
            </a:r>
            <a:r>
              <a:rPr lang="ru-RU" sz="2800" dirty="0"/>
              <a:t>задает массив столбцов, которые являются столбцами первичного ключа для таблицы данных.</a:t>
            </a:r>
          </a:p>
          <a:p>
            <a:r>
              <a:rPr lang="ru-RU" sz="2800" b="1" dirty="0" err="1" smtClean="0">
                <a:solidFill>
                  <a:schemeClr val="tx2"/>
                </a:solidFill>
              </a:rPr>
              <a:t>Rows</a:t>
            </a:r>
            <a:r>
              <a:rPr lang="ru-RU" sz="2800" b="1" dirty="0" smtClean="0">
                <a:solidFill>
                  <a:schemeClr val="tx2"/>
                </a:solidFill>
              </a:rPr>
              <a:t> </a:t>
            </a:r>
            <a:r>
              <a:rPr lang="ru-RU" sz="2800" dirty="0" smtClean="0"/>
              <a:t>– получает коллекцию </a:t>
            </a:r>
            <a:r>
              <a:rPr lang="ru-RU" sz="2800" dirty="0"/>
              <a:t>строк, принадлежащих данной таблице.</a:t>
            </a:r>
          </a:p>
          <a:p>
            <a:r>
              <a:rPr lang="ru-RU" sz="2800" b="1" dirty="0" err="1" smtClean="0">
                <a:solidFill>
                  <a:schemeClr val="tx2"/>
                </a:solidFill>
              </a:rPr>
              <a:t>TableName</a:t>
            </a:r>
            <a:r>
              <a:rPr lang="ru-RU" sz="2800" b="1" dirty="0" smtClean="0">
                <a:solidFill>
                  <a:schemeClr val="tx2"/>
                </a:solidFill>
              </a:rPr>
              <a:t> </a:t>
            </a:r>
            <a:r>
              <a:rPr lang="ru-RU" sz="2800" dirty="0" smtClean="0"/>
              <a:t>– возвращает или </a:t>
            </a:r>
            <a:r>
              <a:rPr lang="ru-RU" sz="2800" dirty="0"/>
              <a:t>задает имя </a:t>
            </a:r>
            <a:r>
              <a:rPr lang="ru-RU" sz="2800" dirty="0" err="1"/>
              <a:t>DataTable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845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77014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Объекты: </a:t>
            </a:r>
            <a:r>
              <a:rPr lang="en-US" sz="3200" b="1" dirty="0" err="1">
                <a:solidFill>
                  <a:schemeClr val="tx2"/>
                </a:solidFill>
              </a:rPr>
              <a:t>DataTable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DataRow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DataColumn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251520" y="1196752"/>
            <a:ext cx="871296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Методы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DataTable</a:t>
            </a:r>
            <a:r>
              <a:rPr lang="ru-RU" sz="2800" b="1" dirty="0" smtClean="0"/>
              <a:t>:</a:t>
            </a:r>
            <a:endParaRPr lang="en-US" sz="2800" b="1" dirty="0" smtClean="0"/>
          </a:p>
          <a:p>
            <a:endParaRPr lang="en-US" sz="2800" b="1" dirty="0" smtClean="0"/>
          </a:p>
          <a:p>
            <a:r>
              <a:rPr lang="ru-RU" sz="2800" b="1" dirty="0" err="1" smtClean="0">
                <a:solidFill>
                  <a:schemeClr val="tx2"/>
                </a:solidFill>
              </a:rPr>
              <a:t>AcceptChanges</a:t>
            </a:r>
            <a:r>
              <a:rPr lang="ru-RU" sz="2800" b="1" dirty="0" smtClean="0">
                <a:solidFill>
                  <a:schemeClr val="tx2"/>
                </a:solidFill>
              </a:rPr>
              <a:t> </a:t>
            </a:r>
            <a:r>
              <a:rPr lang="ru-RU" sz="2800" dirty="0" smtClean="0"/>
              <a:t>– фиксирует все </a:t>
            </a:r>
            <a:r>
              <a:rPr lang="ru-RU" sz="2800" dirty="0"/>
              <a:t>изменения, внесенные в таблицу после последнего вызова метода </a:t>
            </a:r>
            <a:r>
              <a:rPr lang="ru-RU" sz="2800" dirty="0" err="1"/>
              <a:t>AcceptChanges</a:t>
            </a:r>
            <a:r>
              <a:rPr lang="ru-RU" sz="2800" dirty="0"/>
              <a:t>.</a:t>
            </a:r>
          </a:p>
          <a:p>
            <a:r>
              <a:rPr lang="ru-RU" sz="2800" b="1" dirty="0" err="1" smtClean="0">
                <a:solidFill>
                  <a:schemeClr val="tx2"/>
                </a:solidFill>
              </a:rPr>
              <a:t>BeginInit</a:t>
            </a:r>
            <a:r>
              <a:rPr lang="ru-RU" sz="2800" b="1" dirty="0" smtClean="0">
                <a:solidFill>
                  <a:schemeClr val="tx2"/>
                </a:solidFill>
              </a:rPr>
              <a:t> </a:t>
            </a:r>
            <a:r>
              <a:rPr lang="ru-RU" sz="2800" dirty="0" smtClean="0"/>
              <a:t>– начинает инициализацию </a:t>
            </a:r>
            <a:r>
              <a:rPr lang="ru-RU" sz="2800" dirty="0"/>
              <a:t>класса </a:t>
            </a:r>
            <a:r>
              <a:rPr lang="ru-RU" sz="2800" dirty="0" err="1"/>
              <a:t>DataTable</a:t>
            </a:r>
            <a:r>
              <a:rPr lang="ru-RU" sz="2800" dirty="0"/>
              <a:t>, используемого в форме или другим компонентом</a:t>
            </a:r>
            <a:r>
              <a:rPr lang="ru-RU" sz="2800" dirty="0" smtClean="0"/>
              <a:t>. Инициализация </a:t>
            </a:r>
            <a:r>
              <a:rPr lang="ru-RU" sz="2800" dirty="0"/>
              <a:t>происходит во время выполнения.</a:t>
            </a:r>
          </a:p>
          <a:p>
            <a:r>
              <a:rPr lang="ru-RU" sz="2800" b="1" dirty="0" err="1" smtClean="0">
                <a:solidFill>
                  <a:schemeClr val="tx2"/>
                </a:solidFill>
              </a:rPr>
              <a:t>Clear</a:t>
            </a:r>
            <a:r>
              <a:rPr lang="en-US" sz="2800" b="1" dirty="0" smtClean="0">
                <a:solidFill>
                  <a:schemeClr val="tx2"/>
                </a:solidFill>
              </a:rPr>
              <a:t>()</a:t>
            </a:r>
            <a:r>
              <a:rPr lang="ru-RU" sz="2800" b="1" dirty="0" smtClean="0">
                <a:solidFill>
                  <a:schemeClr val="tx2"/>
                </a:solidFill>
              </a:rPr>
              <a:t> </a:t>
            </a:r>
            <a:r>
              <a:rPr lang="ru-RU" sz="2800" dirty="0" smtClean="0"/>
              <a:t>– очищает </a:t>
            </a:r>
            <a:r>
              <a:rPr lang="ru-RU" sz="2800" dirty="0" err="1" smtClean="0"/>
              <a:t>DataTable</a:t>
            </a:r>
            <a:r>
              <a:rPr lang="ru-RU" sz="2800" dirty="0" smtClean="0"/>
              <a:t> </a:t>
            </a:r>
            <a:r>
              <a:rPr lang="ru-RU" sz="2800" dirty="0"/>
              <a:t>от всех данных.</a:t>
            </a:r>
          </a:p>
          <a:p>
            <a:r>
              <a:rPr lang="ru-RU" sz="2800" b="1" dirty="0" err="1" smtClean="0">
                <a:solidFill>
                  <a:schemeClr val="tx2"/>
                </a:solidFill>
              </a:rPr>
              <a:t>Copy</a:t>
            </a:r>
            <a:r>
              <a:rPr lang="en-US" sz="2800" b="1" dirty="0" smtClean="0">
                <a:solidFill>
                  <a:schemeClr val="tx2"/>
                </a:solidFill>
              </a:rPr>
              <a:t>()</a:t>
            </a:r>
            <a:r>
              <a:rPr lang="ru-RU" sz="2800" b="1" dirty="0" smtClean="0">
                <a:solidFill>
                  <a:schemeClr val="tx2"/>
                </a:solidFill>
              </a:rPr>
              <a:t> </a:t>
            </a:r>
            <a:r>
              <a:rPr lang="ru-RU" sz="2800" dirty="0" smtClean="0"/>
              <a:t>– копирует структуру </a:t>
            </a:r>
            <a:r>
              <a:rPr lang="ru-RU" sz="2800" dirty="0"/>
              <a:t>и данные для </a:t>
            </a:r>
            <a:r>
              <a:rPr lang="ru-RU" sz="2800" dirty="0" err="1"/>
              <a:t>DataTable</a:t>
            </a:r>
            <a:r>
              <a:rPr lang="ru-RU" sz="2800" dirty="0"/>
              <a:t>.</a:t>
            </a:r>
          </a:p>
          <a:p>
            <a:r>
              <a:rPr lang="ru-RU" sz="2800" b="1" dirty="0" err="1" smtClean="0">
                <a:solidFill>
                  <a:schemeClr val="tx2"/>
                </a:solidFill>
              </a:rPr>
              <a:t>EndInit</a:t>
            </a:r>
            <a:r>
              <a:rPr lang="ru-RU" sz="2800" b="1" dirty="0" smtClean="0">
                <a:solidFill>
                  <a:schemeClr val="tx2"/>
                </a:solidFill>
              </a:rPr>
              <a:t> </a:t>
            </a:r>
            <a:r>
              <a:rPr lang="ru-RU" sz="2800" dirty="0" smtClean="0"/>
              <a:t>– завершает инициализацию </a:t>
            </a:r>
            <a:r>
              <a:rPr lang="ru-RU" sz="2800" dirty="0"/>
              <a:t>объекта </a:t>
            </a:r>
            <a:r>
              <a:rPr lang="ru-RU" sz="2800" dirty="0" err="1"/>
              <a:t>DataTable</a:t>
            </a:r>
            <a:r>
              <a:rPr lang="ru-RU" sz="2800" dirty="0"/>
              <a:t>, используемого в форме или другим компонентом</a:t>
            </a:r>
            <a:r>
              <a:rPr lang="ru-RU" sz="2800" dirty="0" smtClean="0"/>
              <a:t>. Инициализация </a:t>
            </a:r>
            <a:r>
              <a:rPr lang="ru-RU" sz="2800" dirty="0"/>
              <a:t>происходит во время выполнения</a:t>
            </a:r>
            <a:r>
              <a:rPr lang="ru-RU" sz="2800" dirty="0" smtClean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4466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77014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Объекты: </a:t>
            </a:r>
            <a:r>
              <a:rPr lang="en-US" sz="3200" b="1" dirty="0" err="1">
                <a:solidFill>
                  <a:schemeClr val="tx2"/>
                </a:solidFill>
              </a:rPr>
              <a:t>DataTable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DataRow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DataColumn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251520" y="1758295"/>
            <a:ext cx="871296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 smtClean="0">
                <a:solidFill>
                  <a:schemeClr val="tx2"/>
                </a:solidFill>
              </a:rPr>
              <a:t>DataColumn</a:t>
            </a: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ru-RU" sz="2800" dirty="0" smtClean="0"/>
              <a:t>– </a:t>
            </a:r>
            <a:r>
              <a:rPr lang="ru-RU" sz="2800" dirty="0"/>
              <a:t>Получает коллекцию столбцов, принадлежащих данной </a:t>
            </a:r>
            <a:r>
              <a:rPr lang="ru-RU" sz="2800" dirty="0" smtClean="0"/>
              <a:t>таблице.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b="1" dirty="0" err="1" smtClean="0">
                <a:solidFill>
                  <a:schemeClr val="tx2"/>
                </a:solidFill>
              </a:rPr>
              <a:t>DataRow</a:t>
            </a:r>
            <a:r>
              <a:rPr lang="en-US" sz="2800" b="1" dirty="0" smtClean="0">
                <a:solidFill>
                  <a:schemeClr val="tx2"/>
                </a:solidFill>
              </a:rPr>
              <a:t> </a:t>
            </a:r>
            <a:r>
              <a:rPr lang="ru-RU" sz="2800" dirty="0" smtClean="0"/>
              <a:t>– </a:t>
            </a:r>
            <a:r>
              <a:rPr lang="ru-RU" sz="2800" dirty="0"/>
              <a:t>Получает коллекцию строк, принадлежащих данной таблице</a:t>
            </a:r>
            <a:r>
              <a:rPr lang="ru-RU" sz="2800" dirty="0" smtClean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00076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77014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Объекты: </a:t>
            </a:r>
            <a:r>
              <a:rPr lang="en-US" sz="3200" b="1" dirty="0" err="1">
                <a:solidFill>
                  <a:schemeClr val="tx2"/>
                </a:solidFill>
              </a:rPr>
              <a:t>DataTable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DataRow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DataColumn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683568" y="1484784"/>
            <a:ext cx="7992888" cy="5112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769932" y="1628800"/>
            <a:ext cx="15221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</a:rPr>
              <a:t>DataSet</a:t>
            </a:r>
            <a:endParaRPr lang="en-US" sz="3200" b="1" dirty="0">
              <a:solidFill>
                <a:srgbClr val="C00000"/>
              </a:solidFill>
            </a:endParaRPr>
          </a:p>
        </p:txBody>
      </p:sp>
      <p:grpSp>
        <p:nvGrpSpPr>
          <p:cNvPr id="34" name="Группа 33"/>
          <p:cNvGrpSpPr/>
          <p:nvPr/>
        </p:nvGrpSpPr>
        <p:grpSpPr>
          <a:xfrm>
            <a:off x="1187624" y="2492896"/>
            <a:ext cx="2808312" cy="3816424"/>
            <a:chOff x="755576" y="2492896"/>
            <a:chExt cx="2808312" cy="3816424"/>
          </a:xfrm>
        </p:grpSpPr>
        <p:grpSp>
          <p:nvGrpSpPr>
            <p:cNvPr id="5" name="Группа 4"/>
            <p:cNvGrpSpPr/>
            <p:nvPr/>
          </p:nvGrpSpPr>
          <p:grpSpPr>
            <a:xfrm>
              <a:off x="755576" y="2492896"/>
              <a:ext cx="2808312" cy="3816424"/>
              <a:chOff x="1376004" y="3356992"/>
              <a:chExt cx="2808312" cy="1152128"/>
            </a:xfrm>
          </p:grpSpPr>
          <p:sp>
            <p:nvSpPr>
              <p:cNvPr id="6" name="Прямоугольник 5"/>
              <p:cNvSpPr/>
              <p:nvPr/>
            </p:nvSpPr>
            <p:spPr>
              <a:xfrm>
                <a:off x="1808052" y="3451074"/>
                <a:ext cx="1944216" cy="28803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 err="1" smtClean="0">
                    <a:solidFill>
                      <a:srgbClr val="C00000"/>
                    </a:solidFill>
                  </a:rPr>
                  <a:t>DataTable</a:t>
                </a:r>
                <a:endParaRPr lang="en-US" sz="2800" b="1" dirty="0" smtClean="0">
                  <a:solidFill>
                    <a:srgbClr val="C00000"/>
                  </a:solidFill>
                </a:endParaRPr>
              </a:p>
              <a:p>
                <a:pPr algn="ctr"/>
                <a:r>
                  <a:rPr lang="en-US" sz="2800" b="1" dirty="0" smtClean="0"/>
                  <a:t>“Tbl_nm1”</a:t>
                </a:r>
                <a:endParaRPr lang="ru-RU" sz="2800" dirty="0"/>
              </a:p>
            </p:txBody>
          </p:sp>
          <p:sp>
            <p:nvSpPr>
              <p:cNvPr id="7" name="Прямоугольник 6"/>
              <p:cNvSpPr/>
              <p:nvPr/>
            </p:nvSpPr>
            <p:spPr>
              <a:xfrm>
                <a:off x="1376004" y="3356992"/>
                <a:ext cx="2808312" cy="11521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" name="Группа 14"/>
            <p:cNvGrpSpPr/>
            <p:nvPr/>
          </p:nvGrpSpPr>
          <p:grpSpPr>
            <a:xfrm>
              <a:off x="971600" y="4005064"/>
              <a:ext cx="1944216" cy="617302"/>
              <a:chOff x="1619672" y="3429000"/>
              <a:chExt cx="1944216" cy="617302"/>
            </a:xfrm>
          </p:grpSpPr>
          <p:sp>
            <p:nvSpPr>
              <p:cNvPr id="16" name="Прямоугольник 15"/>
              <p:cNvSpPr/>
              <p:nvPr/>
            </p:nvSpPr>
            <p:spPr>
              <a:xfrm>
                <a:off x="1619672" y="3451074"/>
                <a:ext cx="1944216" cy="461665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 err="1" smtClean="0">
                    <a:solidFill>
                      <a:srgbClr val="C00000"/>
                    </a:solidFill>
                  </a:rPr>
                  <a:t>DataRow</a:t>
                </a:r>
                <a:endParaRPr lang="ru-RU" sz="240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7" name="Прямоугольник 16"/>
              <p:cNvSpPr/>
              <p:nvPr/>
            </p:nvSpPr>
            <p:spPr>
              <a:xfrm>
                <a:off x="1763688" y="3429000"/>
                <a:ext cx="1584176" cy="6173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" name="Группа 20"/>
            <p:cNvGrpSpPr/>
            <p:nvPr/>
          </p:nvGrpSpPr>
          <p:grpSpPr>
            <a:xfrm>
              <a:off x="971600" y="4941168"/>
              <a:ext cx="1944216" cy="617302"/>
              <a:chOff x="1619672" y="3429000"/>
              <a:chExt cx="1944216" cy="617302"/>
            </a:xfrm>
          </p:grpSpPr>
          <p:sp>
            <p:nvSpPr>
              <p:cNvPr id="22" name="Прямоугольник 21"/>
              <p:cNvSpPr/>
              <p:nvPr/>
            </p:nvSpPr>
            <p:spPr>
              <a:xfrm>
                <a:off x="1619672" y="3451074"/>
                <a:ext cx="1944216" cy="461665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 err="1" smtClean="0">
                    <a:solidFill>
                      <a:srgbClr val="C00000"/>
                    </a:solidFill>
                  </a:rPr>
                  <a:t>DataColumn</a:t>
                </a:r>
                <a:endParaRPr lang="ru-RU" sz="240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3" name="Прямоугольник 22"/>
              <p:cNvSpPr/>
              <p:nvPr/>
            </p:nvSpPr>
            <p:spPr>
              <a:xfrm>
                <a:off x="1763688" y="3429000"/>
                <a:ext cx="1656184" cy="6173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5" name="Группа 34"/>
          <p:cNvGrpSpPr/>
          <p:nvPr/>
        </p:nvGrpSpPr>
        <p:grpSpPr>
          <a:xfrm>
            <a:off x="4211960" y="2492896"/>
            <a:ext cx="2880320" cy="3816424"/>
            <a:chOff x="3419872" y="2492896"/>
            <a:chExt cx="2880320" cy="3816424"/>
          </a:xfrm>
        </p:grpSpPr>
        <p:grpSp>
          <p:nvGrpSpPr>
            <p:cNvPr id="24" name="Группа 23"/>
            <p:cNvGrpSpPr/>
            <p:nvPr/>
          </p:nvGrpSpPr>
          <p:grpSpPr>
            <a:xfrm>
              <a:off x="3419872" y="2492896"/>
              <a:ext cx="2880320" cy="3816424"/>
              <a:chOff x="1475656" y="3356992"/>
              <a:chExt cx="2880320" cy="1152128"/>
            </a:xfrm>
          </p:grpSpPr>
          <p:sp>
            <p:nvSpPr>
              <p:cNvPr id="25" name="Прямоугольник 24"/>
              <p:cNvSpPr/>
              <p:nvPr/>
            </p:nvSpPr>
            <p:spPr>
              <a:xfrm>
                <a:off x="1907704" y="3451074"/>
                <a:ext cx="1944216" cy="28803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 err="1" smtClean="0">
                    <a:solidFill>
                      <a:srgbClr val="C00000"/>
                    </a:solidFill>
                  </a:rPr>
                  <a:t>DataTable</a:t>
                </a:r>
                <a:endParaRPr lang="en-US" sz="2800" b="1" dirty="0" smtClean="0">
                  <a:solidFill>
                    <a:srgbClr val="C00000"/>
                  </a:solidFill>
                </a:endParaRPr>
              </a:p>
              <a:p>
                <a:pPr algn="ctr"/>
                <a:r>
                  <a:rPr lang="en-US" sz="2800" b="1" dirty="0" smtClean="0"/>
                  <a:t>“Tbl_nm2”</a:t>
                </a:r>
                <a:endParaRPr lang="ru-RU" sz="2800" dirty="0"/>
              </a:p>
            </p:txBody>
          </p:sp>
          <p:sp>
            <p:nvSpPr>
              <p:cNvPr id="26" name="Прямоугольник 25"/>
              <p:cNvSpPr/>
              <p:nvPr/>
            </p:nvSpPr>
            <p:spPr>
              <a:xfrm>
                <a:off x="1475656" y="3356992"/>
                <a:ext cx="2880320" cy="11521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7" name="Группа 26"/>
            <p:cNvGrpSpPr/>
            <p:nvPr/>
          </p:nvGrpSpPr>
          <p:grpSpPr>
            <a:xfrm>
              <a:off x="3591532" y="4005064"/>
              <a:ext cx="1944216" cy="617302"/>
              <a:chOff x="1619672" y="3429000"/>
              <a:chExt cx="1944216" cy="617302"/>
            </a:xfrm>
          </p:grpSpPr>
          <p:sp>
            <p:nvSpPr>
              <p:cNvPr id="28" name="Прямоугольник 27"/>
              <p:cNvSpPr/>
              <p:nvPr/>
            </p:nvSpPr>
            <p:spPr>
              <a:xfrm>
                <a:off x="1619672" y="3451074"/>
                <a:ext cx="1944216" cy="461665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 err="1" smtClean="0">
                    <a:solidFill>
                      <a:srgbClr val="C00000"/>
                    </a:solidFill>
                  </a:rPr>
                  <a:t>DataRow</a:t>
                </a:r>
                <a:endParaRPr lang="ru-RU" sz="240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9" name="Прямоугольник 28"/>
              <p:cNvSpPr/>
              <p:nvPr/>
            </p:nvSpPr>
            <p:spPr>
              <a:xfrm>
                <a:off x="1763688" y="3429000"/>
                <a:ext cx="1584176" cy="6173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0" name="Группа 29"/>
            <p:cNvGrpSpPr/>
            <p:nvPr/>
          </p:nvGrpSpPr>
          <p:grpSpPr>
            <a:xfrm>
              <a:off x="3563888" y="4941168"/>
              <a:ext cx="1944216" cy="617302"/>
              <a:chOff x="1619672" y="3429000"/>
              <a:chExt cx="1944216" cy="617302"/>
            </a:xfrm>
          </p:grpSpPr>
          <p:sp>
            <p:nvSpPr>
              <p:cNvPr id="31" name="Прямоугольник 30"/>
              <p:cNvSpPr/>
              <p:nvPr/>
            </p:nvSpPr>
            <p:spPr>
              <a:xfrm>
                <a:off x="1619672" y="3451074"/>
                <a:ext cx="1944216" cy="461665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 err="1" smtClean="0">
                    <a:solidFill>
                      <a:srgbClr val="C00000"/>
                    </a:solidFill>
                  </a:rPr>
                  <a:t>DataColumn</a:t>
                </a:r>
                <a:endParaRPr lang="ru-RU" sz="240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32" name="Прямоугольник 31"/>
              <p:cNvSpPr/>
              <p:nvPr/>
            </p:nvSpPr>
            <p:spPr>
              <a:xfrm>
                <a:off x="1763688" y="3429000"/>
                <a:ext cx="1656184" cy="6173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3" name="Прямоугольник 32"/>
          <p:cNvSpPr/>
          <p:nvPr/>
        </p:nvSpPr>
        <p:spPr>
          <a:xfrm>
            <a:off x="7695988" y="5373216"/>
            <a:ext cx="476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/>
              <a:t>…</a:t>
            </a:r>
            <a:endParaRPr lang="ru-RU" sz="3200" dirty="0"/>
          </a:p>
        </p:txBody>
      </p:sp>
      <p:sp>
        <p:nvSpPr>
          <p:cNvPr id="36" name="Прямоугольник 35"/>
          <p:cNvSpPr/>
          <p:nvPr/>
        </p:nvSpPr>
        <p:spPr>
          <a:xfrm>
            <a:off x="3319782" y="4025693"/>
            <a:ext cx="476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/>
              <a:t>…</a:t>
            </a:r>
            <a:endParaRPr lang="ru-RU" sz="3200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3303500" y="4869160"/>
            <a:ext cx="476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/>
              <a:t>…</a:t>
            </a:r>
            <a:endParaRPr lang="ru-RU" sz="320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6316474" y="4005064"/>
            <a:ext cx="476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/>
              <a:t>…</a:t>
            </a:r>
            <a:endParaRPr lang="ru-RU" sz="3200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6300192" y="4848531"/>
            <a:ext cx="476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/>
              <a:t>…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44197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77014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Объекты: </a:t>
            </a:r>
            <a:r>
              <a:rPr lang="en-US" sz="3200" b="1" dirty="0" err="1">
                <a:solidFill>
                  <a:schemeClr val="tx2"/>
                </a:solidFill>
              </a:rPr>
              <a:t>DataTable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DataRow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DataColumn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251520" y="1476067"/>
            <a:ext cx="871296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//</a:t>
            </a:r>
            <a:r>
              <a:rPr lang="ru-RU" sz="2800" dirty="0" smtClean="0"/>
              <a:t>выводим данные таблицы в строку </a:t>
            </a:r>
            <a:endParaRPr lang="en-US" sz="2800" dirty="0" smtClean="0"/>
          </a:p>
          <a:p>
            <a:r>
              <a:rPr lang="en-US" sz="2800" dirty="0" smtClean="0"/>
              <a:t>private </a:t>
            </a:r>
            <a:r>
              <a:rPr lang="en-US" sz="2800" dirty="0"/>
              <a:t>void </a:t>
            </a:r>
            <a:r>
              <a:rPr lang="en-US" sz="2800" dirty="0" smtClean="0"/>
              <a:t> </a:t>
            </a:r>
            <a:r>
              <a:rPr lang="en-US" sz="2800" dirty="0" err="1" smtClean="0"/>
              <a:t>PrintValues</a:t>
            </a:r>
            <a:r>
              <a:rPr lang="en-US" sz="2800" dirty="0" smtClean="0"/>
              <a:t>(</a:t>
            </a:r>
            <a:r>
              <a:rPr lang="en-US" sz="2800" b="1" dirty="0" err="1" smtClean="0"/>
              <a:t>DataTable</a:t>
            </a:r>
            <a:r>
              <a:rPr lang="en-US" sz="2800" b="1" dirty="0" smtClean="0"/>
              <a:t> </a:t>
            </a:r>
            <a:r>
              <a:rPr lang="ru-RU" sz="2800" b="1" dirty="0" smtClean="0"/>
              <a:t> </a:t>
            </a:r>
            <a:r>
              <a:rPr lang="en-US" sz="2800" dirty="0" smtClean="0"/>
              <a:t>table</a:t>
            </a:r>
            <a:r>
              <a:rPr lang="en-US" sz="2800" dirty="0"/>
              <a:t>)</a:t>
            </a:r>
          </a:p>
          <a:p>
            <a:r>
              <a:rPr lang="en-US" sz="2800" dirty="0"/>
              <a:t>{</a:t>
            </a:r>
          </a:p>
          <a:p>
            <a:r>
              <a:rPr lang="en-US" sz="2800" dirty="0"/>
              <a:t>    </a:t>
            </a:r>
            <a:r>
              <a:rPr lang="en-US" sz="2800" dirty="0" smtClean="0"/>
              <a:t>foreach(</a:t>
            </a:r>
            <a:r>
              <a:rPr lang="en-US" sz="2800" b="1" dirty="0" err="1" smtClean="0">
                <a:solidFill>
                  <a:schemeClr val="tx2"/>
                </a:solidFill>
              </a:rPr>
              <a:t>DataRow</a:t>
            </a:r>
            <a:r>
              <a:rPr lang="en-US" sz="2800" b="1" dirty="0" smtClean="0">
                <a:solidFill>
                  <a:schemeClr val="tx2"/>
                </a:solidFill>
              </a:rPr>
              <a:t>  </a:t>
            </a:r>
            <a:r>
              <a:rPr lang="en-US" sz="2800" dirty="0" smtClean="0"/>
              <a:t>row  in  </a:t>
            </a:r>
            <a:r>
              <a:rPr lang="en-US" sz="2800" b="1" dirty="0" err="1"/>
              <a:t>table.Rows</a:t>
            </a:r>
            <a:r>
              <a:rPr lang="en-US" sz="2800" dirty="0"/>
              <a:t>)</a:t>
            </a:r>
          </a:p>
          <a:p>
            <a:r>
              <a:rPr lang="en-US" sz="2800" dirty="0"/>
              <a:t>    {</a:t>
            </a:r>
          </a:p>
          <a:p>
            <a:r>
              <a:rPr lang="en-US" sz="2800" dirty="0"/>
              <a:t>        foreach(</a:t>
            </a:r>
            <a:r>
              <a:rPr lang="en-US" sz="2800" b="1" dirty="0" err="1">
                <a:solidFill>
                  <a:schemeClr val="tx2"/>
                </a:solidFill>
              </a:rPr>
              <a:t>DataColumn</a:t>
            </a: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b="1" dirty="0" smtClean="0">
                <a:solidFill>
                  <a:schemeClr val="tx2"/>
                </a:solidFill>
              </a:rPr>
              <a:t> </a:t>
            </a:r>
            <a:r>
              <a:rPr lang="en-US" sz="2800" dirty="0" smtClean="0"/>
              <a:t>column  in  </a:t>
            </a:r>
            <a:r>
              <a:rPr lang="en-US" sz="2800" b="1" dirty="0" err="1" smtClean="0"/>
              <a:t>table.Columns</a:t>
            </a:r>
            <a:r>
              <a:rPr lang="en-US" sz="2800" dirty="0"/>
              <a:t>)</a:t>
            </a:r>
          </a:p>
          <a:p>
            <a:r>
              <a:rPr lang="en-US" sz="2800" dirty="0"/>
              <a:t>        {</a:t>
            </a:r>
          </a:p>
          <a:p>
            <a:r>
              <a:rPr lang="en-US" sz="2800" dirty="0"/>
              <a:t>            </a:t>
            </a:r>
            <a:r>
              <a:rPr lang="en-US" sz="2800" dirty="0" smtClean="0"/>
              <a:t>Label1.Text </a:t>
            </a:r>
            <a:r>
              <a:rPr lang="ru-RU" sz="2800" dirty="0" smtClean="0"/>
              <a:t>+</a:t>
            </a:r>
            <a:r>
              <a:rPr lang="en-US" sz="2800" dirty="0" smtClean="0"/>
              <a:t>= row[column];</a:t>
            </a:r>
            <a:endParaRPr lang="en-US" sz="2800" dirty="0"/>
          </a:p>
          <a:p>
            <a:r>
              <a:rPr lang="en-US" sz="2800" dirty="0"/>
              <a:t>        }</a:t>
            </a:r>
          </a:p>
          <a:p>
            <a:r>
              <a:rPr lang="en-US" sz="2800" dirty="0"/>
              <a:t>    }</a:t>
            </a:r>
          </a:p>
          <a:p>
            <a:r>
              <a:rPr lang="en-US" sz="2800" dirty="0"/>
              <a:t>}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0508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77014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Объекты: </a:t>
            </a:r>
            <a:r>
              <a:rPr lang="en-US" sz="3200" b="1" dirty="0" err="1">
                <a:solidFill>
                  <a:schemeClr val="tx2"/>
                </a:solidFill>
              </a:rPr>
              <a:t>DataTable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DataRow</a:t>
            </a:r>
            <a:r>
              <a:rPr lang="en-US" sz="3200" b="1" dirty="0">
                <a:solidFill>
                  <a:schemeClr val="tx2"/>
                </a:solidFill>
              </a:rPr>
              <a:t>, </a:t>
            </a:r>
            <a:r>
              <a:rPr lang="en-US" sz="3200" b="1" dirty="0" err="1">
                <a:solidFill>
                  <a:schemeClr val="tx2"/>
                </a:solidFill>
              </a:rPr>
              <a:t>DataColumn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251520" y="1268760"/>
            <a:ext cx="871296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//</a:t>
            </a:r>
            <a:r>
              <a:rPr lang="ru-RU" sz="2400" dirty="0" smtClean="0"/>
              <a:t>добавляем строку в таблицу</a:t>
            </a:r>
            <a:r>
              <a:rPr lang="en-US" sz="2400" dirty="0" smtClean="0"/>
              <a:t> </a:t>
            </a:r>
            <a:r>
              <a:rPr lang="en-US" sz="2400" dirty="0" err="1" smtClean="0"/>
              <a:t>DataTable</a:t>
            </a:r>
            <a:endParaRPr lang="ru-RU" sz="2400" dirty="0" smtClean="0"/>
          </a:p>
          <a:p>
            <a:r>
              <a:rPr lang="en-US" sz="2400" dirty="0" smtClean="0"/>
              <a:t>private </a:t>
            </a:r>
            <a:r>
              <a:rPr lang="en-US" sz="2400" dirty="0"/>
              <a:t>void </a:t>
            </a:r>
            <a:r>
              <a:rPr lang="en-US" sz="2400" dirty="0" err="1" smtClean="0"/>
              <a:t>AddRow</a:t>
            </a:r>
            <a:r>
              <a:rPr lang="en-US" sz="2400" dirty="0" smtClean="0"/>
              <a:t>(DataSet</a:t>
            </a:r>
            <a:r>
              <a:rPr lang="ru-RU" sz="2400" dirty="0" smtClean="0"/>
              <a:t> </a:t>
            </a:r>
            <a:r>
              <a:rPr lang="en-US" sz="2400" dirty="0" smtClean="0"/>
              <a:t> </a:t>
            </a:r>
            <a:r>
              <a:rPr lang="en-US" sz="2400" dirty="0" err="1"/>
              <a:t>dataSet</a:t>
            </a:r>
            <a:r>
              <a:rPr lang="en-US" sz="2400" dirty="0"/>
              <a:t>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DataTable</a:t>
            </a:r>
            <a:r>
              <a:rPr lang="en-US" sz="2400" dirty="0"/>
              <a:t> </a:t>
            </a:r>
            <a:r>
              <a:rPr lang="en-US" sz="2400" dirty="0" smtClean="0"/>
              <a:t> table</a:t>
            </a:r>
            <a:r>
              <a:rPr lang="en-US" sz="2400" dirty="0"/>
              <a:t>;</a:t>
            </a:r>
          </a:p>
          <a:p>
            <a:r>
              <a:rPr lang="en-US" sz="2400" dirty="0"/>
              <a:t>    table = </a:t>
            </a:r>
            <a:r>
              <a:rPr lang="en-US" sz="2400" dirty="0" err="1" smtClean="0"/>
              <a:t>dataSet.Tables</a:t>
            </a:r>
            <a:r>
              <a:rPr lang="en-US" sz="2400" dirty="0" smtClean="0"/>
              <a:t>[“Student”];</a:t>
            </a:r>
            <a:endParaRPr lang="en-US" sz="2400" dirty="0"/>
          </a:p>
          <a:p>
            <a:r>
              <a:rPr lang="en-US" sz="2400" dirty="0"/>
              <a:t>    </a:t>
            </a:r>
            <a:r>
              <a:rPr lang="en-US" sz="2400" i="1" dirty="0" smtClean="0"/>
              <a:t>//</a:t>
            </a:r>
            <a:r>
              <a:rPr lang="ru-RU" sz="2400" i="1" dirty="0" smtClean="0"/>
              <a:t>с </a:t>
            </a:r>
            <a:r>
              <a:rPr lang="ru-RU" sz="2400" i="1" dirty="0"/>
              <a:t>помощью метода </a:t>
            </a:r>
            <a:r>
              <a:rPr lang="ru-RU" sz="2400" i="1" dirty="0" err="1"/>
              <a:t>NewRow</a:t>
            </a:r>
            <a:r>
              <a:rPr lang="ru-RU" sz="2400" i="1" dirty="0"/>
              <a:t> </a:t>
            </a:r>
            <a:r>
              <a:rPr lang="ru-RU" sz="2400" i="1" dirty="0" smtClean="0"/>
              <a:t>создае</a:t>
            </a:r>
            <a:r>
              <a:rPr lang="ru-RU" sz="2400" i="1" dirty="0"/>
              <a:t>м</a:t>
            </a:r>
            <a:r>
              <a:rPr lang="ru-RU" sz="2400" i="1" dirty="0" smtClean="0"/>
              <a:t> объект </a:t>
            </a:r>
            <a:r>
              <a:rPr lang="ru-RU" sz="2400" i="1" dirty="0" err="1" smtClean="0"/>
              <a:t>DataRow</a:t>
            </a:r>
            <a:endParaRPr lang="en-US" sz="2400" i="1" dirty="0"/>
          </a:p>
          <a:p>
            <a:r>
              <a:rPr lang="en-US" sz="2400" dirty="0"/>
              <a:t>    </a:t>
            </a:r>
            <a:r>
              <a:rPr lang="en-US" sz="2400" b="1" dirty="0" err="1">
                <a:solidFill>
                  <a:schemeClr val="tx2"/>
                </a:solidFill>
              </a:rPr>
              <a:t>DataRow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ru-RU" sz="2400" b="1" dirty="0" smtClean="0">
                <a:solidFill>
                  <a:schemeClr val="tx2"/>
                </a:solidFill>
              </a:rPr>
              <a:t> </a:t>
            </a:r>
            <a:r>
              <a:rPr lang="en-US" sz="2400" dirty="0" err="1" smtClean="0"/>
              <a:t>newRow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en-US" sz="2400" dirty="0" err="1"/>
              <a:t>table.</a:t>
            </a:r>
            <a:r>
              <a:rPr lang="en-US" sz="2400" b="1" dirty="0" err="1"/>
              <a:t>NewRow</a:t>
            </a:r>
            <a:r>
              <a:rPr lang="en-US" sz="2400" b="1" dirty="0"/>
              <a:t>()</a:t>
            </a:r>
            <a:r>
              <a:rPr lang="en-US" sz="2400" dirty="0"/>
              <a:t>;</a:t>
            </a:r>
          </a:p>
          <a:p>
            <a:endParaRPr lang="en-US" sz="2400" dirty="0"/>
          </a:p>
          <a:p>
            <a:r>
              <a:rPr lang="en-US" sz="2400" i="1" dirty="0"/>
              <a:t>    // </a:t>
            </a:r>
            <a:r>
              <a:rPr lang="ru-RU" sz="2400" i="1" dirty="0" smtClean="0"/>
              <a:t>Присваиваем значение</a:t>
            </a:r>
            <a:r>
              <a:rPr lang="en-US" sz="2400" i="1" dirty="0" smtClean="0"/>
              <a:t>:</a:t>
            </a:r>
            <a:endParaRPr lang="en-US" sz="2400" i="1" dirty="0"/>
          </a:p>
          <a:p>
            <a:r>
              <a:rPr lang="en-US" sz="2400" dirty="0"/>
              <a:t>    </a:t>
            </a:r>
            <a:r>
              <a:rPr lang="en-US" sz="2400" dirty="0" err="1" smtClean="0"/>
              <a:t>newRow</a:t>
            </a:r>
            <a:r>
              <a:rPr lang="en-US" sz="2400" dirty="0" smtClean="0"/>
              <a:t>[“</a:t>
            </a:r>
            <a:r>
              <a:rPr lang="en-US" sz="2400" dirty="0" err="1" smtClean="0"/>
              <a:t>Student_id</a:t>
            </a:r>
            <a:r>
              <a:rPr lang="en-US" sz="2400" dirty="0" smtClean="0"/>
              <a:t>”] </a:t>
            </a:r>
            <a:r>
              <a:rPr lang="en-US" sz="2400" dirty="0"/>
              <a:t>= </a:t>
            </a:r>
            <a:r>
              <a:rPr lang="en-US" sz="2400" dirty="0" smtClean="0"/>
              <a:t>“163”;</a:t>
            </a:r>
            <a:endParaRPr lang="en-US" sz="2400" dirty="0"/>
          </a:p>
          <a:p>
            <a:r>
              <a:rPr lang="en-US" sz="2400" dirty="0"/>
              <a:t>    </a:t>
            </a:r>
            <a:r>
              <a:rPr lang="en-US" sz="2400" dirty="0" err="1" smtClean="0"/>
              <a:t>newRow</a:t>
            </a:r>
            <a:r>
              <a:rPr lang="en-US" sz="2400" dirty="0" smtClean="0"/>
              <a:t>[“Surname”] </a:t>
            </a:r>
            <a:r>
              <a:rPr lang="en-US" sz="2400" dirty="0"/>
              <a:t>= </a:t>
            </a:r>
            <a:r>
              <a:rPr lang="en-US" sz="2400" dirty="0" smtClean="0"/>
              <a:t>“</a:t>
            </a:r>
            <a:r>
              <a:rPr lang="ru-RU" sz="2400" dirty="0" smtClean="0"/>
              <a:t>Кузьмин</a:t>
            </a:r>
            <a:r>
              <a:rPr lang="en-US" sz="2400" dirty="0" smtClean="0"/>
              <a:t>”;</a:t>
            </a:r>
            <a:endParaRPr lang="en-US" sz="2400" dirty="0"/>
          </a:p>
          <a:p>
            <a:endParaRPr lang="en-US" sz="2400" dirty="0"/>
          </a:p>
          <a:p>
            <a:r>
              <a:rPr lang="en-US" sz="2400" i="1" dirty="0"/>
              <a:t>    // </a:t>
            </a:r>
            <a:r>
              <a:rPr lang="ru-RU" sz="2400" i="1" dirty="0" smtClean="0"/>
              <a:t>Добавляем строку</a:t>
            </a:r>
            <a:r>
              <a:rPr lang="ru-RU" sz="2400" i="1" dirty="0"/>
              <a:t> </a:t>
            </a:r>
            <a:r>
              <a:rPr lang="ru-RU" sz="2400" i="1" dirty="0" smtClean="0"/>
              <a:t>в таблицу:</a:t>
            </a:r>
            <a:endParaRPr lang="en-US" sz="2400" i="1" dirty="0"/>
          </a:p>
          <a:p>
            <a:r>
              <a:rPr lang="en-US" sz="2400" dirty="0"/>
              <a:t>    </a:t>
            </a:r>
            <a:r>
              <a:rPr lang="en-US" sz="2400" dirty="0" err="1"/>
              <a:t>table.Rows.</a:t>
            </a:r>
            <a:r>
              <a:rPr lang="en-US" sz="2400" b="1" dirty="0" err="1"/>
              <a:t>Add</a:t>
            </a:r>
            <a:r>
              <a:rPr lang="en-US" sz="2400" dirty="0"/>
              <a:t>(</a:t>
            </a:r>
            <a:r>
              <a:rPr lang="en-US" sz="2400" dirty="0" err="1"/>
              <a:t>newRow</a:t>
            </a:r>
            <a:r>
              <a:rPr lang="en-US" sz="2400" dirty="0"/>
              <a:t>);</a:t>
            </a:r>
          </a:p>
          <a:p>
            <a:r>
              <a:rPr lang="en-US" sz="2400" dirty="0"/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4095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42797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Метод </a:t>
            </a:r>
            <a:r>
              <a:rPr lang="en-US" sz="3200" b="1" dirty="0" err="1">
                <a:solidFill>
                  <a:schemeClr val="tx2"/>
                </a:solidFill>
              </a:rPr>
              <a:t>DataTable</a:t>
            </a:r>
            <a:r>
              <a:rPr lang="ru-RU" sz="3200" b="1" dirty="0">
                <a:solidFill>
                  <a:schemeClr val="tx2"/>
                </a:solidFill>
              </a:rPr>
              <a:t>.</a:t>
            </a:r>
            <a:r>
              <a:rPr lang="en-US" sz="3200" b="1" dirty="0">
                <a:solidFill>
                  <a:schemeClr val="tx2"/>
                </a:solidFill>
              </a:rPr>
              <a:t>Select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216024" y="1196752"/>
            <a:ext cx="8820472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 smtClean="0"/>
              <a:t>DataTable.</a:t>
            </a:r>
            <a:r>
              <a:rPr lang="en-US" sz="2800" b="1" dirty="0" err="1" smtClean="0">
                <a:solidFill>
                  <a:schemeClr val="tx2"/>
                </a:solidFill>
              </a:rPr>
              <a:t>Select</a:t>
            </a:r>
            <a:r>
              <a:rPr lang="ru-RU" sz="2800" dirty="0" smtClean="0"/>
              <a:t>(условие фильтра) – возвращает массив </a:t>
            </a:r>
            <a:r>
              <a:rPr lang="ru-RU" sz="2800" dirty="0"/>
              <a:t>всех </a:t>
            </a:r>
            <a:r>
              <a:rPr lang="ru-RU" sz="2800" dirty="0" smtClean="0"/>
              <a:t>объектов </a:t>
            </a:r>
            <a:r>
              <a:rPr lang="ru-RU" sz="2800" dirty="0" err="1" smtClean="0"/>
              <a:t>DataRow</a:t>
            </a:r>
            <a:r>
              <a:rPr lang="ru-RU" sz="2800" dirty="0"/>
              <a:t>, отвечающих условиям фильтра</a:t>
            </a:r>
            <a:r>
              <a:rPr lang="ru-RU" sz="2800" dirty="0" smtClean="0"/>
              <a:t>.</a:t>
            </a:r>
          </a:p>
          <a:p>
            <a:endParaRPr lang="ru-RU" sz="2800" dirty="0" smtClean="0"/>
          </a:p>
          <a:p>
            <a:r>
              <a:rPr lang="ru-RU" sz="2800" dirty="0"/>
              <a:t>При создании </a:t>
            </a:r>
            <a:r>
              <a:rPr lang="ru-RU" sz="2800" dirty="0" smtClean="0"/>
              <a:t>фильтра </a:t>
            </a:r>
            <a:r>
              <a:rPr lang="ru-RU" sz="2800" dirty="0"/>
              <a:t>используются те же правила, которые применяются при </a:t>
            </a:r>
            <a:r>
              <a:rPr lang="ru-RU" sz="2800" dirty="0" smtClean="0"/>
              <a:t>записи предикатов в </a:t>
            </a:r>
            <a:r>
              <a:rPr lang="en-US" sz="2800" dirty="0" smtClean="0"/>
              <a:t>SQL-</a:t>
            </a:r>
            <a:r>
              <a:rPr lang="ru-RU" sz="2800" dirty="0" smtClean="0"/>
              <a:t>запросах. </a:t>
            </a:r>
            <a:endParaRPr lang="en-US" sz="2800" dirty="0" smtClean="0"/>
          </a:p>
          <a:p>
            <a:r>
              <a:rPr lang="ru-RU" sz="2800" b="1" dirty="0" smtClean="0"/>
              <a:t>Ключевое слово </a:t>
            </a:r>
            <a:r>
              <a:rPr lang="en-US" sz="2800" b="1" dirty="0" smtClean="0"/>
              <a:t>Where </a:t>
            </a:r>
            <a:r>
              <a:rPr lang="ru-RU" sz="2800" b="1" dirty="0" smtClean="0"/>
              <a:t>не пишут! Значение условия всегда заключают в одинарные кавычки.</a:t>
            </a:r>
          </a:p>
          <a:p>
            <a:endParaRPr lang="en-US" sz="2800" dirty="0" smtClean="0"/>
          </a:p>
          <a:p>
            <a:r>
              <a:rPr lang="en-US" sz="2400" dirty="0" err="1" smtClean="0"/>
              <a:t>DataTable</a:t>
            </a:r>
            <a:r>
              <a:rPr lang="en-US" sz="2400" dirty="0" smtClean="0"/>
              <a:t>  </a:t>
            </a:r>
            <a:r>
              <a:rPr lang="en-US" sz="2400" dirty="0" err="1" smtClean="0"/>
              <a:t>dt</a:t>
            </a:r>
            <a:r>
              <a:rPr lang="en-US" sz="2400" dirty="0" smtClean="0"/>
              <a:t> = </a:t>
            </a:r>
            <a:r>
              <a:rPr lang="en-US" sz="2400" dirty="0" err="1" smtClean="0"/>
              <a:t>ds.Tables</a:t>
            </a:r>
            <a:r>
              <a:rPr lang="en-US" sz="2400" dirty="0" smtClean="0"/>
              <a:t>[0]; </a:t>
            </a:r>
            <a:r>
              <a:rPr lang="ru-RU" sz="2400" dirty="0" smtClean="0"/>
              <a:t> </a:t>
            </a:r>
            <a:r>
              <a:rPr lang="en-US" sz="2400" dirty="0" smtClean="0"/>
              <a:t>//</a:t>
            </a:r>
            <a:r>
              <a:rPr lang="ru-RU" sz="2400" dirty="0" smtClean="0"/>
              <a:t>новый экземпляр</a:t>
            </a:r>
            <a:r>
              <a:rPr lang="en-US" sz="2400" dirty="0" smtClean="0"/>
              <a:t> </a:t>
            </a:r>
            <a:r>
              <a:rPr lang="en-US" sz="2400" dirty="0" err="1" smtClean="0"/>
              <a:t>DataTable</a:t>
            </a:r>
            <a:endParaRPr lang="ru-RU" sz="2400" dirty="0" smtClean="0"/>
          </a:p>
          <a:p>
            <a:r>
              <a:rPr lang="en-US" sz="2400" dirty="0" smtClean="0"/>
              <a:t>string  </a:t>
            </a:r>
            <a:r>
              <a:rPr lang="en-US" sz="2400" b="1" dirty="0" err="1" smtClean="0"/>
              <a:t>filtr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en-US" sz="2400" dirty="0" smtClean="0"/>
              <a:t>“ City </a:t>
            </a:r>
            <a:r>
              <a:rPr lang="ru-RU" sz="2400" dirty="0"/>
              <a:t>=</a:t>
            </a:r>
            <a:r>
              <a:rPr lang="en-US" sz="2400" dirty="0"/>
              <a:t> ‘</a:t>
            </a:r>
            <a:r>
              <a:rPr lang="ru-RU" sz="2400" dirty="0"/>
              <a:t>Москва</a:t>
            </a:r>
            <a:r>
              <a:rPr lang="en-US" sz="2400" dirty="0" smtClean="0"/>
              <a:t>’ “;</a:t>
            </a:r>
            <a:r>
              <a:rPr lang="ru-RU" sz="2400" dirty="0" smtClean="0"/>
              <a:t> </a:t>
            </a:r>
            <a:r>
              <a:rPr lang="en-US" sz="2400" dirty="0" smtClean="0"/>
              <a:t> //</a:t>
            </a:r>
            <a:r>
              <a:rPr lang="ru-RU" sz="2400" dirty="0" smtClean="0"/>
              <a:t>условие фильтра</a:t>
            </a:r>
            <a:endParaRPr lang="en-US" sz="2400" dirty="0"/>
          </a:p>
          <a:p>
            <a:r>
              <a:rPr lang="en-US" sz="2400" dirty="0" err="1" smtClean="0"/>
              <a:t>DataRow</a:t>
            </a:r>
            <a:r>
              <a:rPr lang="en-US" sz="2400" dirty="0"/>
              <a:t>[] </a:t>
            </a:r>
            <a:r>
              <a:rPr lang="ru-RU" sz="2400" dirty="0"/>
              <a:t> </a:t>
            </a:r>
            <a:r>
              <a:rPr lang="en-US" sz="2400" dirty="0" err="1" smtClean="0"/>
              <a:t>dr</a:t>
            </a:r>
            <a:r>
              <a:rPr lang="en-US" sz="2400" dirty="0" smtClean="0"/>
              <a:t>;</a:t>
            </a:r>
            <a:r>
              <a:rPr lang="ru-RU" sz="2400" dirty="0" smtClean="0"/>
              <a:t>   </a:t>
            </a:r>
          </a:p>
          <a:p>
            <a:r>
              <a:rPr lang="en-US" sz="2400" dirty="0" err="1" smtClean="0"/>
              <a:t>dr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en-US" sz="2400" dirty="0" err="1" smtClean="0"/>
              <a:t>dt.</a:t>
            </a:r>
            <a:r>
              <a:rPr lang="en-US" sz="2400" b="1" dirty="0" err="1" smtClean="0">
                <a:solidFill>
                  <a:schemeClr val="tx2"/>
                </a:solidFill>
              </a:rPr>
              <a:t>Select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filtr</a:t>
            </a:r>
            <a:r>
              <a:rPr lang="en-US" sz="2400" b="1" dirty="0" smtClean="0"/>
              <a:t>)</a:t>
            </a:r>
            <a:r>
              <a:rPr lang="en-US" sz="2400" dirty="0" smtClean="0"/>
              <a:t>;</a:t>
            </a:r>
            <a:r>
              <a:rPr lang="ru-RU" sz="2400" dirty="0" smtClean="0"/>
              <a:t> </a:t>
            </a:r>
            <a:r>
              <a:rPr lang="en-US" sz="2400" dirty="0" smtClean="0"/>
              <a:t>//</a:t>
            </a:r>
            <a:r>
              <a:rPr lang="ru-RU" sz="2400" dirty="0"/>
              <a:t>применяем </a:t>
            </a:r>
            <a:r>
              <a:rPr lang="ru-RU" sz="2400" dirty="0" smtClean="0"/>
              <a:t>фильтр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346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539552" y="1333212"/>
            <a:ext cx="799288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//</a:t>
            </a:r>
            <a:r>
              <a:rPr lang="ru-RU" sz="2400" dirty="0" smtClean="0"/>
              <a:t>Выбрать из таблицы записи о студентах с именем Иван</a:t>
            </a:r>
            <a:endParaRPr lang="en-US" sz="2400" dirty="0" smtClean="0"/>
          </a:p>
          <a:p>
            <a:r>
              <a:rPr lang="en-US" sz="2400" dirty="0" smtClean="0"/>
              <a:t>private </a:t>
            </a:r>
            <a:r>
              <a:rPr lang="en-US" sz="2400" dirty="0"/>
              <a:t>void </a:t>
            </a:r>
            <a:r>
              <a:rPr lang="en-US" sz="2400" dirty="0" err="1"/>
              <a:t>GetRowsByFilter</a:t>
            </a:r>
            <a:r>
              <a:rPr lang="en-US" sz="2400" dirty="0"/>
              <a:t>()</a:t>
            </a:r>
          </a:p>
          <a:p>
            <a:r>
              <a:rPr lang="en-US" sz="2400" dirty="0" smtClean="0"/>
              <a:t>{</a:t>
            </a:r>
            <a:endParaRPr lang="ru-RU" sz="2400" dirty="0" smtClean="0"/>
          </a:p>
          <a:p>
            <a:r>
              <a:rPr lang="ru-RU" sz="2400" dirty="0" smtClean="0"/>
              <a:t>    </a:t>
            </a:r>
            <a:r>
              <a:rPr lang="en-US" sz="2400" dirty="0" smtClean="0"/>
              <a:t>//</a:t>
            </a:r>
            <a:r>
              <a:rPr lang="ru-RU" sz="2400" dirty="0" smtClean="0"/>
              <a:t>создаем экземпляр таблицы</a:t>
            </a:r>
            <a:r>
              <a:rPr lang="en-US" sz="2400" dirty="0"/>
              <a:t> Student</a:t>
            </a:r>
            <a:r>
              <a:rPr lang="ru-RU" sz="2400" dirty="0" smtClean="0"/>
              <a:t> из </a:t>
            </a:r>
            <a:r>
              <a:rPr lang="en-US" sz="2400" dirty="0" smtClean="0"/>
              <a:t>DataSet</a:t>
            </a:r>
            <a:endParaRPr lang="en-US" sz="2400" dirty="0"/>
          </a:p>
          <a:p>
            <a:r>
              <a:rPr lang="en-US" sz="2400" dirty="0"/>
              <a:t>    </a:t>
            </a:r>
            <a:r>
              <a:rPr lang="en-US" sz="2400" b="1" dirty="0" err="1"/>
              <a:t>DataTable</a:t>
            </a:r>
            <a:r>
              <a:rPr lang="en-US" sz="2400" b="1" dirty="0"/>
              <a:t> </a:t>
            </a:r>
            <a:r>
              <a:rPr lang="ru-RU" sz="2400" b="1" dirty="0" smtClean="0"/>
              <a:t> </a:t>
            </a:r>
            <a:r>
              <a:rPr lang="en-US" sz="2400" dirty="0" err="1" smtClean="0"/>
              <a:t>tbl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en-US" sz="2400" dirty="0" err="1" smtClean="0"/>
              <a:t>ds.</a:t>
            </a:r>
            <a:r>
              <a:rPr lang="en-US" sz="2400" b="1" dirty="0" err="1" smtClean="0"/>
              <a:t>Tables</a:t>
            </a:r>
            <a:r>
              <a:rPr lang="en-US" sz="2400" dirty="0" smtClean="0"/>
              <a:t>[“Student”];</a:t>
            </a:r>
            <a:endParaRPr lang="ru-RU" sz="2400" dirty="0"/>
          </a:p>
          <a:p>
            <a:r>
              <a:rPr lang="en-US" sz="2400" dirty="0" smtClean="0"/>
              <a:t>    </a:t>
            </a:r>
            <a:endParaRPr lang="ru-RU" sz="2400" dirty="0" smtClean="0"/>
          </a:p>
          <a:p>
            <a:r>
              <a:rPr lang="ru-RU" sz="2400" dirty="0"/>
              <a:t> </a:t>
            </a:r>
            <a:r>
              <a:rPr lang="ru-RU" sz="2400" dirty="0" smtClean="0"/>
              <a:t>   </a:t>
            </a:r>
            <a:r>
              <a:rPr lang="en-US" sz="2400" dirty="0" smtClean="0"/>
              <a:t>//</a:t>
            </a:r>
            <a:r>
              <a:rPr lang="ru-RU" sz="2400" dirty="0" smtClean="0"/>
              <a:t>применяем фильтр к строкам таблицы</a:t>
            </a:r>
          </a:p>
          <a:p>
            <a:r>
              <a:rPr lang="ru-RU" sz="2400" dirty="0"/>
              <a:t> </a:t>
            </a:r>
            <a:r>
              <a:rPr lang="ru-RU" sz="2400" dirty="0" smtClean="0"/>
              <a:t>   </a:t>
            </a:r>
            <a:r>
              <a:rPr lang="en-US" sz="2400" b="1" dirty="0" err="1" smtClean="0"/>
              <a:t>DataRow</a:t>
            </a:r>
            <a:r>
              <a:rPr lang="en-US" sz="2400" b="1" dirty="0"/>
              <a:t>[]</a:t>
            </a:r>
            <a:r>
              <a:rPr lang="en-US" sz="2400" dirty="0"/>
              <a:t> </a:t>
            </a:r>
            <a:r>
              <a:rPr lang="ru-RU" sz="2400" dirty="0" smtClean="0"/>
              <a:t> </a:t>
            </a:r>
            <a:r>
              <a:rPr lang="en-US" sz="2400" dirty="0" err="1" smtClean="0"/>
              <a:t>dr</a:t>
            </a:r>
            <a:r>
              <a:rPr lang="ru-RU" sz="2400" dirty="0"/>
              <a:t> </a:t>
            </a:r>
            <a:r>
              <a:rPr lang="en-US" sz="2400" dirty="0" smtClean="0"/>
              <a:t>= </a:t>
            </a:r>
            <a:r>
              <a:rPr lang="en-US" sz="2400" dirty="0" err="1" smtClean="0"/>
              <a:t>tbl.</a:t>
            </a:r>
            <a:r>
              <a:rPr lang="en-US" sz="2400" b="1" dirty="0" err="1" smtClean="0">
                <a:solidFill>
                  <a:schemeClr val="tx2"/>
                </a:solidFill>
              </a:rPr>
              <a:t>Select</a:t>
            </a:r>
            <a:r>
              <a:rPr lang="en-US" sz="2400" dirty="0"/>
              <a:t>(“name </a:t>
            </a:r>
            <a:r>
              <a:rPr lang="ru-RU" sz="2400" dirty="0"/>
              <a:t>=</a:t>
            </a:r>
            <a:r>
              <a:rPr lang="en-US" sz="2400" dirty="0"/>
              <a:t> ‘</a:t>
            </a:r>
            <a:r>
              <a:rPr lang="ru-RU" sz="2400" dirty="0"/>
              <a:t>Иван</a:t>
            </a:r>
            <a:r>
              <a:rPr lang="en-US" sz="2400" dirty="0"/>
              <a:t>’“);</a:t>
            </a:r>
          </a:p>
          <a:p>
            <a:r>
              <a:rPr lang="en-US" sz="2400" dirty="0" smtClean="0"/>
              <a:t>   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//</a:t>
            </a:r>
            <a:r>
              <a:rPr lang="ru-RU" sz="2400" dirty="0" smtClean="0"/>
              <a:t>выводим строки</a:t>
            </a:r>
            <a:endParaRPr lang="en-US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for(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err="1"/>
              <a:t>i</a:t>
            </a:r>
            <a:r>
              <a:rPr lang="en-US" sz="2400" dirty="0"/>
              <a:t> = 0; </a:t>
            </a:r>
            <a:r>
              <a:rPr lang="en-US" sz="2400" dirty="0" err="1"/>
              <a:t>i</a:t>
            </a:r>
            <a:r>
              <a:rPr lang="en-US" sz="2400" dirty="0"/>
              <a:t> &lt; </a:t>
            </a:r>
            <a:r>
              <a:rPr lang="en-US" sz="2400" dirty="0" err="1" smtClean="0"/>
              <a:t>dr.Length</a:t>
            </a:r>
            <a:r>
              <a:rPr lang="en-US" sz="2400" dirty="0"/>
              <a:t>; </a:t>
            </a:r>
            <a:r>
              <a:rPr lang="en-US" sz="2400" dirty="0" err="1"/>
              <a:t>i</a:t>
            </a:r>
            <a:r>
              <a:rPr lang="en-US" sz="2400" dirty="0"/>
              <a:t> ++)</a:t>
            </a:r>
          </a:p>
          <a:p>
            <a:r>
              <a:rPr lang="en-US" sz="2400" dirty="0" smtClean="0"/>
              <a:t>         Label1.Text += </a:t>
            </a:r>
            <a:r>
              <a:rPr lang="en-US" sz="2400" dirty="0" err="1" smtClean="0"/>
              <a:t>dr</a:t>
            </a:r>
            <a:r>
              <a:rPr lang="en-US" sz="2400" dirty="0" smtClean="0"/>
              <a:t>[</a:t>
            </a:r>
            <a:r>
              <a:rPr lang="en-US" sz="2400" dirty="0" err="1" smtClean="0"/>
              <a:t>i</a:t>
            </a:r>
            <a:r>
              <a:rPr lang="en-US" sz="2400" dirty="0" smtClean="0"/>
              <a:t>][“surname”].</a:t>
            </a:r>
            <a:r>
              <a:rPr lang="en-US" sz="2400" dirty="0" err="1" smtClean="0"/>
              <a:t>ToString</a:t>
            </a:r>
            <a:r>
              <a:rPr lang="en-US" sz="2400" dirty="0" smtClean="0"/>
              <a:t>() </a:t>
            </a:r>
            <a:r>
              <a:rPr lang="en-US" sz="2400" dirty="0"/>
              <a:t>+ </a:t>
            </a:r>
            <a:r>
              <a:rPr lang="en-US" sz="2400" dirty="0" smtClean="0"/>
              <a:t>“  ” +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                              </a:t>
            </a:r>
            <a:r>
              <a:rPr lang="en-US" sz="2400" dirty="0" err="1" smtClean="0"/>
              <a:t>dr</a:t>
            </a:r>
            <a:r>
              <a:rPr lang="en-US" sz="2400" dirty="0" smtClean="0"/>
              <a:t>[</a:t>
            </a:r>
            <a:r>
              <a:rPr lang="en-US" sz="2400" dirty="0" err="1" smtClean="0"/>
              <a:t>i</a:t>
            </a:r>
            <a:r>
              <a:rPr lang="en-US" sz="2400" dirty="0" smtClean="0"/>
              <a:t>][“name</a:t>
            </a:r>
            <a:r>
              <a:rPr lang="en-US" sz="2400" dirty="0"/>
              <a:t>”].</a:t>
            </a:r>
            <a:r>
              <a:rPr lang="en-US" sz="2400" dirty="0" err="1"/>
              <a:t>ToString</a:t>
            </a:r>
            <a:r>
              <a:rPr lang="en-US" sz="2400" dirty="0" smtClean="0"/>
              <a:t>() + “, ” </a:t>
            </a:r>
            <a:r>
              <a:rPr lang="en-US" sz="2400" dirty="0"/>
              <a:t>;</a:t>
            </a:r>
          </a:p>
          <a:p>
            <a:r>
              <a:rPr lang="en-US" sz="2400" dirty="0" smtClean="0"/>
              <a:t>}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83568" y="477253"/>
            <a:ext cx="42797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Метод </a:t>
            </a:r>
            <a:r>
              <a:rPr lang="en-US" sz="3200" b="1" dirty="0" err="1">
                <a:solidFill>
                  <a:schemeClr val="tx2"/>
                </a:solidFill>
              </a:rPr>
              <a:t>DataTable</a:t>
            </a:r>
            <a:r>
              <a:rPr lang="ru-RU" sz="3200" b="1" dirty="0">
                <a:solidFill>
                  <a:schemeClr val="tx2"/>
                </a:solidFill>
              </a:rPr>
              <a:t>.</a:t>
            </a:r>
            <a:r>
              <a:rPr lang="en-US" sz="3200" b="1" dirty="0">
                <a:solidFill>
                  <a:schemeClr val="tx2"/>
                </a:solidFill>
              </a:rPr>
              <a:t>Select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49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473746"/>
            <a:ext cx="835292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Перегрузки:</a:t>
            </a:r>
          </a:p>
          <a:p>
            <a:endParaRPr lang="ru-RU" sz="2800" b="1" dirty="0" smtClean="0"/>
          </a:p>
          <a:p>
            <a:r>
              <a:rPr lang="ru-RU" sz="2800" b="1" dirty="0" err="1" smtClean="0">
                <a:solidFill>
                  <a:schemeClr val="tx2"/>
                </a:solidFill>
              </a:rPr>
              <a:t>Select</a:t>
            </a:r>
            <a:r>
              <a:rPr lang="ru-RU" sz="2800" b="1" dirty="0" smtClean="0">
                <a:solidFill>
                  <a:schemeClr val="tx2"/>
                </a:solidFill>
              </a:rPr>
              <a:t>() </a:t>
            </a:r>
            <a:r>
              <a:rPr lang="ru-RU" sz="2800" dirty="0" smtClean="0"/>
              <a:t>– Получает массив </a:t>
            </a:r>
            <a:r>
              <a:rPr lang="ru-RU" sz="2800" dirty="0"/>
              <a:t>всех объектов </a:t>
            </a:r>
            <a:r>
              <a:rPr lang="ru-RU" sz="2800" dirty="0" err="1"/>
              <a:t>DataRow</a:t>
            </a:r>
            <a:r>
              <a:rPr lang="ru-RU" sz="2800" dirty="0"/>
              <a:t>.</a:t>
            </a:r>
          </a:p>
          <a:p>
            <a:endParaRPr lang="en-US" sz="2800" b="1" dirty="0" smtClean="0">
              <a:solidFill>
                <a:schemeClr val="tx2"/>
              </a:solidFill>
            </a:endParaRPr>
          </a:p>
          <a:p>
            <a:r>
              <a:rPr lang="ru-RU" sz="2800" b="1" dirty="0" err="1" smtClean="0">
                <a:solidFill>
                  <a:schemeClr val="tx2"/>
                </a:solidFill>
              </a:rPr>
              <a:t>Select</a:t>
            </a:r>
            <a:r>
              <a:rPr lang="ru-RU" sz="2800" b="1" dirty="0" smtClean="0">
                <a:solidFill>
                  <a:schemeClr val="tx2"/>
                </a:solidFill>
              </a:rPr>
              <a:t>(</a:t>
            </a:r>
            <a:r>
              <a:rPr lang="en-US" sz="2800" b="1" dirty="0">
                <a:solidFill>
                  <a:schemeClr val="tx2"/>
                </a:solidFill>
              </a:rPr>
              <a:t>filter</a:t>
            </a:r>
            <a:r>
              <a:rPr lang="ru-RU" sz="2800" b="1" dirty="0" smtClean="0">
                <a:solidFill>
                  <a:schemeClr val="tx2"/>
                </a:solidFill>
              </a:rPr>
              <a:t>) </a:t>
            </a:r>
            <a:r>
              <a:rPr lang="ru-RU" sz="2800" dirty="0" smtClean="0"/>
              <a:t>– Получает массив </a:t>
            </a:r>
            <a:r>
              <a:rPr lang="ru-RU" sz="2800" dirty="0"/>
              <a:t>всех объектов </a:t>
            </a:r>
            <a:r>
              <a:rPr lang="ru-RU" sz="2800" dirty="0" err="1"/>
              <a:t>DataRow</a:t>
            </a:r>
            <a:r>
              <a:rPr lang="ru-RU" sz="2800" dirty="0"/>
              <a:t>, отвечающих условиям фильтра.</a:t>
            </a:r>
          </a:p>
          <a:p>
            <a:endParaRPr lang="en-US" sz="2800" b="1" dirty="0" smtClean="0">
              <a:solidFill>
                <a:schemeClr val="tx2"/>
              </a:solidFill>
            </a:endParaRPr>
          </a:p>
          <a:p>
            <a:r>
              <a:rPr lang="ru-RU" sz="2800" b="1" dirty="0" err="1" smtClean="0">
                <a:solidFill>
                  <a:schemeClr val="tx2"/>
                </a:solidFill>
              </a:rPr>
              <a:t>Select</a:t>
            </a:r>
            <a:r>
              <a:rPr lang="ru-RU" sz="2800" b="1" dirty="0" smtClean="0">
                <a:solidFill>
                  <a:schemeClr val="tx2"/>
                </a:solidFill>
              </a:rPr>
              <a:t>(</a:t>
            </a:r>
            <a:r>
              <a:rPr lang="en-US" sz="2800" b="1" dirty="0">
                <a:solidFill>
                  <a:schemeClr val="tx2"/>
                </a:solidFill>
              </a:rPr>
              <a:t>filter</a:t>
            </a:r>
            <a:r>
              <a:rPr lang="ru-RU" sz="2800" b="1" dirty="0" smtClean="0">
                <a:solidFill>
                  <a:schemeClr val="tx2"/>
                </a:solidFill>
              </a:rPr>
              <a:t>, </a:t>
            </a:r>
            <a:r>
              <a:rPr lang="en-US" sz="2800" b="1" dirty="0" smtClean="0">
                <a:solidFill>
                  <a:schemeClr val="tx2"/>
                </a:solidFill>
              </a:rPr>
              <a:t>sort</a:t>
            </a:r>
            <a:r>
              <a:rPr lang="ru-RU" sz="2800" b="1" dirty="0" smtClean="0">
                <a:solidFill>
                  <a:schemeClr val="tx2"/>
                </a:solidFill>
              </a:rPr>
              <a:t>)</a:t>
            </a:r>
            <a:r>
              <a:rPr lang="ru-RU" sz="2800" dirty="0" smtClean="0"/>
              <a:t> – Получает массив </a:t>
            </a:r>
            <a:r>
              <a:rPr lang="ru-RU" sz="2800" dirty="0"/>
              <a:t>всех объектов </a:t>
            </a:r>
            <a:r>
              <a:rPr lang="ru-RU" sz="2800" dirty="0" err="1"/>
              <a:t>DataRow</a:t>
            </a:r>
            <a:r>
              <a:rPr lang="ru-RU" sz="2800" dirty="0"/>
              <a:t>, отвечающих условиям фильтра, согласно указанному порядку сортировки</a:t>
            </a:r>
            <a:r>
              <a:rPr lang="ru-RU" sz="2800" dirty="0" smtClean="0"/>
              <a:t>.</a:t>
            </a:r>
            <a:endParaRPr lang="ru-RU" sz="2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83568" y="477253"/>
            <a:ext cx="42797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Метод </a:t>
            </a:r>
            <a:r>
              <a:rPr lang="en-US" sz="3200" b="1" dirty="0" err="1">
                <a:solidFill>
                  <a:schemeClr val="tx2"/>
                </a:solidFill>
              </a:rPr>
              <a:t>DataTable</a:t>
            </a:r>
            <a:r>
              <a:rPr lang="ru-RU" sz="3200" b="1" dirty="0">
                <a:solidFill>
                  <a:schemeClr val="tx2"/>
                </a:solidFill>
              </a:rPr>
              <a:t>.</a:t>
            </a:r>
            <a:r>
              <a:rPr lang="en-US" sz="3200" b="1" dirty="0">
                <a:solidFill>
                  <a:schemeClr val="tx2"/>
                </a:solidFill>
              </a:rPr>
              <a:t>Select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79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683568" y="477253"/>
            <a:ext cx="64361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Пример работы с набором данных</a:t>
            </a:r>
            <a:endParaRPr lang="ru-RU" sz="3200" dirty="0">
              <a:solidFill>
                <a:schemeClr val="tx2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20888"/>
            <a:ext cx="8889186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395536" y="1249596"/>
            <a:ext cx="84969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Вывести данные о студентах, получающих стипендию.</a:t>
            </a:r>
            <a:endParaRPr lang="ru-RU" sz="28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39552" y="1916832"/>
            <a:ext cx="1438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>
                <a:solidFill>
                  <a:schemeClr val="tx2"/>
                </a:solidFill>
              </a:rPr>
              <a:t>Решение:</a:t>
            </a:r>
            <a:endParaRPr lang="ru-RU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59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942971"/>
            <a:ext cx="9108504" cy="2710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683568" y="477253"/>
            <a:ext cx="64361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Пример работы с набором данных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73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51520" y="1364570"/>
            <a:ext cx="864096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+mj-lt"/>
              <a:buAutoNum type="arabicPeriod"/>
            </a:pPr>
            <a:r>
              <a:rPr lang="ru-RU" sz="2200" dirty="0" smtClean="0"/>
              <a:t>Из </a:t>
            </a:r>
            <a:r>
              <a:rPr lang="ru-RU" sz="2200" dirty="0"/>
              <a:t>таблицы </a:t>
            </a:r>
            <a:r>
              <a:rPr lang="en-US" sz="2200" i="1" dirty="0"/>
              <a:t>Lectures </a:t>
            </a:r>
            <a:r>
              <a:rPr lang="ru-RU" sz="2200" dirty="0"/>
              <a:t>необходимо отобразить </a:t>
            </a:r>
            <a:r>
              <a:rPr lang="ru-RU" sz="2200" dirty="0" smtClean="0"/>
              <a:t>данные о преподавателях, проживающих в выбранном пользователем городе.</a:t>
            </a:r>
            <a:endParaRPr lang="en-US" sz="2200" dirty="0" smtClean="0"/>
          </a:p>
          <a:p>
            <a:pPr marL="571500" indent="-571500">
              <a:buFont typeface="+mj-lt"/>
              <a:buAutoNum type="arabicPeriod"/>
            </a:pPr>
            <a:r>
              <a:rPr lang="ru-RU" sz="2200" dirty="0" smtClean="0"/>
              <a:t>При выборе фамилии студента из списка отобразить следующую информацию по этому студенту: </a:t>
            </a:r>
            <a:endParaRPr lang="en-US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200" dirty="0"/>
              <a:t>д</a:t>
            </a:r>
            <a:r>
              <a:rPr lang="ru-RU" sz="2200" dirty="0" smtClean="0"/>
              <a:t>ата рождения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200" dirty="0"/>
              <a:t>к</a:t>
            </a:r>
            <a:r>
              <a:rPr lang="ru-RU" sz="2200" dirty="0" smtClean="0"/>
              <a:t>урс</a:t>
            </a:r>
            <a:endParaRPr lang="en-US" sz="22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200" dirty="0" smtClean="0"/>
              <a:t>место жительства</a:t>
            </a:r>
            <a:endParaRPr lang="en-US" sz="22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200" dirty="0"/>
              <a:t>н</a:t>
            </a:r>
            <a:r>
              <a:rPr lang="ru-RU" sz="2200" dirty="0" smtClean="0"/>
              <a:t>азвание университета</a:t>
            </a:r>
            <a:endParaRPr lang="en-US" sz="22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200" dirty="0" smtClean="0"/>
              <a:t>Создать пользовательский интерфейс для возможности добавления студентов в БД (таблица </a:t>
            </a:r>
            <a:r>
              <a:rPr lang="en-US" sz="2200" i="1" dirty="0" smtClean="0"/>
              <a:t>Student</a:t>
            </a:r>
            <a:r>
              <a:rPr lang="en-US" sz="2200" dirty="0" smtClean="0"/>
              <a:t>)</a:t>
            </a:r>
            <a:r>
              <a:rPr lang="ru-RU" sz="2200" dirty="0" smtClean="0"/>
              <a:t>.</a:t>
            </a:r>
            <a:endParaRPr lang="en-US" sz="2200" dirty="0"/>
          </a:p>
        </p:txBody>
      </p:sp>
      <p:sp>
        <p:nvSpPr>
          <p:cNvPr id="9221" name="Прямоугольник 6"/>
          <p:cNvSpPr>
            <a:spLocks noChangeArrowheads="1"/>
          </p:cNvSpPr>
          <p:nvPr/>
        </p:nvSpPr>
        <p:spPr bwMode="auto">
          <a:xfrm>
            <a:off x="817479" y="477838"/>
            <a:ext cx="43490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200" b="1" dirty="0" smtClean="0">
                <a:solidFill>
                  <a:schemeClr val="tx2"/>
                </a:solidFill>
              </a:rPr>
              <a:t>Лабораторная работа </a:t>
            </a:r>
            <a:r>
              <a:rPr lang="en-US" sz="3200" b="1" dirty="0">
                <a:solidFill>
                  <a:schemeClr val="tx2"/>
                </a:solidFill>
              </a:rPr>
              <a:t>8</a:t>
            </a:r>
            <a:endParaRPr lang="ru-RU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2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472585"/>
            <a:ext cx="838842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Список таблиц</a:t>
            </a:r>
          </a:p>
          <a:p>
            <a:endParaRPr lang="ru-RU" sz="2800" dirty="0"/>
          </a:p>
          <a:p>
            <a:r>
              <a:rPr lang="en-US" sz="2800" dirty="0" smtClean="0"/>
              <a:t>EXAM_MARKS –</a:t>
            </a:r>
            <a:r>
              <a:rPr lang="ru-RU" sz="2800" dirty="0" smtClean="0"/>
              <a:t> экзаменационные оценки</a:t>
            </a:r>
          </a:p>
          <a:p>
            <a:r>
              <a:rPr lang="en-US" sz="2800" dirty="0" smtClean="0"/>
              <a:t>LECTURES – </a:t>
            </a:r>
            <a:r>
              <a:rPr lang="ru-RU" sz="2800" dirty="0" smtClean="0"/>
              <a:t>сведения о преподавателях</a:t>
            </a:r>
          </a:p>
          <a:p>
            <a:r>
              <a:rPr lang="en-US" sz="2800" dirty="0" smtClean="0"/>
              <a:t>STUDENT</a:t>
            </a:r>
            <a:r>
              <a:rPr lang="ru-RU" sz="2800" dirty="0" smtClean="0"/>
              <a:t> – сведения о студентах</a:t>
            </a:r>
          </a:p>
          <a:p>
            <a:r>
              <a:rPr lang="en-US" sz="2800" dirty="0" smtClean="0"/>
              <a:t>SUBJECT</a:t>
            </a:r>
            <a:r>
              <a:rPr lang="ru-RU" sz="2800" dirty="0" smtClean="0"/>
              <a:t> – сведения о предметах</a:t>
            </a:r>
          </a:p>
          <a:p>
            <a:r>
              <a:rPr lang="en-US" sz="2800" dirty="0" smtClean="0"/>
              <a:t>UNIVERSITY</a:t>
            </a:r>
            <a:r>
              <a:rPr lang="ru-RU" sz="2800" dirty="0" smtClean="0"/>
              <a:t> – сведения об университетах</a:t>
            </a:r>
            <a:endParaRPr lang="en-US" sz="2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83568" y="477253"/>
            <a:ext cx="54572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>
                <a:solidFill>
                  <a:schemeClr val="tx2"/>
                </a:solidFill>
              </a:rPr>
              <a:t>Описание базы данных </a:t>
            </a:r>
            <a:r>
              <a:rPr lang="en-US" sz="2800" b="1" dirty="0" smtClean="0">
                <a:solidFill>
                  <a:schemeClr val="tx2"/>
                </a:solidFill>
              </a:rPr>
              <a:t>University</a:t>
            </a:r>
            <a:endParaRPr lang="ru-RU" sz="2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832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683568" y="477253"/>
            <a:ext cx="54572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>
                <a:solidFill>
                  <a:schemeClr val="tx2"/>
                </a:solidFill>
              </a:rPr>
              <a:t>Описание базы данных </a:t>
            </a:r>
            <a:r>
              <a:rPr lang="en-US" sz="2800" b="1" dirty="0" smtClean="0">
                <a:solidFill>
                  <a:schemeClr val="tx2"/>
                </a:solidFill>
              </a:rPr>
              <a:t>University</a:t>
            </a:r>
            <a:endParaRPr lang="ru-RU" sz="2800" b="1" dirty="0">
              <a:solidFill>
                <a:schemeClr val="tx2"/>
              </a:solidFill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51" y="2204864"/>
            <a:ext cx="5216496" cy="2693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5090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683568" y="477253"/>
            <a:ext cx="54572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>
                <a:solidFill>
                  <a:schemeClr val="tx2"/>
                </a:solidFill>
              </a:rPr>
              <a:t>Описание базы данных </a:t>
            </a:r>
            <a:r>
              <a:rPr lang="en-US" sz="2800" b="1" dirty="0" smtClean="0">
                <a:solidFill>
                  <a:schemeClr val="tx2"/>
                </a:solidFill>
              </a:rPr>
              <a:t>University</a:t>
            </a:r>
            <a:endParaRPr lang="ru-RU" sz="2800" b="1" dirty="0">
              <a:solidFill>
                <a:schemeClr val="tx2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080084"/>
            <a:ext cx="5374587" cy="2697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228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683568" y="477253"/>
            <a:ext cx="54572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>
                <a:solidFill>
                  <a:schemeClr val="tx2"/>
                </a:solidFill>
              </a:rPr>
              <a:t>Описание базы данных </a:t>
            </a:r>
            <a:r>
              <a:rPr lang="en-US" sz="2800" b="1" dirty="0" smtClean="0">
                <a:solidFill>
                  <a:schemeClr val="tx2"/>
                </a:solidFill>
              </a:rPr>
              <a:t>University</a:t>
            </a:r>
            <a:endParaRPr lang="ru-RU" sz="2800" b="1" dirty="0">
              <a:solidFill>
                <a:schemeClr val="tx2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988840"/>
            <a:ext cx="4712136" cy="345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910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683568" y="477253"/>
            <a:ext cx="54572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>
                <a:solidFill>
                  <a:schemeClr val="tx2"/>
                </a:solidFill>
              </a:rPr>
              <a:t>Описание базы данных </a:t>
            </a:r>
            <a:r>
              <a:rPr lang="en-US" sz="2800" b="1" dirty="0" smtClean="0">
                <a:solidFill>
                  <a:schemeClr val="tx2"/>
                </a:solidFill>
              </a:rPr>
              <a:t>University</a:t>
            </a:r>
            <a:endParaRPr lang="ru-RU" sz="2800" b="1" dirty="0">
              <a:solidFill>
                <a:schemeClr val="tx2"/>
              </a:solidFill>
            </a:endParaRP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149080"/>
            <a:ext cx="5320755" cy="2231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617" y="1556792"/>
            <a:ext cx="5397357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582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64858</TotalTime>
  <Words>1373</Words>
  <Application>Microsoft Office PowerPoint</Application>
  <PresentationFormat>Экран (4:3)</PresentationFormat>
  <Paragraphs>242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8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Задания 1: (Операторы условия)</dc:title>
  <dc:creator>Студент</dc:creator>
  <cp:lastModifiedBy>Евгения</cp:lastModifiedBy>
  <cp:revision>683</cp:revision>
  <dcterms:created xsi:type="dcterms:W3CDTF">2013-01-22T14:12:12Z</dcterms:created>
  <dcterms:modified xsi:type="dcterms:W3CDTF">2024-03-24T02:45:47Z</dcterms:modified>
</cp:coreProperties>
</file>