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23" r:id="rId2"/>
    <p:sldId id="324" r:id="rId3"/>
    <p:sldId id="325" r:id="rId4"/>
    <p:sldId id="345" r:id="rId5"/>
    <p:sldId id="346" r:id="rId6"/>
    <p:sldId id="347" r:id="rId7"/>
    <p:sldId id="341" r:id="rId8"/>
    <p:sldId id="326" r:id="rId9"/>
    <p:sldId id="342" r:id="rId10"/>
    <p:sldId id="343" r:id="rId11"/>
    <p:sldId id="344" r:id="rId12"/>
    <p:sldId id="327" r:id="rId13"/>
    <p:sldId id="328" r:id="rId14"/>
    <p:sldId id="329" r:id="rId15"/>
    <p:sldId id="330" r:id="rId16"/>
    <p:sldId id="331" r:id="rId17"/>
    <p:sldId id="33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1000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E715-88E3-4601-8FC7-51F808BA8E66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5CAB-4471-42D9-B6C0-0DD13E883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2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2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3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1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4D37-A7D6-4DCD-B167-F53C2AACB884}" type="datetimeFigureOut">
              <a:rPr lang="ru-RU" smtClean="0"/>
              <a:t>30.04.2024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9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://www.xmldb.org/xapi/index.html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43608" y="1363415"/>
            <a:ext cx="748883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b="1" dirty="0" smtClean="0"/>
              <a:t>XML </a:t>
            </a:r>
            <a:r>
              <a:rPr lang="en-US" sz="4000" b="1" dirty="0"/>
              <a:t>- </a:t>
            </a:r>
            <a:r>
              <a:rPr lang="ru-RU" sz="4000" b="1" dirty="0"/>
              <a:t>о</a:t>
            </a:r>
            <a:r>
              <a:rPr lang="ru-RU" sz="4000" b="1" dirty="0" smtClean="0"/>
              <a:t>писание </a:t>
            </a:r>
            <a:r>
              <a:rPr lang="ru-RU" sz="4000" b="1" dirty="0"/>
              <a:t>технологии</a:t>
            </a: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395536" y="2211254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2774538"/>
            <a:ext cx="806489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itchFamily="34" charset="0"/>
              <a:buChar char="•"/>
            </a:pPr>
            <a:r>
              <a:rPr lang="ru-RU" sz="3600" b="1" dirty="0" smtClean="0">
                <a:solidFill>
                  <a:schemeClr val="tx2"/>
                </a:solidFill>
              </a:rPr>
              <a:t>Основные сведения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600" b="1" dirty="0" smtClean="0">
                <a:solidFill>
                  <a:schemeClr val="tx2"/>
                </a:solidFill>
              </a:rPr>
              <a:t>XML</a:t>
            </a:r>
          </a:p>
          <a:p>
            <a:pPr marL="571500" indent="-571500">
              <a:buFont typeface="Arial" pitchFamily="34" charset="0"/>
              <a:buChar char="•"/>
            </a:pPr>
            <a:r>
              <a:rPr lang="ru-RU" sz="3600" b="1" dirty="0" smtClean="0">
                <a:solidFill>
                  <a:schemeClr val="tx2"/>
                </a:solidFill>
              </a:rPr>
              <a:t>Работа с </a:t>
            </a:r>
            <a:r>
              <a:rPr lang="en-US" sz="3600" b="1" dirty="0" smtClean="0">
                <a:solidFill>
                  <a:schemeClr val="tx2"/>
                </a:solidFill>
              </a:rPr>
              <a:t>XML</a:t>
            </a:r>
            <a:r>
              <a:rPr lang="ru-RU" sz="3600" b="1" dirty="0" smtClean="0">
                <a:solidFill>
                  <a:schemeClr val="tx2"/>
                </a:solidFill>
              </a:rPr>
              <a:t> в </a:t>
            </a:r>
            <a:r>
              <a:rPr lang="en-US" sz="3600" b="1" dirty="0" smtClean="0">
                <a:solidFill>
                  <a:schemeClr val="tx2"/>
                </a:solidFill>
              </a:rPr>
              <a:t>.NET</a:t>
            </a:r>
            <a:r>
              <a:rPr lang="ru-RU" sz="3600" b="1" dirty="0">
                <a:solidFill>
                  <a:schemeClr val="tx2"/>
                </a:solidFill>
              </a:rPr>
              <a:t>.</a:t>
            </a:r>
            <a:r>
              <a:rPr lang="ru-RU" sz="3600" b="1" dirty="0" smtClean="0">
                <a:solidFill>
                  <a:schemeClr val="tx2"/>
                </a:solidFill>
              </a:rPr>
              <a:t> Чтение </a:t>
            </a:r>
            <a:r>
              <a:rPr lang="ru-RU" sz="3600" b="1" dirty="0">
                <a:solidFill>
                  <a:schemeClr val="tx2"/>
                </a:solidFill>
              </a:rPr>
              <a:t>и запись в </a:t>
            </a:r>
            <a:r>
              <a:rPr lang="ru-RU" sz="3600" b="1" dirty="0" smtClean="0">
                <a:solidFill>
                  <a:schemeClr val="tx2"/>
                </a:solidFill>
              </a:rPr>
              <a:t>XML-файлы. Редактирование </a:t>
            </a:r>
            <a:r>
              <a:rPr lang="en-US" sz="3600" b="1" dirty="0" smtClean="0">
                <a:solidFill>
                  <a:schemeClr val="tx2"/>
                </a:solidFill>
              </a:rPr>
              <a:t>XML</a:t>
            </a:r>
            <a:r>
              <a:rPr lang="ru-RU" sz="3600" b="1" dirty="0" smtClean="0">
                <a:solidFill>
                  <a:schemeClr val="tx2"/>
                </a:solidFill>
              </a:rPr>
              <a:t>-файлов</a:t>
            </a:r>
            <a:endParaRPr lang="en-US" sz="3600" b="1" dirty="0" smtClean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3751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5159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</a:t>
            </a:r>
            <a:r>
              <a:rPr lang="ru-RU" sz="3200" b="1" dirty="0" smtClean="0">
                <a:solidFill>
                  <a:schemeClr val="tx2"/>
                </a:solidFill>
              </a:rPr>
              <a:t>сведения об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539553" y="1557367"/>
            <a:ext cx="7992888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b="1" dirty="0" smtClean="0"/>
              <a:t>XML </a:t>
            </a:r>
            <a:r>
              <a:rPr lang="ru-RU" sz="3200" dirty="0"/>
              <a:t>(</a:t>
            </a:r>
            <a:r>
              <a:rPr lang="ru-RU" sz="3200" dirty="0" err="1"/>
              <a:t>Extensible</a:t>
            </a:r>
            <a:r>
              <a:rPr lang="ru-RU" sz="3200" dirty="0"/>
              <a:t> </a:t>
            </a:r>
            <a:r>
              <a:rPr lang="ru-RU" sz="3200" dirty="0" err="1"/>
              <a:t>Markup</a:t>
            </a:r>
            <a:r>
              <a:rPr lang="ru-RU" sz="3200" dirty="0"/>
              <a:t> </a:t>
            </a:r>
            <a:r>
              <a:rPr lang="ru-RU" sz="3200" dirty="0" err="1"/>
              <a:t>Language</a:t>
            </a:r>
            <a:r>
              <a:rPr lang="ru-RU" sz="3200" dirty="0" smtClean="0"/>
              <a:t>)</a:t>
            </a:r>
            <a:r>
              <a:rPr lang="en-US" sz="3200" dirty="0" smtClean="0"/>
              <a:t> </a:t>
            </a:r>
            <a:r>
              <a:rPr lang="ru-RU" sz="3200" dirty="0" smtClean="0"/>
              <a:t>– это</a:t>
            </a:r>
            <a:r>
              <a:rPr lang="en-US" sz="3200" dirty="0" smtClean="0"/>
              <a:t> </a:t>
            </a:r>
            <a:r>
              <a:rPr lang="ru-RU" sz="3200" dirty="0" smtClean="0"/>
              <a:t>язык </a:t>
            </a:r>
            <a:r>
              <a:rPr lang="ru-RU" sz="3200" dirty="0"/>
              <a:t>разметки документов, позволяющий структурировать информацию разного типа, используя для этого произвольный набор </a:t>
            </a:r>
            <a:r>
              <a:rPr lang="ru-RU" sz="3200" dirty="0" smtClean="0"/>
              <a:t>инструкций.</a:t>
            </a:r>
          </a:p>
          <a:p>
            <a:endParaRPr lang="ru-RU" sz="3200" dirty="0"/>
          </a:p>
          <a:p>
            <a:r>
              <a:rPr lang="en-US" sz="3200" b="1" dirty="0" smtClean="0">
                <a:solidFill>
                  <a:schemeClr val="tx2"/>
                </a:solidFill>
              </a:rPr>
              <a:t>XML-</a:t>
            </a:r>
            <a:r>
              <a:rPr lang="ru-RU" sz="3200" b="1" dirty="0" smtClean="0">
                <a:solidFill>
                  <a:schemeClr val="tx2"/>
                </a:solidFill>
              </a:rPr>
              <a:t>файл </a:t>
            </a:r>
            <a:r>
              <a:rPr lang="ru-RU" sz="3200" dirty="0" smtClean="0"/>
              <a:t>– это текстовый файл.</a:t>
            </a:r>
          </a:p>
          <a:p>
            <a:endParaRPr lang="ru-RU" sz="3200" dirty="0" smtClean="0"/>
          </a:p>
        </p:txBody>
      </p:sp>
    </p:spTree>
    <p:extLst>
      <p:ext uri="{BB962C8B-B14F-4D97-AF65-F5344CB8AC3E}">
        <p14:creationId xmlns:p14="http://schemas.microsoft.com/office/powerpoint/2010/main" val="28385461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5159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</a:t>
            </a:r>
            <a:r>
              <a:rPr lang="ru-RU" sz="3200" b="1" dirty="0" smtClean="0">
                <a:solidFill>
                  <a:schemeClr val="tx2"/>
                </a:solidFill>
              </a:rPr>
              <a:t>сведения об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1124744"/>
            <a:ext cx="8352928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600" b="1" dirty="0" smtClean="0"/>
              <a:t>Пример </a:t>
            </a:r>
            <a:r>
              <a:rPr lang="en-US" sz="2600" b="1" dirty="0" smtClean="0"/>
              <a:t>XML-</a:t>
            </a:r>
            <a:r>
              <a:rPr lang="ru-RU" sz="2600" b="1" dirty="0" smtClean="0"/>
              <a:t>файла: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00" y="1700808"/>
            <a:ext cx="8402272" cy="4541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07743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5159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</a:t>
            </a:r>
            <a:r>
              <a:rPr lang="ru-RU" sz="3200" b="1" dirty="0" smtClean="0">
                <a:solidFill>
                  <a:schemeClr val="tx2"/>
                </a:solidFill>
              </a:rPr>
              <a:t>сведения об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1262365"/>
            <a:ext cx="83529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Использование </a:t>
            </a:r>
            <a:r>
              <a:rPr lang="en-US" sz="2800" b="1" dirty="0" smtClean="0"/>
              <a:t>XML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Р</a:t>
            </a:r>
            <a:r>
              <a:rPr lang="ru-RU" sz="2800" dirty="0" smtClean="0"/>
              <a:t>оль </a:t>
            </a:r>
            <a:r>
              <a:rPr lang="ru-RU" sz="2800" dirty="0"/>
              <a:t>универсального формата для обмена </a:t>
            </a:r>
            <a:r>
              <a:rPr lang="ru-RU" sz="2800" dirty="0" smtClean="0"/>
              <a:t>информацией</a:t>
            </a:r>
            <a:r>
              <a:rPr lang="en-US" sz="2800" dirty="0"/>
              <a:t>;</a:t>
            </a:r>
            <a:r>
              <a:rPr lang="ru-RU" sz="2800" dirty="0"/>
              <a:t> 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Базовый	 стандарт </a:t>
            </a:r>
            <a:r>
              <a:rPr lang="ru-RU" sz="2800" dirty="0"/>
              <a:t>для нового языка описания </a:t>
            </a:r>
            <a:r>
              <a:rPr lang="ru-RU" sz="2800" dirty="0" smtClean="0"/>
              <a:t>ресурсов RDF</a:t>
            </a:r>
            <a:r>
              <a:rPr lang="en-US" sz="2800" dirty="0" smtClean="0"/>
              <a:t>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Д</a:t>
            </a:r>
            <a:r>
              <a:rPr lang="ru-RU" sz="2800" dirty="0" smtClean="0"/>
              <a:t>ополнение </a:t>
            </a:r>
            <a:r>
              <a:rPr lang="ru-RU" sz="2800" dirty="0"/>
              <a:t>к HTML для распространения в </a:t>
            </a:r>
            <a:r>
              <a:rPr lang="ru-RU" sz="2800" dirty="0" err="1"/>
              <a:t>Web</a:t>
            </a:r>
            <a:r>
              <a:rPr lang="ru-RU" sz="2800" dirty="0"/>
              <a:t> </a:t>
            </a:r>
            <a:r>
              <a:rPr lang="en-US" sz="2800" dirty="0" smtClean="0"/>
              <a:t>“</a:t>
            </a:r>
            <a:r>
              <a:rPr lang="ru-RU" sz="2800" dirty="0" smtClean="0"/>
              <a:t>нестандартной</a:t>
            </a:r>
            <a:r>
              <a:rPr lang="en-US" sz="2800" dirty="0" smtClean="0"/>
              <a:t>”</a:t>
            </a:r>
            <a:r>
              <a:rPr lang="ru-RU" sz="2800" dirty="0" smtClean="0"/>
              <a:t> информации</a:t>
            </a:r>
            <a:r>
              <a:rPr lang="en-US" sz="2800" dirty="0" smtClean="0"/>
              <a:t> (XHTML);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Промежуточный формат </a:t>
            </a:r>
            <a:r>
              <a:rPr lang="ru-RU" sz="2800" dirty="0"/>
              <a:t>данных в трехзвенных </a:t>
            </a:r>
            <a:r>
              <a:rPr lang="ru-RU" sz="2800" dirty="0" smtClean="0"/>
              <a:t>системах (приложение -</a:t>
            </a:r>
            <a:r>
              <a:rPr lang="en-US" sz="2800" dirty="0" smtClean="0"/>
              <a:t>&gt;</a:t>
            </a:r>
            <a:r>
              <a:rPr lang="ru-RU" sz="2800" dirty="0" smtClean="0"/>
              <a:t> СУБД).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Стилевые таблицы </a:t>
            </a:r>
            <a:r>
              <a:rPr lang="ru-RU" sz="2800" dirty="0"/>
              <a:t>(XSL) </a:t>
            </a:r>
            <a:r>
              <a:rPr lang="ru-RU" sz="2800" dirty="0" smtClean="0"/>
              <a:t>обеспечивают независимость отображения </a:t>
            </a:r>
            <a:r>
              <a:rPr lang="ru-RU" sz="2800" dirty="0"/>
              <a:t>XML- документов </a:t>
            </a:r>
            <a:r>
              <a:rPr lang="ru-RU" sz="2800" dirty="0" smtClean="0"/>
              <a:t>от устройства вывода.</a:t>
            </a:r>
          </a:p>
        </p:txBody>
      </p:sp>
    </p:spTree>
    <p:extLst>
      <p:ext uri="{BB962C8B-B14F-4D97-AF65-F5344CB8AC3E}">
        <p14:creationId xmlns:p14="http://schemas.microsoft.com/office/powerpoint/2010/main" val="167129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5159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</a:t>
            </a:r>
            <a:r>
              <a:rPr lang="ru-RU" sz="3200" b="1" dirty="0" smtClean="0">
                <a:solidFill>
                  <a:schemeClr val="tx2"/>
                </a:solidFill>
              </a:rPr>
              <a:t>сведения об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539552" y="1262365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DTD</a:t>
            </a:r>
            <a:r>
              <a:rPr lang="ru-RU" sz="2800" b="1" dirty="0" smtClean="0"/>
              <a:t> – </a:t>
            </a:r>
            <a:r>
              <a:rPr lang="ru-RU" sz="2800" dirty="0" smtClean="0"/>
              <a:t>стандартный способ </a:t>
            </a:r>
            <a:r>
              <a:rPr lang="ru-RU" sz="2800" dirty="0"/>
              <a:t>описания </a:t>
            </a:r>
            <a:r>
              <a:rPr lang="ru-RU" sz="2800" dirty="0" smtClean="0"/>
              <a:t>грамматики </a:t>
            </a:r>
            <a:r>
              <a:rPr lang="en-US" sz="2800" dirty="0" smtClean="0"/>
              <a:t>XML</a:t>
            </a:r>
            <a:r>
              <a:rPr lang="ru-RU" sz="2800" dirty="0"/>
              <a:t> </a:t>
            </a:r>
            <a:r>
              <a:rPr lang="ru-RU" sz="2800" dirty="0" smtClean="0"/>
              <a:t>(список </a:t>
            </a:r>
            <a:r>
              <a:rPr lang="ru-RU" sz="2800" dirty="0"/>
              <a:t>допустимых элементов, их возможное содержимое и </a:t>
            </a:r>
            <a:r>
              <a:rPr lang="ru-RU" sz="2800" dirty="0" smtClean="0"/>
              <a:t>атрибуты </a:t>
            </a:r>
            <a:r>
              <a:rPr lang="ru-RU" sz="2800" dirty="0" err="1" smtClean="0"/>
              <a:t>ит.д</a:t>
            </a:r>
            <a:r>
              <a:rPr lang="ru-RU" sz="2800" dirty="0" smtClean="0"/>
              <a:t>.).</a:t>
            </a:r>
          </a:p>
          <a:p>
            <a:endParaRPr lang="ru-RU" sz="2800" dirty="0"/>
          </a:p>
          <a:p>
            <a:r>
              <a:rPr lang="ru-RU" sz="2800" b="1" i="1" dirty="0"/>
              <a:t>&lt;!--DOCTYPE </a:t>
            </a:r>
            <a:r>
              <a:rPr lang="ru-RU" sz="2800" b="1" i="1" dirty="0" err="1"/>
              <a:t>log</a:t>
            </a:r>
            <a:r>
              <a:rPr lang="ru-RU" sz="2800" b="1" i="1" dirty="0"/>
              <a:t> SYSTEM "log.dtd"--&gt;</a:t>
            </a:r>
            <a:endParaRPr lang="ru-RU" sz="2800" b="1" dirty="0"/>
          </a:p>
          <a:p>
            <a:r>
              <a:rPr lang="ru-RU" sz="2800" dirty="0" smtClean="0"/>
              <a:t>Верифицирующий </a:t>
            </a:r>
            <a:r>
              <a:rPr lang="ru-RU" sz="2800" dirty="0"/>
              <a:t>XML-анализатор при обработке документа будет сверять порядок определения элементов и их атрибутов с тем, </a:t>
            </a:r>
            <a:r>
              <a:rPr lang="ru-RU" sz="2800" dirty="0" smtClean="0"/>
              <a:t>что </a:t>
            </a:r>
            <a:r>
              <a:rPr lang="ru-RU" sz="2800" dirty="0"/>
              <a:t>указано </a:t>
            </a:r>
            <a:r>
              <a:rPr lang="ru-RU" sz="2800" dirty="0" smtClean="0"/>
              <a:t>в DTD-нотациях.</a:t>
            </a:r>
            <a:endParaRPr lang="ru-RU" sz="2800" dirty="0"/>
          </a:p>
          <a:p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1612099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51591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>
                <a:solidFill>
                  <a:schemeClr val="tx2"/>
                </a:solidFill>
              </a:rPr>
              <a:t>Основные </a:t>
            </a:r>
            <a:r>
              <a:rPr lang="ru-RU" sz="3200" b="1" dirty="0" smtClean="0">
                <a:solidFill>
                  <a:schemeClr val="tx2"/>
                </a:solidFill>
              </a:rPr>
              <a:t>сведения об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336768"/>
            <a:ext cx="4968552" cy="34378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4221088"/>
            <a:ext cx="4309095" cy="2338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6110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5417" y="477253"/>
            <a:ext cx="2953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611560" y="1534140"/>
            <a:ext cx="799288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/>
              <a:t>XSLT</a:t>
            </a:r>
            <a:endParaRPr lang="ru-RU" sz="3200" b="1" dirty="0" smtClean="0"/>
          </a:p>
          <a:p>
            <a:endParaRPr lang="ru-RU" sz="3200" b="1" dirty="0" smtClean="0"/>
          </a:p>
          <a:p>
            <a:r>
              <a:rPr lang="ru-RU" sz="3200" dirty="0"/>
              <a:t>XSLT </a:t>
            </a:r>
            <a:r>
              <a:rPr lang="ru-RU" sz="3200" dirty="0" smtClean="0"/>
              <a:t>предназначен </a:t>
            </a:r>
            <a:r>
              <a:rPr lang="ru-RU" sz="3200" dirty="0"/>
              <a:t>для преобразования </a:t>
            </a:r>
            <a:r>
              <a:rPr lang="ru-RU" sz="3200" dirty="0" smtClean="0"/>
              <a:t>XML</a:t>
            </a:r>
            <a:r>
              <a:rPr lang="en-US" sz="3200" dirty="0" smtClean="0"/>
              <a:t>-</a:t>
            </a:r>
            <a:r>
              <a:rPr lang="ru-RU" sz="3200" dirty="0" smtClean="0"/>
              <a:t>документов </a:t>
            </a:r>
            <a:r>
              <a:rPr lang="ru-RU" sz="3200" dirty="0"/>
              <a:t>в форму представления традиционного браузера или для обработки XML-файлов с помощью </a:t>
            </a:r>
            <a:r>
              <a:rPr lang="ru-RU" sz="3200" dirty="0" smtClean="0"/>
              <a:t>скриптов.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88449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1268760"/>
            <a:ext cx="8496944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/>
              <a:t>Для работы с XML применяются </a:t>
            </a:r>
            <a:r>
              <a:rPr lang="ru-RU" sz="3200" b="1" dirty="0" smtClean="0">
                <a:solidFill>
                  <a:schemeClr val="tx2"/>
                </a:solidFill>
              </a:rPr>
              <a:t>XML-</a:t>
            </a:r>
            <a:r>
              <a:rPr lang="ru-RU" sz="3200" b="1" dirty="0" err="1" smtClean="0">
                <a:solidFill>
                  <a:schemeClr val="tx2"/>
                </a:solidFill>
              </a:rPr>
              <a:t>парсеры</a:t>
            </a:r>
            <a:r>
              <a:rPr lang="ru-RU" sz="3200" dirty="0" smtClean="0"/>
              <a:t>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3200" b="1" dirty="0" err="1" smtClean="0"/>
              <a:t>Simple</a:t>
            </a:r>
            <a:r>
              <a:rPr lang="ru-RU" sz="3200" b="1" dirty="0" smtClean="0"/>
              <a:t> </a:t>
            </a:r>
            <a:r>
              <a:rPr lang="ru-RU" sz="3200" b="1" dirty="0"/>
              <a:t>API </a:t>
            </a:r>
            <a:r>
              <a:rPr lang="ru-RU" sz="3200" b="1" dirty="0" err="1"/>
              <a:t>for</a:t>
            </a:r>
            <a:r>
              <a:rPr lang="ru-RU" sz="3200" b="1" dirty="0"/>
              <a:t> </a:t>
            </a:r>
            <a:r>
              <a:rPr lang="ru-RU" sz="3200" b="1" dirty="0" smtClean="0"/>
              <a:t>XML (SAX) 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3200" b="1" dirty="0" err="1" smtClean="0"/>
              <a:t>Document</a:t>
            </a:r>
            <a:r>
              <a:rPr lang="ru-RU" sz="3200" b="1" dirty="0" smtClean="0"/>
              <a:t> </a:t>
            </a:r>
            <a:r>
              <a:rPr lang="ru-RU" sz="3200" b="1" dirty="0" err="1"/>
              <a:t>Object</a:t>
            </a:r>
            <a:r>
              <a:rPr lang="ru-RU" sz="3200" b="1" dirty="0"/>
              <a:t> </a:t>
            </a:r>
            <a:r>
              <a:rPr lang="ru-RU" sz="3200" b="1" dirty="0" err="1"/>
              <a:t>Model</a:t>
            </a:r>
            <a:r>
              <a:rPr lang="ru-RU" sz="3200" b="1" dirty="0"/>
              <a:t> (DOM</a:t>
            </a:r>
            <a:r>
              <a:rPr lang="ru-RU" sz="3200" b="1" dirty="0" smtClean="0"/>
              <a:t>). </a:t>
            </a:r>
          </a:p>
          <a:p>
            <a:pPr marL="571500" indent="-571500">
              <a:buFont typeface="Arial" pitchFamily="34" charset="0"/>
              <a:buChar char="•"/>
            </a:pPr>
            <a:endParaRPr lang="ru-RU" sz="3200" dirty="0" smtClean="0"/>
          </a:p>
          <a:p>
            <a:r>
              <a:rPr lang="ru-RU" sz="3200" b="1" dirty="0" smtClean="0">
                <a:solidFill>
                  <a:schemeClr val="tx2"/>
                </a:solidFill>
              </a:rPr>
              <a:t>SAX</a:t>
            </a:r>
            <a:r>
              <a:rPr lang="ru-RU" sz="3200" dirty="0" smtClean="0"/>
              <a:t> – основан на </a:t>
            </a:r>
            <a:r>
              <a:rPr lang="ru-RU" sz="3200" dirty="0"/>
              <a:t>курсорах и событиях, возникающих при проходе по узлам XML документа. </a:t>
            </a:r>
            <a:r>
              <a:rPr lang="ru-RU" sz="3200" dirty="0" smtClean="0"/>
              <a:t>Нетребователен к ресурсам.</a:t>
            </a:r>
          </a:p>
          <a:p>
            <a:r>
              <a:rPr lang="ru-RU" sz="3200" b="1" dirty="0" smtClean="0">
                <a:solidFill>
                  <a:schemeClr val="tx2"/>
                </a:solidFill>
              </a:rPr>
              <a:t>DOM </a:t>
            </a:r>
            <a:r>
              <a:rPr lang="ru-RU" sz="3200" dirty="0" smtClean="0"/>
              <a:t>– полностью загружает </a:t>
            </a:r>
            <a:r>
              <a:rPr lang="ru-RU" sz="3200" dirty="0"/>
              <a:t>документ в память и представляет его в виде дерева, поэтому можно произвольно перемещаться по XML-документу</a:t>
            </a:r>
            <a:r>
              <a:rPr lang="ru-RU" sz="3200" dirty="0" smtClean="0"/>
              <a:t>. Требует много памяти.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5417" y="477253"/>
            <a:ext cx="2953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035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1268760"/>
            <a:ext cx="8496944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3200" b="1" dirty="0"/>
              <a:t>X</a:t>
            </a:r>
            <a:r>
              <a:rPr lang="en-US" sz="3200" b="1" dirty="0" smtClean="0"/>
              <a:t>API</a:t>
            </a:r>
            <a:endParaRPr lang="ru-RU" sz="3200" b="1" dirty="0" smtClean="0"/>
          </a:p>
          <a:p>
            <a:pPr marL="571500" indent="-571500">
              <a:buFont typeface="Arial" pitchFamily="34" charset="0"/>
              <a:buChar char="•"/>
            </a:pPr>
            <a:endParaRPr lang="ru-RU" sz="3200" dirty="0" smtClean="0"/>
          </a:p>
          <a:p>
            <a:r>
              <a:rPr lang="ru-RU" sz="3200" dirty="0"/>
              <a:t>В спецификации «Интерфейс прикладного программирования баз данных XML» (</a:t>
            </a:r>
            <a:r>
              <a:rPr lang="ru-RU" sz="3200" dirty="0">
                <a:hlinkClick r:id="rId2"/>
              </a:rPr>
              <a:t>XML </a:t>
            </a:r>
            <a:r>
              <a:rPr lang="ru-RU" sz="3200" dirty="0" err="1">
                <a:hlinkClick r:id="rId2"/>
              </a:rPr>
              <a:t>Database</a:t>
            </a:r>
            <a:r>
              <a:rPr lang="ru-RU" sz="3200" dirty="0">
                <a:hlinkClick r:id="rId2"/>
              </a:rPr>
              <a:t> API (XAPI</a:t>
            </a:r>
            <a:r>
              <a:rPr lang="ru-RU" sz="3200" dirty="0"/>
              <a:t>))</a:t>
            </a:r>
            <a:r>
              <a:rPr lang="ru-RU" sz="3200" dirty="0" smtClean="0"/>
              <a:t>описывается </a:t>
            </a:r>
            <a:r>
              <a:rPr lang="ru-RU" sz="3200" dirty="0"/>
              <a:t>нейтральный по отношению к поставщику и языку интерфейс прикладного программирования для баз данных </a:t>
            </a:r>
            <a:r>
              <a:rPr lang="ru-RU" sz="3200" dirty="0" smtClean="0"/>
              <a:t>XML.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5417" y="477253"/>
            <a:ext cx="2953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355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1124744"/>
            <a:ext cx="8496944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800" b="1" dirty="0" smtClean="0"/>
              <a:t>SQL/XML</a:t>
            </a:r>
            <a:endParaRPr lang="ru-RU" sz="2800" b="1" dirty="0" smtClean="0"/>
          </a:p>
          <a:p>
            <a:endParaRPr lang="ru-RU" sz="2800" b="1" dirty="0"/>
          </a:p>
          <a:p>
            <a:r>
              <a:rPr lang="ru-RU" sz="2800" dirty="0" smtClean="0"/>
              <a:t>SQL/XML охватывает следующие документы: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Спецификации </a:t>
            </a:r>
            <a:r>
              <a:rPr lang="ru-RU" sz="2800" dirty="0"/>
              <a:t>для представления данных SQL (в особенности строк и таблиц строк, а также выборок и результатов выполнения запросов) в виде XML и, наоборот.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Спецификации, связанные с преобразованием схем SQL в схемы XML и, </a:t>
            </a:r>
            <a:r>
              <a:rPr lang="ru-RU" sz="2800" dirty="0" smtClean="0"/>
              <a:t>наоборот.</a:t>
            </a:r>
            <a:endParaRPr lang="ru-RU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Спецификации для представления операций SQL (вставить, обновить, удалить).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Спецификации для передачи сообщений для XML при использовании с SQL</a:t>
            </a:r>
            <a:r>
              <a:rPr lang="ru-RU" sz="2800" dirty="0" smtClean="0"/>
              <a:t>.</a:t>
            </a:r>
            <a:endParaRPr lang="ru-RU" sz="28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635417" y="477253"/>
            <a:ext cx="2953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52847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395536" y="1471424"/>
            <a:ext cx="849694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Другие стандарты </a:t>
            </a:r>
            <a:r>
              <a:rPr lang="en-US" sz="2800" b="1" dirty="0" smtClean="0"/>
              <a:t>XML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CSS</a:t>
            </a:r>
            <a:r>
              <a:rPr lang="ru-RU" sz="2800" dirty="0" smtClean="0"/>
              <a:t> – каскадные таблицы стилей.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 smtClean="0"/>
              <a:t>XForms</a:t>
            </a:r>
            <a:r>
              <a:rPr lang="ru-RU" sz="2800" dirty="0" smtClean="0"/>
              <a:t> – </a:t>
            </a:r>
            <a:r>
              <a:rPr lang="ru-RU" sz="2800" dirty="0" err="1" smtClean="0"/>
              <a:t>Web</a:t>
            </a:r>
            <a:r>
              <a:rPr lang="ru-RU" sz="2800" dirty="0" smtClean="0"/>
              <a:t>-формы для </a:t>
            </a:r>
            <a:r>
              <a:rPr lang="ru-RU" sz="2800" dirty="0"/>
              <a:t>обработки данных </a:t>
            </a:r>
            <a:r>
              <a:rPr lang="ru-RU" sz="2800" dirty="0" smtClean="0"/>
              <a:t>XML.</a:t>
            </a:r>
            <a:endParaRPr lang="en-US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SOAP</a:t>
            </a:r>
            <a:r>
              <a:rPr lang="ru-RU" sz="2800" dirty="0" smtClean="0"/>
              <a:t> – протокол, </a:t>
            </a:r>
            <a:r>
              <a:rPr lang="ru-RU" sz="2800" dirty="0"/>
              <a:t>предназначенный для использования XML для передачи </a:t>
            </a:r>
            <a:r>
              <a:rPr lang="ru-RU" sz="2800" dirty="0" smtClean="0"/>
              <a:t>сообщений.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WSDL</a:t>
            </a:r>
            <a:r>
              <a:rPr lang="ru-RU" sz="2800" dirty="0" smtClean="0"/>
              <a:t> – язык описания </a:t>
            </a:r>
            <a:r>
              <a:rPr lang="en-US" sz="2800" dirty="0"/>
              <a:t>Web-</a:t>
            </a:r>
            <a:r>
              <a:rPr lang="ru-RU" sz="2800" dirty="0" smtClean="0"/>
              <a:t>сервисов.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smtClean="0"/>
              <a:t>XQuery</a:t>
            </a:r>
            <a:r>
              <a:rPr lang="ru-RU" sz="2800" dirty="0" smtClean="0"/>
              <a:t> – язык запросов </a:t>
            </a:r>
            <a:r>
              <a:rPr lang="en-US" sz="2800" dirty="0" smtClean="0"/>
              <a:t>XML</a:t>
            </a:r>
            <a:r>
              <a:rPr lang="ru-RU" sz="2800" dirty="0" smtClean="0"/>
              <a:t>.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en-US" sz="2800" dirty="0" err="1" smtClean="0"/>
              <a:t>XUpdate</a:t>
            </a:r>
            <a:r>
              <a:rPr lang="ru-RU" sz="2800" dirty="0" smtClean="0"/>
              <a:t> – предназначен для работы с</a:t>
            </a:r>
            <a:r>
              <a:rPr lang="ru-RU" sz="2800" dirty="0"/>
              <a:t> регулярными XML-документами, а также с XML-документами в совокупностях баз данных и даже с виртуальными моделями данных </a:t>
            </a:r>
            <a:r>
              <a:rPr lang="ru-RU" sz="2800" dirty="0" smtClean="0"/>
              <a:t>XML.</a:t>
            </a:r>
            <a:endParaRPr lang="en-US" sz="2800" dirty="0" smtClean="0"/>
          </a:p>
        </p:txBody>
      </p:sp>
      <p:sp>
        <p:nvSpPr>
          <p:cNvPr id="7" name="Прямоугольник 6"/>
          <p:cNvSpPr/>
          <p:nvPr/>
        </p:nvSpPr>
        <p:spPr>
          <a:xfrm>
            <a:off x="635417" y="477253"/>
            <a:ext cx="29530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Стандарты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endParaRPr lang="ru-RU" sz="32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249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536462"/>
            <a:ext cx="8424936" cy="39087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Сборка </a:t>
            </a:r>
            <a:r>
              <a:rPr lang="en-US" sz="3200" b="1" dirty="0">
                <a:solidFill>
                  <a:schemeClr val="tx2"/>
                </a:solidFill>
              </a:rPr>
              <a:t>System.Xml.dll</a:t>
            </a:r>
          </a:p>
          <a:p>
            <a:endParaRPr lang="en-US" sz="3200" dirty="0">
              <a:solidFill>
                <a:schemeClr val="tx2"/>
              </a:solidFill>
            </a:endParaRPr>
          </a:p>
          <a:p>
            <a:r>
              <a:rPr lang="en-US" sz="3200" b="1" dirty="0" err="1" smtClean="0">
                <a:solidFill>
                  <a:schemeClr val="tx2"/>
                </a:solidFill>
              </a:rPr>
              <a:t>XmlTextReader</a:t>
            </a:r>
            <a:r>
              <a:rPr lang="ru-RU" sz="3200" b="1" dirty="0" smtClean="0">
                <a:solidFill>
                  <a:schemeClr val="tx2"/>
                </a:solidFill>
              </a:rPr>
              <a:t> </a:t>
            </a:r>
            <a:r>
              <a:rPr lang="ru-RU" sz="3200" dirty="0">
                <a:solidFill>
                  <a:schemeClr val="tx2"/>
                </a:solidFill>
              </a:rPr>
              <a:t>– </a:t>
            </a:r>
            <a:r>
              <a:rPr lang="ru-RU" sz="3200" dirty="0" smtClean="0"/>
              <a:t>класс для </a:t>
            </a:r>
            <a:r>
              <a:rPr lang="ru-RU" sz="3200" dirty="0"/>
              <a:t>чтения </a:t>
            </a:r>
            <a:r>
              <a:rPr lang="ru-RU" sz="3200" dirty="0" smtClean="0"/>
              <a:t>из файла </a:t>
            </a:r>
            <a:r>
              <a:rPr lang="en-US" sz="3200" dirty="0" smtClean="0"/>
              <a:t>XML-</a:t>
            </a:r>
            <a:r>
              <a:rPr lang="ru-RU" sz="3200" dirty="0" smtClean="0"/>
              <a:t>элементов.</a:t>
            </a:r>
            <a:endParaRPr lang="en-US" sz="3200" dirty="0" smtClean="0"/>
          </a:p>
          <a:p>
            <a:endParaRPr lang="ru-RU" sz="3200" dirty="0" smtClean="0"/>
          </a:p>
          <a:p>
            <a:r>
              <a:rPr lang="ru-RU" sz="3200" dirty="0" smtClean="0"/>
              <a:t>Перегрузки:</a:t>
            </a:r>
            <a:endParaRPr lang="en-US" sz="3200" dirty="0"/>
          </a:p>
          <a:p>
            <a:r>
              <a:rPr lang="en-US" sz="2800" dirty="0" err="1">
                <a:solidFill>
                  <a:schemeClr val="tx2"/>
                </a:solidFill>
              </a:rPr>
              <a:t>XmlTextReader</a:t>
            </a:r>
            <a:r>
              <a:rPr lang="en-US" sz="2800" dirty="0"/>
              <a:t> reader = new </a:t>
            </a:r>
            <a:r>
              <a:rPr lang="en-US" sz="2800" dirty="0" err="1" smtClean="0">
                <a:solidFill>
                  <a:schemeClr val="tx2"/>
                </a:solidFill>
              </a:rPr>
              <a:t>XmlTextReader</a:t>
            </a:r>
            <a:r>
              <a:rPr lang="en-US" sz="2800" dirty="0" smtClean="0">
                <a:solidFill>
                  <a:schemeClr val="tx2"/>
                </a:solidFill>
              </a:rPr>
              <a:t>();</a:t>
            </a:r>
            <a:endParaRPr lang="ru-RU" sz="2800" dirty="0" smtClean="0">
              <a:solidFill>
                <a:schemeClr val="tx2"/>
              </a:solidFill>
            </a:endParaRPr>
          </a:p>
          <a:p>
            <a:r>
              <a:rPr lang="en-US" sz="2800" dirty="0" err="1">
                <a:solidFill>
                  <a:schemeClr val="tx2"/>
                </a:solidFill>
              </a:rPr>
              <a:t>XmlTextReader</a:t>
            </a:r>
            <a:r>
              <a:rPr lang="en-US" sz="2800" dirty="0"/>
              <a:t> reader = new </a:t>
            </a:r>
            <a:r>
              <a:rPr lang="en-US" sz="2800" dirty="0" err="1" smtClean="0">
                <a:solidFill>
                  <a:schemeClr val="tx2"/>
                </a:solidFill>
              </a:rPr>
              <a:t>XmlTextReader</a:t>
            </a:r>
            <a:r>
              <a:rPr lang="en-US" sz="2800" dirty="0" smtClean="0">
                <a:solidFill>
                  <a:schemeClr val="tx2"/>
                </a:solidFill>
              </a:rPr>
              <a:t>(</a:t>
            </a:r>
            <a:r>
              <a:rPr lang="en-US" sz="2800" dirty="0" err="1" smtClean="0">
                <a:solidFill>
                  <a:schemeClr val="tx2"/>
                </a:solidFill>
              </a:rPr>
              <a:t>fileName</a:t>
            </a:r>
            <a:r>
              <a:rPr lang="en-US" sz="2800" dirty="0" smtClean="0">
                <a:solidFill>
                  <a:schemeClr val="tx2"/>
                </a:solidFill>
              </a:rPr>
              <a:t>);</a:t>
            </a:r>
            <a:endParaRPr lang="ru-RU" sz="2800" dirty="0">
              <a:solidFill>
                <a:schemeClr val="tx2"/>
              </a:solidFill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761928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2194986"/>
            <a:ext cx="856895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Пример:</a:t>
            </a:r>
          </a:p>
          <a:p>
            <a:endParaRPr lang="ru-RU" sz="2800" dirty="0" smtClean="0"/>
          </a:p>
          <a:p>
            <a:r>
              <a:rPr lang="en-US" sz="2800" dirty="0" err="1" smtClean="0"/>
              <a:t>XmlTextReader</a:t>
            </a:r>
            <a:r>
              <a:rPr lang="en-US" sz="2800" dirty="0" smtClean="0"/>
              <a:t> </a:t>
            </a:r>
            <a:r>
              <a:rPr lang="en-US" sz="2800" dirty="0"/>
              <a:t>reader = new </a:t>
            </a:r>
            <a:r>
              <a:rPr lang="en-US" sz="2800" dirty="0" err="1"/>
              <a:t>XmlTextReader</a:t>
            </a:r>
            <a:r>
              <a:rPr lang="en-US" sz="2800" dirty="0"/>
              <a:t> </a:t>
            </a:r>
            <a:r>
              <a:rPr lang="en-US" sz="2800" dirty="0" smtClean="0"/>
              <a:t>(«fl.xml</a:t>
            </a:r>
            <a:r>
              <a:rPr lang="ru-RU" sz="2800" dirty="0" smtClean="0"/>
              <a:t>»</a:t>
            </a:r>
            <a:r>
              <a:rPr lang="en-US" sz="2800" dirty="0" smtClean="0"/>
              <a:t>);</a:t>
            </a:r>
            <a:endParaRPr lang="ru-RU" sz="2800" dirty="0"/>
          </a:p>
          <a:p>
            <a:endParaRPr lang="ru-RU" sz="2800" dirty="0" smtClean="0"/>
          </a:p>
          <a:p>
            <a:r>
              <a:rPr lang="en-US" sz="2800" dirty="0" smtClean="0"/>
              <a:t>while </a:t>
            </a:r>
            <a:r>
              <a:rPr lang="en-US" sz="2800" dirty="0"/>
              <a:t>(</a:t>
            </a:r>
            <a:r>
              <a:rPr lang="en-US" sz="2800" dirty="0" err="1"/>
              <a:t>reader.Read</a:t>
            </a:r>
            <a:r>
              <a:rPr lang="en-US" sz="2800" dirty="0"/>
              <a:t>()) </a:t>
            </a:r>
            <a:r>
              <a:rPr lang="ru-RU" sz="2800" dirty="0" smtClean="0"/>
              <a:t>  </a:t>
            </a:r>
            <a:r>
              <a:rPr lang="en-US" sz="2800" dirty="0" smtClean="0"/>
              <a:t>//</a:t>
            </a:r>
            <a:r>
              <a:rPr lang="ru-RU" sz="2800" dirty="0" smtClean="0"/>
              <a:t>пока считывает элементы</a:t>
            </a:r>
            <a:endParaRPr lang="en-US" sz="2800" dirty="0"/>
          </a:p>
          <a:p>
            <a:r>
              <a:rPr lang="en-US" sz="2800" dirty="0"/>
              <a:t>{</a:t>
            </a:r>
          </a:p>
          <a:p>
            <a:r>
              <a:rPr lang="en-US" sz="2800" dirty="0"/>
              <a:t>    </a:t>
            </a:r>
            <a:r>
              <a:rPr lang="en-US" sz="2800" dirty="0" smtClean="0"/>
              <a:t>     </a:t>
            </a:r>
            <a:r>
              <a:rPr lang="ru-RU" sz="2800" dirty="0" smtClean="0"/>
              <a:t>  </a:t>
            </a:r>
            <a:r>
              <a:rPr lang="en-US" sz="2800" dirty="0" smtClean="0"/>
              <a:t>//</a:t>
            </a:r>
            <a:r>
              <a:rPr lang="ru-RU" sz="2800" dirty="0" smtClean="0"/>
              <a:t> выводим название элемента</a:t>
            </a:r>
            <a:endParaRPr lang="ru-RU" sz="2800" dirty="0"/>
          </a:p>
          <a:p>
            <a:r>
              <a:rPr lang="ru-RU" sz="2800" dirty="0"/>
              <a:t>	</a:t>
            </a:r>
            <a:r>
              <a:rPr lang="en-US" sz="2800" dirty="0" err="1" smtClean="0"/>
              <a:t>MessageBox.Show</a:t>
            </a:r>
            <a:r>
              <a:rPr lang="en-US" sz="2800" dirty="0" smtClean="0"/>
              <a:t>(</a:t>
            </a:r>
            <a:r>
              <a:rPr lang="en-US" sz="2800" dirty="0" err="1" smtClean="0"/>
              <a:t>reader.Name</a:t>
            </a:r>
            <a:r>
              <a:rPr lang="en-US" sz="2800" dirty="0" smtClean="0"/>
              <a:t>);</a:t>
            </a:r>
            <a:r>
              <a:rPr lang="ru-RU" sz="2800" dirty="0" smtClean="0"/>
              <a:t> </a:t>
            </a:r>
            <a:endParaRPr lang="en-US" sz="2800" dirty="0"/>
          </a:p>
          <a:p>
            <a:r>
              <a:rPr lang="en-US" sz="2800" dirty="0" smtClean="0"/>
              <a:t>}</a:t>
            </a:r>
            <a:endParaRPr lang="en-US" sz="2800" dirty="0"/>
          </a:p>
        </p:txBody>
      </p:sp>
      <p:sp>
        <p:nvSpPr>
          <p:cNvPr id="17" name="Прямоугольник 16"/>
          <p:cNvSpPr/>
          <p:nvPr/>
        </p:nvSpPr>
        <p:spPr>
          <a:xfrm>
            <a:off x="635417" y="1259463"/>
            <a:ext cx="40116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/>
              <a:t>Чтение </a:t>
            </a:r>
            <a:r>
              <a:rPr lang="en-US" sz="3200" b="1" dirty="0"/>
              <a:t>XML </a:t>
            </a:r>
            <a:r>
              <a:rPr lang="ru-RU" sz="3200" b="1" dirty="0"/>
              <a:t>из файла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72182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3" name="Прямоугольник 2"/>
          <p:cNvSpPr/>
          <p:nvPr/>
        </p:nvSpPr>
        <p:spPr>
          <a:xfrm>
            <a:off x="395536" y="1557367"/>
            <a:ext cx="82809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Метод </a:t>
            </a:r>
            <a:r>
              <a:rPr lang="en-US" sz="3200" b="1" dirty="0" smtClean="0">
                <a:solidFill>
                  <a:schemeClr val="tx2"/>
                </a:solidFill>
              </a:rPr>
              <a:t>Read()</a:t>
            </a:r>
            <a:r>
              <a:rPr lang="ru-RU" sz="3200" dirty="0" smtClean="0"/>
              <a:t> последовательно перемещается по </a:t>
            </a:r>
            <a:r>
              <a:rPr lang="en-US" sz="3200" dirty="0" smtClean="0"/>
              <a:t>XML-</a:t>
            </a:r>
            <a:r>
              <a:rPr lang="ru-RU" sz="3200" dirty="0" smtClean="0"/>
              <a:t>файлу. При достижении конца файла возвращает </a:t>
            </a:r>
            <a:r>
              <a:rPr lang="en-US" sz="3200" dirty="0" smtClean="0"/>
              <a:t>FALSE</a:t>
            </a:r>
            <a:r>
              <a:rPr lang="ru-RU" sz="3200" dirty="0" smtClean="0"/>
              <a:t>.</a:t>
            </a:r>
          </a:p>
          <a:p>
            <a:endParaRPr lang="en-US" sz="3200" dirty="0"/>
          </a:p>
          <a:p>
            <a:r>
              <a:rPr lang="ru-RU" sz="3200" b="1" dirty="0" smtClean="0"/>
              <a:t>Свойства</a:t>
            </a:r>
            <a:r>
              <a:rPr lang="en-US" sz="3200" b="1" dirty="0" smtClean="0"/>
              <a:t> </a:t>
            </a:r>
            <a:r>
              <a:rPr lang="ru-RU" sz="3200" b="1" dirty="0" smtClean="0"/>
              <a:t>класса:</a:t>
            </a:r>
          </a:p>
          <a:p>
            <a:r>
              <a:rPr lang="en-US" sz="3200" b="1" dirty="0" err="1" smtClean="0">
                <a:solidFill>
                  <a:schemeClr val="tx2"/>
                </a:solidFill>
              </a:rPr>
              <a:t>NodeType</a:t>
            </a:r>
            <a:r>
              <a:rPr lang="ru-RU" sz="3200" b="1" dirty="0" smtClean="0">
                <a:solidFill>
                  <a:schemeClr val="tx2"/>
                </a:solidFill>
              </a:rPr>
              <a:t> </a:t>
            </a:r>
            <a:r>
              <a:rPr lang="ru-RU" sz="3200" dirty="0" smtClean="0"/>
              <a:t>– тип элемента</a:t>
            </a:r>
          </a:p>
          <a:p>
            <a:r>
              <a:rPr lang="ru-RU" sz="3200" b="1" dirty="0" err="1">
                <a:solidFill>
                  <a:schemeClr val="tx2"/>
                </a:solidFill>
              </a:rPr>
              <a:t>Name</a:t>
            </a:r>
            <a:r>
              <a:rPr lang="ru-RU" sz="3200" b="1" dirty="0">
                <a:solidFill>
                  <a:schemeClr val="tx2"/>
                </a:solidFill>
              </a:rPr>
              <a:t> </a:t>
            </a:r>
            <a:r>
              <a:rPr lang="ru-RU" sz="3200" dirty="0" smtClean="0"/>
              <a:t>– имя элемента</a:t>
            </a:r>
          </a:p>
          <a:p>
            <a:r>
              <a:rPr lang="ru-RU" sz="3200" b="1" dirty="0" err="1" smtClean="0">
                <a:solidFill>
                  <a:schemeClr val="tx2"/>
                </a:solidFill>
              </a:rPr>
              <a:t>Value</a:t>
            </a:r>
            <a:r>
              <a:rPr lang="ru-RU" sz="3200" b="1" dirty="0" smtClean="0">
                <a:solidFill>
                  <a:schemeClr val="tx2"/>
                </a:solidFill>
              </a:rPr>
              <a:t> </a:t>
            </a:r>
            <a:r>
              <a:rPr lang="ru-RU" sz="3200" dirty="0"/>
              <a:t>– </a:t>
            </a:r>
            <a:r>
              <a:rPr lang="ru-RU" sz="3200" dirty="0" smtClean="0"/>
              <a:t>значение </a:t>
            </a:r>
            <a:r>
              <a:rPr lang="ru-RU" sz="3200" dirty="0"/>
              <a:t>(текст) </a:t>
            </a:r>
            <a:r>
              <a:rPr lang="ru-RU" sz="3200" dirty="0" smtClean="0"/>
              <a:t>элемента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3512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6" t="12027" r="1257" b="4911"/>
          <a:stretch/>
        </p:blipFill>
        <p:spPr bwMode="auto">
          <a:xfrm>
            <a:off x="351601" y="1340768"/>
            <a:ext cx="8684895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2136901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1412776"/>
            <a:ext cx="8280920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Метод </a:t>
            </a:r>
            <a:r>
              <a:rPr lang="ru-RU" sz="3200" b="1" dirty="0" err="1" smtClean="0">
                <a:solidFill>
                  <a:schemeClr val="tx2"/>
                </a:solidFill>
              </a:rPr>
              <a:t>MovetoNextAttribute</a:t>
            </a:r>
            <a:r>
              <a:rPr lang="ru-RU" sz="3200" b="1" dirty="0" smtClean="0">
                <a:solidFill>
                  <a:schemeClr val="tx2"/>
                </a:solidFill>
              </a:rPr>
              <a:t>()</a:t>
            </a:r>
            <a:r>
              <a:rPr lang="ru-RU" sz="3200" dirty="0" smtClean="0"/>
              <a:t> </a:t>
            </a:r>
            <a:r>
              <a:rPr lang="ru-RU" sz="3200" dirty="0"/>
              <a:t>последовательно перемещается по всем атрибутам </a:t>
            </a:r>
            <a:r>
              <a:rPr lang="ru-RU" sz="3200" dirty="0" smtClean="0"/>
              <a:t>узла.</a:t>
            </a:r>
          </a:p>
          <a:p>
            <a:endParaRPr lang="ru-RU" sz="3200" dirty="0" smtClean="0"/>
          </a:p>
          <a:p>
            <a:r>
              <a:rPr lang="ru-RU" sz="3200" dirty="0" smtClean="0"/>
              <a:t>Свойство </a:t>
            </a:r>
            <a:r>
              <a:rPr lang="en-US" sz="3200" b="1" dirty="0" err="1" smtClean="0">
                <a:solidFill>
                  <a:schemeClr val="tx2"/>
                </a:solidFill>
              </a:rPr>
              <a:t>HasAttributes</a:t>
            </a:r>
            <a:r>
              <a:rPr lang="ru-RU" sz="3200" b="1" dirty="0" smtClean="0">
                <a:solidFill>
                  <a:schemeClr val="tx2"/>
                </a:solidFill>
              </a:rPr>
              <a:t> </a:t>
            </a:r>
            <a:r>
              <a:rPr lang="ru-RU" sz="3200" dirty="0" smtClean="0"/>
              <a:t>– используется для </a:t>
            </a:r>
            <a:r>
              <a:rPr lang="ru-RU" sz="3200" dirty="0"/>
              <a:t>проверки наличия </a:t>
            </a:r>
            <a:r>
              <a:rPr lang="ru-RU" sz="3200" dirty="0" smtClean="0"/>
              <a:t>атрибутов. Возвращает </a:t>
            </a:r>
            <a:r>
              <a:rPr lang="en-US" sz="3200" b="1" dirty="0" smtClean="0"/>
              <a:t>true</a:t>
            </a:r>
            <a:r>
              <a:rPr lang="ru-RU" sz="3200" b="1" dirty="0" smtClean="0"/>
              <a:t> </a:t>
            </a:r>
            <a:r>
              <a:rPr lang="ru-RU" sz="3200" dirty="0" smtClean="0"/>
              <a:t>либо </a:t>
            </a:r>
            <a:r>
              <a:rPr lang="en-US" sz="3200" b="1" dirty="0" smtClean="0"/>
              <a:t>false</a:t>
            </a:r>
            <a:r>
              <a:rPr lang="ru-RU" sz="3200" dirty="0" smtClean="0"/>
              <a:t>.</a:t>
            </a:r>
          </a:p>
          <a:p>
            <a:endParaRPr lang="ru-RU" sz="3200" b="1" dirty="0">
              <a:solidFill>
                <a:schemeClr val="tx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91972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340768"/>
            <a:ext cx="8676769" cy="5184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83765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35417" y="1188041"/>
            <a:ext cx="50315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/>
              <a:t>Создание </a:t>
            </a:r>
            <a:r>
              <a:rPr lang="en-US" sz="3200" b="1" dirty="0" smtClean="0"/>
              <a:t>XML</a:t>
            </a:r>
            <a:r>
              <a:rPr lang="ru-RU" sz="3200" b="1" dirty="0" smtClean="0"/>
              <a:t>-документов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251520" y="1838429"/>
            <a:ext cx="871296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2"/>
                </a:solidFill>
              </a:rPr>
              <a:t>XmlTextWriter</a:t>
            </a:r>
            <a:r>
              <a:rPr lang="ru-RU" sz="2400" dirty="0" smtClean="0"/>
              <a:t> – класс для создания </a:t>
            </a:r>
            <a:r>
              <a:rPr lang="en-US" sz="2400" dirty="0" smtClean="0"/>
              <a:t>XML</a:t>
            </a:r>
            <a:r>
              <a:rPr lang="ru-RU" sz="2400" dirty="0" smtClean="0"/>
              <a:t>-документов. </a:t>
            </a:r>
          </a:p>
          <a:p>
            <a:endParaRPr lang="ru-RU" sz="2400" b="1" dirty="0" smtClean="0"/>
          </a:p>
          <a:p>
            <a:r>
              <a:rPr lang="en-US" sz="2400" b="1" dirty="0" err="1" smtClean="0"/>
              <a:t>XmlTextWriter</a:t>
            </a:r>
            <a:r>
              <a:rPr lang="en-US" sz="2400" b="1" dirty="0" smtClean="0"/>
              <a:t> </a:t>
            </a:r>
            <a:r>
              <a:rPr lang="en-US" sz="2400" dirty="0"/>
              <a:t>writer = </a:t>
            </a:r>
            <a:r>
              <a:rPr lang="en-US" sz="2400" dirty="0" smtClean="0"/>
              <a:t>new</a:t>
            </a:r>
            <a:r>
              <a:rPr lang="ru-RU" sz="2400" dirty="0" smtClean="0"/>
              <a:t> </a:t>
            </a:r>
            <a:r>
              <a:rPr lang="en-US" sz="2400" b="1" dirty="0" err="1" smtClean="0"/>
              <a:t>XmlTextWriter</a:t>
            </a:r>
            <a:r>
              <a:rPr lang="en-US" sz="2400" dirty="0" smtClean="0"/>
              <a:t>(</a:t>
            </a:r>
            <a:r>
              <a:rPr lang="ru-RU" sz="2400" dirty="0" smtClean="0"/>
              <a:t>имя файла, кодировка</a:t>
            </a:r>
            <a:r>
              <a:rPr lang="en-US" sz="2400" dirty="0" smtClean="0"/>
              <a:t>)</a:t>
            </a:r>
            <a:endParaRPr lang="ru-RU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sz="2400" b="1" dirty="0" err="1" smtClean="0"/>
              <a:t>WriteStartDocument</a:t>
            </a:r>
            <a:r>
              <a:rPr lang="ru-RU" sz="2400" b="1" dirty="0" smtClean="0"/>
              <a:t>() </a:t>
            </a:r>
            <a:r>
              <a:rPr lang="ru-RU" sz="2400" dirty="0" smtClean="0"/>
              <a:t>– записывает строку </a:t>
            </a:r>
            <a:r>
              <a:rPr lang="ru-RU" sz="2400" dirty="0"/>
              <a:t>с объявлением версии XML и </a:t>
            </a:r>
            <a:r>
              <a:rPr lang="ru-RU" sz="2400" dirty="0" smtClean="0"/>
              <a:t>указанной кодировкой. 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b="1" dirty="0" err="1" smtClean="0"/>
              <a:t>WriteEndDocument</a:t>
            </a:r>
            <a:r>
              <a:rPr lang="ru-RU" sz="2400" b="1" dirty="0" smtClean="0"/>
              <a:t>()</a:t>
            </a:r>
            <a:r>
              <a:rPr lang="en-US" sz="2400" b="1" dirty="0" smtClean="0"/>
              <a:t> – </a:t>
            </a:r>
            <a:r>
              <a:rPr lang="ru-RU" sz="2400" dirty="0" smtClean="0"/>
              <a:t>закрывает </a:t>
            </a:r>
            <a:r>
              <a:rPr lang="ru-RU" sz="2400" dirty="0"/>
              <a:t>все открытые теги и </a:t>
            </a:r>
            <a:r>
              <a:rPr lang="ru-RU" sz="2400" dirty="0" smtClean="0"/>
              <a:t>атрибуты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dirty="0" smtClean="0"/>
              <a:t>Функции </a:t>
            </a:r>
            <a:r>
              <a:rPr lang="ru-RU" sz="2400" b="1" dirty="0" err="1" smtClean="0"/>
              <a:t>WriteStartElement</a:t>
            </a:r>
            <a:r>
              <a:rPr lang="ru-RU" sz="2400" b="1" dirty="0" smtClean="0"/>
              <a:t>(</a:t>
            </a:r>
            <a:r>
              <a:rPr lang="ru-RU" sz="2400" dirty="0" smtClean="0"/>
              <a:t>название узла</a:t>
            </a:r>
            <a:r>
              <a:rPr lang="ru-RU" sz="2400" b="1" dirty="0" smtClean="0"/>
              <a:t>)</a:t>
            </a:r>
            <a:r>
              <a:rPr lang="ru-RU" sz="2400" dirty="0" smtClean="0"/>
              <a:t> </a:t>
            </a:r>
            <a:r>
              <a:rPr lang="ru-RU" sz="2400" dirty="0"/>
              <a:t>и </a:t>
            </a:r>
            <a:r>
              <a:rPr lang="ru-RU" sz="2400" b="1" dirty="0" err="1"/>
              <a:t>WriteEndElement</a:t>
            </a:r>
            <a:r>
              <a:rPr lang="ru-RU" sz="2400" b="1" dirty="0"/>
              <a:t>() </a:t>
            </a:r>
            <a:r>
              <a:rPr lang="ru-RU" sz="2400" dirty="0"/>
              <a:t>записывают начало и конец </a:t>
            </a:r>
            <a:r>
              <a:rPr lang="ru-RU" sz="2400" dirty="0" smtClean="0"/>
              <a:t>узла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400" dirty="0" smtClean="0"/>
              <a:t>Функция </a:t>
            </a:r>
            <a:r>
              <a:rPr lang="ru-RU" sz="2400" b="1" dirty="0" err="1" smtClean="0"/>
              <a:t>WriteAttributeString</a:t>
            </a:r>
            <a:r>
              <a:rPr lang="ru-RU" sz="2400" b="1" dirty="0" smtClean="0"/>
              <a:t>(</a:t>
            </a:r>
            <a:r>
              <a:rPr lang="ru-RU" sz="2400" dirty="0" smtClean="0"/>
              <a:t>название атрибута, значение атрибута</a:t>
            </a:r>
            <a:r>
              <a:rPr lang="ru-RU" sz="2400" b="1" dirty="0" smtClean="0"/>
              <a:t>)</a:t>
            </a:r>
            <a:r>
              <a:rPr lang="ru-RU" sz="2400" dirty="0" smtClean="0"/>
              <a:t> – записываем атрибут узла</a:t>
            </a: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sz="2400" b="1" dirty="0" err="1" smtClean="0"/>
              <a:t>WriteElementString</a:t>
            </a:r>
            <a:r>
              <a:rPr lang="ru-RU" sz="2400" b="1" dirty="0"/>
              <a:t>()</a:t>
            </a:r>
            <a:r>
              <a:rPr lang="ru-RU" sz="2400" dirty="0"/>
              <a:t> </a:t>
            </a:r>
            <a:r>
              <a:rPr lang="ru-RU" sz="2400" dirty="0" smtClean="0"/>
              <a:t>– создает элемент</a:t>
            </a:r>
            <a:r>
              <a:rPr lang="ru-RU" sz="2400" dirty="0"/>
              <a:t>, содержащий одно текстовое значение, </a:t>
            </a:r>
            <a:r>
              <a:rPr lang="ru-RU" sz="2400" dirty="0" smtClean="0"/>
              <a:t>например </a:t>
            </a:r>
            <a:r>
              <a:rPr lang="ru-RU" sz="2400" dirty="0"/>
              <a:t>&lt;Дата&gt;01.05.04&lt;/Дата&gt;</a:t>
            </a:r>
            <a:endParaRPr lang="ru-RU" sz="2400" dirty="0" smtClean="0"/>
          </a:p>
        </p:txBody>
      </p:sp>
      <p:sp>
        <p:nvSpPr>
          <p:cNvPr id="6" name="Прямоугольник 5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822157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0768"/>
            <a:ext cx="9142413" cy="49319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569186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35417" y="1274565"/>
            <a:ext cx="1728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/>
              <a:t>Задача 1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1994064"/>
            <a:ext cx="856895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Имеется общая база данных ИМИ. Требуется сформировать </a:t>
            </a:r>
            <a:r>
              <a:rPr lang="en-US" sz="2400" dirty="0" smtClean="0"/>
              <a:t>XML-</a:t>
            </a:r>
            <a:r>
              <a:rPr lang="ru-RU" sz="2400" dirty="0" smtClean="0"/>
              <a:t>файл из данных по группе для загрузки в эту базу данных. </a:t>
            </a:r>
          </a:p>
          <a:p>
            <a:r>
              <a:rPr lang="ru-RU" sz="2400" dirty="0" smtClean="0"/>
              <a:t>Файл должен содержать сведения: </a:t>
            </a:r>
          </a:p>
          <a:p>
            <a:pPr marL="457200" indent="-457200">
              <a:buFontTx/>
              <a:buChar char="-"/>
            </a:pPr>
            <a:r>
              <a:rPr lang="ru-RU" sz="2400" dirty="0" smtClean="0"/>
              <a:t>о студентах: код, фамилия, имя, размер стипендии; </a:t>
            </a:r>
          </a:p>
          <a:p>
            <a:pPr marL="457200" indent="-457200">
              <a:buFontTx/>
              <a:buChar char="-"/>
            </a:pPr>
            <a:r>
              <a:rPr lang="ru-RU" sz="2400" dirty="0"/>
              <a:t>о</a:t>
            </a:r>
            <a:r>
              <a:rPr lang="ru-RU" sz="2400" dirty="0" smtClean="0"/>
              <a:t>б изучаемых предметах: код, название предмета.</a:t>
            </a:r>
            <a:endParaRPr lang="ru-RU" sz="2400" b="1" dirty="0">
              <a:solidFill>
                <a:schemeClr val="tx2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4077071"/>
            <a:ext cx="8712968" cy="2592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35614077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950" y="1132284"/>
            <a:ext cx="8926513" cy="575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Прямая соединительная линия 6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741802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35417" y="1453421"/>
            <a:ext cx="54667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/>
              <a:t>Редактирование </a:t>
            </a:r>
            <a:r>
              <a:rPr lang="en-US" sz="3200" b="1" dirty="0" smtClean="0"/>
              <a:t>XML</a:t>
            </a:r>
            <a:r>
              <a:rPr lang="ru-RU" sz="3200" b="1" dirty="0" smtClean="0"/>
              <a:t>-файлов</a:t>
            </a:r>
            <a:endParaRPr lang="ru-RU" sz="3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528" y="2154336"/>
            <a:ext cx="8568952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chemeClr val="tx2"/>
                </a:solidFill>
              </a:rPr>
              <a:t>XmlDocument</a:t>
            </a:r>
            <a:r>
              <a:rPr lang="ru-RU" sz="2400" dirty="0" smtClean="0"/>
              <a:t> – класс для загрузки </a:t>
            </a:r>
            <a:r>
              <a:rPr lang="en-US" sz="2400" dirty="0"/>
              <a:t>XML</a:t>
            </a:r>
            <a:r>
              <a:rPr lang="ru-RU" sz="2400" dirty="0"/>
              <a:t>-документ в память для того, чтобы изменить атрибуты узлов, добавить или удалить новые элементы</a:t>
            </a:r>
            <a:r>
              <a:rPr lang="ru-RU" sz="2400" dirty="0" smtClean="0"/>
              <a:t>.</a:t>
            </a:r>
          </a:p>
          <a:p>
            <a:endParaRPr lang="ru-RU" sz="2400" dirty="0" smtClean="0"/>
          </a:p>
          <a:p>
            <a:r>
              <a:rPr lang="en-US" sz="2400" b="1" dirty="0" err="1" smtClean="0"/>
              <a:t>XmlDocument</a:t>
            </a:r>
            <a:r>
              <a:rPr lang="en-US" sz="2400" b="1" dirty="0" smtClean="0"/>
              <a:t> </a:t>
            </a:r>
            <a:r>
              <a:rPr lang="en-US" sz="2400" dirty="0"/>
              <a:t>document = new </a:t>
            </a:r>
            <a:r>
              <a:rPr lang="en-US" sz="2400" b="1" dirty="0" err="1" smtClean="0"/>
              <a:t>XmlDocument</a:t>
            </a:r>
            <a:r>
              <a:rPr lang="en-US" sz="2400" b="1" dirty="0" smtClean="0"/>
              <a:t>();</a:t>
            </a:r>
            <a:endParaRPr lang="ru-RU" sz="2400" b="1" dirty="0" smtClean="0"/>
          </a:p>
          <a:p>
            <a:endParaRPr lang="ru-RU" sz="2400" b="1" dirty="0" smtClean="0"/>
          </a:p>
          <a:p>
            <a:r>
              <a:rPr lang="en-US" sz="2400" b="1" dirty="0" smtClean="0"/>
              <a:t>Load</a:t>
            </a:r>
            <a:r>
              <a:rPr lang="ru-RU" sz="2400" dirty="0" smtClean="0"/>
              <a:t>(</a:t>
            </a:r>
            <a:r>
              <a:rPr lang="en-US" sz="2400" dirty="0" err="1" smtClean="0"/>
              <a:t>FlName</a:t>
            </a:r>
            <a:r>
              <a:rPr lang="ru-RU" sz="2400" dirty="0" smtClean="0"/>
              <a:t>) –</a:t>
            </a:r>
            <a:r>
              <a:rPr lang="en-US" sz="2400" dirty="0" smtClean="0"/>
              <a:t> </a:t>
            </a:r>
            <a:r>
              <a:rPr lang="ru-RU" sz="2400" dirty="0" smtClean="0"/>
              <a:t>загружает</a:t>
            </a:r>
            <a:r>
              <a:rPr lang="en-US" sz="2400" dirty="0" smtClean="0"/>
              <a:t> XML</a:t>
            </a:r>
            <a:r>
              <a:rPr lang="ru-RU" sz="2400" dirty="0" smtClean="0"/>
              <a:t>-документ</a:t>
            </a:r>
          </a:p>
          <a:p>
            <a:r>
              <a:rPr lang="en-US" sz="2400" b="1" dirty="0" err="1"/>
              <a:t>XmlNode</a:t>
            </a:r>
            <a:r>
              <a:rPr lang="ru-RU" sz="2400" b="1" dirty="0"/>
              <a:t> </a:t>
            </a:r>
            <a:r>
              <a:rPr lang="ru-RU" sz="2400" dirty="0"/>
              <a:t>– узел в дереве класса </a:t>
            </a:r>
            <a:r>
              <a:rPr lang="en-US" sz="2400" dirty="0" err="1"/>
              <a:t>XmlDocument</a:t>
            </a:r>
            <a:endParaRPr lang="ru-RU" sz="2400" dirty="0"/>
          </a:p>
          <a:p>
            <a:r>
              <a:rPr lang="en-US" sz="2400" b="1" dirty="0" err="1" smtClean="0"/>
              <a:t>DocumentElement</a:t>
            </a:r>
            <a:r>
              <a:rPr lang="en-US" sz="2400" b="1" dirty="0" smtClean="0"/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корневой документ</a:t>
            </a:r>
          </a:p>
          <a:p>
            <a:r>
              <a:rPr lang="en-US" sz="2400" b="1" dirty="0" err="1" smtClean="0"/>
              <a:t>ChildNodes</a:t>
            </a:r>
            <a:r>
              <a:rPr lang="ru-RU" sz="2400" b="1" dirty="0" smtClean="0"/>
              <a:t> </a:t>
            </a:r>
            <a:r>
              <a:rPr lang="ru-RU" sz="2400" dirty="0" smtClean="0"/>
              <a:t>– все потомки узла</a:t>
            </a:r>
          </a:p>
          <a:p>
            <a:r>
              <a:rPr lang="en-US" sz="2400" b="1" dirty="0" smtClean="0"/>
              <a:t>Save(</a:t>
            </a:r>
            <a:r>
              <a:rPr lang="en-US" sz="2400" dirty="0" err="1" smtClean="0"/>
              <a:t>FlName</a:t>
            </a:r>
            <a:r>
              <a:rPr lang="en-US" sz="2400" b="1" dirty="0" smtClean="0"/>
              <a:t>)</a:t>
            </a:r>
            <a:r>
              <a:rPr lang="en-US" sz="2400" dirty="0" smtClean="0"/>
              <a:t> – </a:t>
            </a:r>
            <a:r>
              <a:rPr lang="ru-RU" sz="2400" dirty="0" smtClean="0"/>
              <a:t>сохраняет файл</a:t>
            </a:r>
            <a:endParaRPr lang="ru-RU" sz="2400" dirty="0">
              <a:solidFill>
                <a:schemeClr val="tx2"/>
              </a:solidFill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4244472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35417" y="1404065"/>
            <a:ext cx="17283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/>
              <a:t>Задача 2</a:t>
            </a:r>
            <a:endParaRPr lang="ru-RU" sz="3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1988840"/>
            <a:ext cx="856895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Добавить к созданному файлу сведения о другом студенте.</a:t>
            </a:r>
            <a:endParaRPr lang="ru-RU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212976"/>
            <a:ext cx="8474149" cy="24482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558161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196752"/>
            <a:ext cx="8424936" cy="5544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5417" y="477253"/>
            <a:ext cx="369344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b="1" dirty="0" smtClean="0">
                <a:solidFill>
                  <a:schemeClr val="tx2"/>
                </a:solidFill>
              </a:rPr>
              <a:t>Работа с </a:t>
            </a:r>
            <a:r>
              <a:rPr lang="en-US" sz="3200" b="1" dirty="0" smtClean="0">
                <a:solidFill>
                  <a:schemeClr val="tx2"/>
                </a:solidFill>
              </a:rPr>
              <a:t>XML</a:t>
            </a:r>
            <a:r>
              <a:rPr lang="ru-RU" sz="3200" b="1" dirty="0" smtClean="0">
                <a:solidFill>
                  <a:schemeClr val="tx2"/>
                </a:solidFill>
              </a:rPr>
              <a:t> в </a:t>
            </a:r>
            <a:r>
              <a:rPr lang="en-US" sz="3200" b="1" dirty="0" smtClean="0">
                <a:solidFill>
                  <a:schemeClr val="tx2"/>
                </a:solidFill>
              </a:rPr>
              <a:t>.NET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1086462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67544" y="1484784"/>
            <a:ext cx="8424936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200" dirty="0" smtClean="0"/>
              <a:t>Создайте приложение для работы с </a:t>
            </a:r>
          </a:p>
          <a:p>
            <a:r>
              <a:rPr lang="en-US" sz="3200" dirty="0" smtClean="0"/>
              <a:t>XML</a:t>
            </a:r>
            <a:r>
              <a:rPr lang="ru-RU" sz="3200" dirty="0" smtClean="0"/>
              <a:t>-файлами, которое должно содержать три метода:</a:t>
            </a:r>
          </a:p>
          <a:p>
            <a:endParaRPr lang="ru-RU" sz="3200" dirty="0" smtClean="0"/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Создание </a:t>
            </a:r>
            <a:r>
              <a:rPr lang="en-US" sz="3200" dirty="0" smtClean="0"/>
              <a:t>XML</a:t>
            </a:r>
            <a:r>
              <a:rPr lang="ru-RU" sz="3200" dirty="0" smtClean="0"/>
              <a:t>-файла.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Добавление сведений в уже существующий </a:t>
            </a:r>
            <a:r>
              <a:rPr lang="en-US" sz="3200" dirty="0" smtClean="0"/>
              <a:t>XML-</a:t>
            </a:r>
            <a:r>
              <a:rPr lang="ru-RU" sz="3200" dirty="0" smtClean="0"/>
              <a:t>файл.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3200" dirty="0" smtClean="0"/>
              <a:t>Вывод данных из выбранного </a:t>
            </a:r>
            <a:r>
              <a:rPr lang="en-US" sz="3200" dirty="0" smtClean="0"/>
              <a:t>XML-</a:t>
            </a:r>
            <a:r>
              <a:rPr lang="ru-RU" sz="3200" dirty="0" smtClean="0"/>
              <a:t>файла.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683568" y="476672"/>
            <a:ext cx="7992888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-RU" sz="3200" b="1" dirty="0" smtClean="0">
                <a:solidFill>
                  <a:schemeClr val="tx2"/>
                </a:solidFill>
              </a:rPr>
              <a:t>Лабораторная работа </a:t>
            </a:r>
            <a:r>
              <a:rPr lang="en-US" sz="3200" b="1" dirty="0" smtClean="0">
                <a:solidFill>
                  <a:schemeClr val="tx2"/>
                </a:solidFill>
              </a:rPr>
              <a:t>13</a:t>
            </a:r>
            <a:endParaRPr lang="ru-RU" sz="3200" b="1" dirty="0">
              <a:solidFill>
                <a:schemeClr val="tx2"/>
              </a:solidFill>
            </a:endParaRP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135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301595</TotalTime>
  <Words>714</Words>
  <Application>Microsoft Office PowerPoint</Application>
  <PresentationFormat>Экран (4:3)</PresentationFormat>
  <Paragraphs>126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8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Евгения</cp:lastModifiedBy>
  <cp:revision>559</cp:revision>
  <dcterms:created xsi:type="dcterms:W3CDTF">2012-09-05T13:58:41Z</dcterms:created>
  <dcterms:modified xsi:type="dcterms:W3CDTF">2024-04-30T04:45:22Z</dcterms:modified>
</cp:coreProperties>
</file>